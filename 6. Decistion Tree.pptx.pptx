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1175208"/>
            <a:ext cx="8374549" cy="656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77258" y="2441629"/>
            <a:ext cx="3389483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6599" y="1388680"/>
            <a:ext cx="5088890" cy="1265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686" y="748203"/>
            <a:ext cx="40601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spc="-5" dirty="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sz="5200" b="0" spc="-1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5200" b="0" spc="-50" dirty="0">
                <a:solidFill>
                  <a:srgbClr val="000000"/>
                </a:solidFill>
                <a:latin typeface="Arial MT"/>
                <a:cs typeface="Arial MT"/>
              </a:rPr>
              <a:t>Tree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008" y="2648725"/>
            <a:ext cx="6755130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078355" marR="2072639" indent="3175" algn="ctr">
              <a:lnSpc>
                <a:spcPts val="2280"/>
              </a:lnSpc>
              <a:spcBef>
                <a:spcPts val="655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Sadia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Islam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Assistant</a:t>
            </a:r>
            <a:r>
              <a:rPr sz="235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Professor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Department of Computer Science and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spc="-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9812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sz="2500" b="0" spc="-1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Tree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81340" cy="31972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00330">
              <a:lnSpc>
                <a:spcPts val="2270"/>
              </a:lnSpc>
              <a:spcBef>
                <a:spcPts val="85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Decision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tree (DT)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induction is the learning of decision trees from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class-labeled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instances,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top-down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recursive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divide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conquer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algorithm.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Advantages: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31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Simple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understand.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Easy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implement.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1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Requiring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little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prior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knowledge.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Able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handle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both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numerical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categorical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1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Robust.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1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Dealing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datasets.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Nonlinear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relationships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features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affect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performance.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9812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sz="2500" b="0" spc="-1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Tree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08400"/>
            <a:ext cx="8316595" cy="30695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1739"/>
              </a:lnSpc>
              <a:spcBef>
                <a:spcPts val="235"/>
              </a:spcBef>
            </a:pP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decision tree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works by breaking down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dataset into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smaller subsets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while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at the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same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time an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associated decision tree is incrementally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developed. The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final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result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tree with decision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nodes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leaf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nodes.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Process:</a:t>
            </a:r>
            <a:endParaRPr sz="1500">
              <a:latin typeface="Arial MT"/>
              <a:cs typeface="Arial MT"/>
            </a:endParaRPr>
          </a:p>
          <a:p>
            <a:pPr marL="469900" indent="-346075">
              <a:lnSpc>
                <a:spcPts val="1770"/>
              </a:lnSpc>
              <a:spcBef>
                <a:spcPts val="1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Root Node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This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the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topmost node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a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tree. It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represents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entire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dataset</a:t>
            </a:r>
            <a:endParaRPr sz="1500">
              <a:latin typeface="Arial MT"/>
              <a:cs typeface="Arial MT"/>
            </a:endParaRPr>
          </a:p>
          <a:p>
            <a:pPr marL="469900" marR="186055" indent="-346075">
              <a:lnSpc>
                <a:spcPts val="1739"/>
              </a:lnSpc>
              <a:spcBef>
                <a:spcPts val="80"/>
              </a:spcBef>
              <a:buChar char="●"/>
              <a:tabLst>
                <a:tab pos="469265" algn="l"/>
                <a:tab pos="469900" algn="l"/>
              </a:tabLst>
            </a:pPr>
            <a:r>
              <a:rPr sz="1500" b="1" spc="5" dirty="0">
                <a:solidFill>
                  <a:srgbClr val="595959"/>
                </a:solidFill>
                <a:latin typeface="Arial"/>
                <a:cs typeface="Arial"/>
              </a:rPr>
              <a:t>Splitting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: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This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involves dividing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node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into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two or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more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sub-nodes. The split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based on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features in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data set. The aim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to ensure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that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resulting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sub-nodes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are as pure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(homogeneous)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possible.</a:t>
            </a:r>
            <a:endParaRPr sz="1500">
              <a:latin typeface="Arial MT"/>
              <a:cs typeface="Arial MT"/>
            </a:endParaRPr>
          </a:p>
          <a:p>
            <a:pPr marL="469900" marR="130810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469265" algn="l"/>
                <a:tab pos="469900" algn="l"/>
              </a:tabLst>
            </a:pP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500" b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They represent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features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dataset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possible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they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500" spc="-4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take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gets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divided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certain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conditions.</a:t>
            </a:r>
            <a:endParaRPr sz="1500">
              <a:latin typeface="Arial MT"/>
              <a:cs typeface="Arial MT"/>
            </a:endParaRPr>
          </a:p>
          <a:p>
            <a:pPr marL="469900" marR="332105" indent="-346075">
              <a:lnSpc>
                <a:spcPts val="1739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Leaf/Terminal </a:t>
            </a: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: These nodes represent the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final output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or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decision.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They are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further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splitting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is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possible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necessary.</a:t>
            </a:r>
            <a:endParaRPr sz="1500">
              <a:latin typeface="Arial MT"/>
              <a:cs typeface="Arial MT"/>
            </a:endParaRPr>
          </a:p>
          <a:p>
            <a:pPr marL="469900" indent="-346075">
              <a:lnSpc>
                <a:spcPts val="1670"/>
              </a:lnSpc>
              <a:buChar char="●"/>
              <a:tabLst>
                <a:tab pos="469265" algn="l"/>
                <a:tab pos="469900" algn="l"/>
              </a:tabLst>
            </a:pP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Pruning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Done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reduce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tree.</a:t>
            </a:r>
            <a:endParaRPr sz="1500">
              <a:latin typeface="Arial MT"/>
              <a:cs typeface="Arial MT"/>
            </a:endParaRPr>
          </a:p>
          <a:p>
            <a:pPr marL="469900" indent="-346075">
              <a:lnSpc>
                <a:spcPts val="1770"/>
              </a:lnSpc>
              <a:buChar char="●"/>
              <a:tabLst>
                <a:tab pos="469265" algn="l"/>
                <a:tab pos="469900" algn="l"/>
              </a:tabLst>
            </a:pP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Predicting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final part,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predicting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values of the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test data.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19812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Decision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15" dirty="0">
                <a:latin typeface="Arial MT"/>
                <a:cs typeface="Arial MT"/>
              </a:rPr>
              <a:t>Tree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76581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Building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Decision 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Tree: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algorithms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used like ID3, C4.5, or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CART.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18020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Iterative</a:t>
            </a:r>
            <a:r>
              <a:rPr sz="25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Dichotomiser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(ID3)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160838"/>
            <a:ext cx="7789545" cy="31597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Entropy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Target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randomness</a:t>
            </a:r>
            <a:endParaRPr sz="14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800" spc="-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Best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Root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endParaRPr sz="18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highest information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root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node.</a:t>
            </a:r>
            <a:endParaRPr sz="14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Dataset</a:t>
            </a:r>
            <a:endParaRPr sz="18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dataset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subsets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based on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chosen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attribute</a:t>
            </a:r>
            <a:endParaRPr sz="14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Recursively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Build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Tree</a:t>
            </a:r>
            <a:endParaRPr sz="1800">
              <a:latin typeface="Arial MT"/>
              <a:cs typeface="Arial MT"/>
            </a:endParaRPr>
          </a:p>
          <a:p>
            <a:pPr marL="836294" marR="5080" lvl="1" indent="-336550">
              <a:lnSpc>
                <a:spcPct val="114999"/>
              </a:lnSpc>
              <a:spcBef>
                <a:spcPts val="8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Continue this process until all instances in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 subset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belong to the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same class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or no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more </a:t>
            </a:r>
            <a:r>
              <a:rPr sz="1400" spc="-3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attributes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are left to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on</a:t>
            </a:r>
            <a:endParaRPr sz="14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Classify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Instances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18020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Iterative</a:t>
            </a:r>
            <a:r>
              <a:rPr sz="25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Dichotomiser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(ID3)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867015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endParaRPr sz="1800">
              <a:latin typeface="Arial MT"/>
              <a:cs typeface="Arial MT"/>
            </a:endParaRPr>
          </a:p>
          <a:p>
            <a:pPr marL="836294" algn="just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endParaRPr sz="1800">
              <a:latin typeface="Arial MT"/>
              <a:cs typeface="Arial MT"/>
            </a:endParaRPr>
          </a:p>
          <a:p>
            <a:pPr marL="379095" marR="5080" indent="-367030" algn="just">
              <a:lnSpc>
                <a:spcPct val="114999"/>
              </a:lnSpc>
              <a:spcBef>
                <a:spcPts val="1200"/>
              </a:spcBef>
              <a:buChar char="●"/>
              <a:tabLst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Here, we are expressing information in terms of entropy(randomness), the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less entropy an attribute has,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effective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attribute is in terms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splitting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 towards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decisive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output,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gain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18020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Iterative</a:t>
            </a:r>
            <a:r>
              <a:rPr sz="25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Dichotomiser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(ID3)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5278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Entropy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having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619960"/>
            <a:ext cx="274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Binary</a:t>
            </a:r>
            <a:r>
              <a:rPr sz="18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500" y="1663774"/>
            <a:ext cx="7038974" cy="685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38" y="3025662"/>
            <a:ext cx="6324600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18020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Iterative</a:t>
            </a:r>
            <a:r>
              <a:rPr sz="25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Dichotomiser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(ID3)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6625" y="1208400"/>
            <a:ext cx="8011795" cy="2724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Information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of an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r>
              <a:rPr sz="15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-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Entropy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variable - Entropy of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that attribute</a:t>
            </a:r>
            <a:endParaRPr sz="1500">
              <a:latin typeface="Arial MT"/>
              <a:cs typeface="Arial MT"/>
            </a:endParaRPr>
          </a:p>
          <a:p>
            <a:pPr marL="50800" marR="5904865">
              <a:lnSpc>
                <a:spcPct val="163600"/>
              </a:lnSpc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IG(A)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=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Info</a:t>
            </a:r>
            <a:r>
              <a:rPr sz="1500" spc="7" baseline="-3055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- Info</a:t>
            </a:r>
            <a:r>
              <a:rPr sz="1500" spc="7" baseline="-30555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15" baseline="-305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Info</a:t>
            </a:r>
            <a:r>
              <a:rPr sz="1500" spc="7" baseline="-3055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5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Entropy</a:t>
            </a:r>
            <a:r>
              <a:rPr sz="1500" spc="7" baseline="-3055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500" spc="202" baseline="-305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endParaRPr sz="1500">
              <a:latin typeface="Arial MT"/>
              <a:cs typeface="Arial MT"/>
            </a:endParaRPr>
          </a:p>
          <a:p>
            <a:pPr marL="50800" marR="1113790">
              <a:lnSpc>
                <a:spcPct val="163600"/>
              </a:lnSpc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Where,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p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number of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positive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cases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n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number of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negative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cases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Info</a:t>
            </a:r>
            <a:r>
              <a:rPr sz="1500" spc="15" baseline="-30555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Entropy</a:t>
            </a:r>
            <a:r>
              <a:rPr sz="1500" spc="15" baseline="-30555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500" spc="217" baseline="-305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100">
              <a:latin typeface="Arial MT"/>
              <a:cs typeface="Arial MT"/>
            </a:endParaRPr>
          </a:p>
          <a:p>
            <a:pPr marL="50800" marR="43180">
              <a:lnSpc>
                <a:spcPts val="1739"/>
              </a:lnSpc>
              <a:spcBef>
                <a:spcPts val="1780"/>
              </a:spcBef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Where,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p</a:t>
            </a:r>
            <a:r>
              <a:rPr sz="1500" spc="22" baseline="-30555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500" spc="30" baseline="-305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 n</a:t>
            </a:r>
            <a:r>
              <a:rPr sz="1500" spc="15" baseline="-30555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500" spc="22" baseline="-305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are the number of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positive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negative instances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respectively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for attribute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total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values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attribute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969" y="1837600"/>
            <a:ext cx="847779" cy="4488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525" y="2574325"/>
            <a:ext cx="2076737" cy="572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6530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sz="25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077" y="1240029"/>
            <a:ext cx="4704240" cy="3277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7644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ID3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 Information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Gain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calculation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325" y="1302080"/>
            <a:ext cx="1064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Info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endParaRPr sz="2700" baseline="2006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2305" y="1216355"/>
            <a:ext cx="3550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target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325" y="2152092"/>
            <a:ext cx="5133975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Information(entropy)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attribute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“Outlook”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Info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Outlook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325" y="4023563"/>
            <a:ext cx="627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 Gain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Info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-Info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outlook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0.940 </a:t>
            </a:r>
            <a:r>
              <a:rPr sz="1800" spc="-750" dirty="0">
                <a:solidFill>
                  <a:srgbClr val="595959"/>
                </a:solidFill>
                <a:latin typeface="Arial MT"/>
                <a:cs typeface="Arial MT"/>
              </a:rPr>
              <a:t>−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0.694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0.246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400" y="1207675"/>
            <a:ext cx="3256850" cy="49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0771" y="2571750"/>
            <a:ext cx="4151791" cy="1188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5232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ID3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-5" dirty="0"/>
              <a:t>Same</a:t>
            </a:r>
            <a:r>
              <a:rPr spc="-15" dirty="0"/>
              <a:t> </a:t>
            </a:r>
            <a:r>
              <a:rPr spc="-40" dirty="0"/>
              <a:t>way,</a:t>
            </a:r>
            <a:r>
              <a:rPr spc="-5" dirty="0"/>
              <a:t> the IG of Outlook </a:t>
            </a:r>
            <a:r>
              <a:rPr dirty="0"/>
              <a:t>=</a:t>
            </a:r>
            <a:r>
              <a:rPr spc="-5" dirty="0"/>
              <a:t> 0.246,</a:t>
            </a:r>
            <a:r>
              <a:rPr spc="-40" dirty="0"/>
              <a:t> </a:t>
            </a:r>
            <a:r>
              <a:rPr spc="-25" dirty="0"/>
              <a:t>Temperature</a:t>
            </a:r>
            <a:r>
              <a:rPr spc="-5" dirty="0"/>
              <a:t> </a:t>
            </a:r>
            <a:r>
              <a:rPr dirty="0"/>
              <a:t>=</a:t>
            </a:r>
            <a:r>
              <a:rPr spc="-5" dirty="0"/>
              <a:t> 0.086, Humidity </a:t>
            </a:r>
            <a:r>
              <a:rPr dirty="0"/>
              <a:t>=</a:t>
            </a:r>
            <a:r>
              <a:rPr spc="-5" dirty="0"/>
              <a:t> 0.154,</a:t>
            </a:r>
            <a:r>
              <a:rPr spc="100" dirty="0"/>
              <a:t> </a:t>
            </a:r>
            <a:r>
              <a:rPr spc="-5" dirty="0"/>
              <a:t>and </a:t>
            </a:r>
            <a:r>
              <a:rPr spc="-484" dirty="0"/>
              <a:t> </a:t>
            </a:r>
            <a:r>
              <a:rPr spc="-5" dirty="0"/>
              <a:t>Wind</a:t>
            </a:r>
            <a:r>
              <a:rPr spc="-10" dirty="0"/>
              <a:t> </a:t>
            </a:r>
            <a:r>
              <a:rPr dirty="0"/>
              <a:t>=</a:t>
            </a:r>
            <a:r>
              <a:rPr spc="-5" dirty="0"/>
              <a:t> 0.197.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999692"/>
            <a:ext cx="530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So,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divide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dataset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Outlook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first.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5232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ID3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1800" y="902450"/>
            <a:ext cx="5373174" cy="39954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5232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ID3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038" y="1266275"/>
            <a:ext cx="5181600" cy="2133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9812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sz="2500" b="0" spc="-1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Tree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33" y="1245276"/>
            <a:ext cx="6523153" cy="34891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7016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C4.5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512" y="1158553"/>
            <a:ext cx="7076962" cy="37699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196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C4.5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70215" cy="171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Steps: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attribute.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 Gain Ratio and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select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attribute with the highest Gain Ratio for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splitting.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196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C4.5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5484495" cy="913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already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complete,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IG(S,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Outlook)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0.246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Look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previous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slides</a:t>
            </a:r>
            <a:endParaRPr sz="1800">
              <a:latin typeface="Arial MT"/>
              <a:cs typeface="Arial MT"/>
            </a:endParaRPr>
          </a:p>
          <a:p>
            <a:pPr marL="500380">
              <a:lnSpc>
                <a:spcPct val="100000"/>
              </a:lnSpc>
              <a:spcBef>
                <a:spcPts val="340"/>
              </a:spcBef>
            </a:pPr>
            <a:r>
              <a:rPr sz="1400" spc="-555" dirty="0">
                <a:solidFill>
                  <a:srgbClr val="595959"/>
                </a:solidFill>
                <a:latin typeface="Arial MT"/>
                <a:cs typeface="Arial MT"/>
              </a:rPr>
              <a:t>○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196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C4.5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349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2: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”Outlook”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1901687"/>
            <a:ext cx="7629524" cy="781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9250" y="3048888"/>
            <a:ext cx="5781674" cy="3905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196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C4.5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10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3054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3: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Ratio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”Outlook”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675076"/>
            <a:ext cx="7500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Similarly,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find GR for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all the attributes and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the one with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the highest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split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the data.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3163" y="1752600"/>
            <a:ext cx="4352925" cy="16382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3093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CART(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Classification</a:t>
            </a:r>
            <a:r>
              <a:rPr sz="2500" b="0" spc="-1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Regression</a:t>
            </a:r>
            <a:r>
              <a:rPr sz="2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Trees)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8665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9105">
              <a:lnSpc>
                <a:spcPct val="114999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CART(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Classification And Regression 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Trees)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decision tree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algorithm.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handle both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classification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tasks.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Gini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index/Gini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impurity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Gini index 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metric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classification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tasks in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CART.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stores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squared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probabilities of each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class.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computes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degree of probability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specific variable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is wrongly being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classified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chosen randomly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variation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Gini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coefficient.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499" y="3778825"/>
            <a:ext cx="2622489" cy="9440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63093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CART(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Classification</a:t>
            </a:r>
            <a:r>
              <a:rPr sz="2500" b="0" spc="-1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Regression</a:t>
            </a:r>
            <a:r>
              <a:rPr sz="2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-10" dirty="0">
                <a:solidFill>
                  <a:srgbClr val="000000"/>
                </a:solidFill>
                <a:latin typeface="Arial MT"/>
                <a:cs typeface="Arial MT"/>
              </a:rPr>
              <a:t>Trees)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2385264"/>
            <a:ext cx="8364220" cy="246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degree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4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Gini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index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1,</a:t>
            </a:r>
            <a:endParaRPr sz="1800">
              <a:latin typeface="Arial MT"/>
              <a:cs typeface="Arial MT"/>
            </a:endParaRPr>
          </a:p>
          <a:p>
            <a:pPr marL="469900" marR="7620" indent="-367030" algn="just">
              <a:lnSpc>
                <a:spcPct val="105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depicts that all the elements are allied 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certain class,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or only one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class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exists there.</a:t>
            </a:r>
            <a:endParaRPr sz="1800">
              <a:latin typeface="Arial MT"/>
              <a:cs typeface="Arial MT"/>
            </a:endParaRPr>
          </a:p>
          <a:p>
            <a:pPr marL="469900" marR="20955" indent="-367030" algn="just">
              <a:lnSpc>
                <a:spcPct val="105000"/>
              </a:lnSpc>
              <a:buChar char="●"/>
              <a:tabLst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Gini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index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close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1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level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impurity,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800" spc="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contains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very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small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fraction of elements,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469900" marR="5080" indent="-367030" algn="just">
              <a:lnSpc>
                <a:spcPct val="105000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value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1-1/n occurs when the elements are uniformly distributed into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each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has an equal probability of 1/n. For example, with two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classes,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Gini impurity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1/2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0.5.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523" y="1198824"/>
            <a:ext cx="2622489" cy="9440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3185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</a:t>
            </a:r>
            <a:r>
              <a:rPr sz="25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Classification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3584" cy="238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14999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Gini Impurity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- Gini impurity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measures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probability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misclassifying a random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instance from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subset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labeled according to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majority class.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Lower Gini impurity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purity of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subset.</a:t>
            </a:r>
            <a:endParaRPr sz="1800">
              <a:latin typeface="Arial MT"/>
              <a:cs typeface="Arial MT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Splitting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Criteria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CART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algorithm evaluates all potential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 every node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chooses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best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decreases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Gini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impurity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resultant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subsets.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continues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until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a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stopping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criterion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reached,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like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a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maximum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tree depth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or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minimum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number 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instances 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leaf node.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0524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</a:t>
            </a:r>
            <a:r>
              <a:rPr sz="2500" b="0" spc="-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2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Regression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5490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14999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Residual Reduction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- Residual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reduction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measure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how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much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average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squared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difference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 the predicted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the actual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target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reduced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splitting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subset.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lower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residual reduction,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better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fits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Splitting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Criteria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 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CART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evaluates every possible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 each node and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selects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one that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results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the greatest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reduction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residual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error in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resulting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subsets.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repeated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until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a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stopping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criterion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met,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sz="1800" spc="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reaching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maximum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tree depth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or having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too few instances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leaf node.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21678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</a:t>
            </a:r>
            <a:r>
              <a:rPr sz="2500"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676" y="2944231"/>
            <a:ext cx="7203440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.	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Choos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Splittin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-1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Attribute.</a:t>
            </a:r>
            <a:endParaRPr sz="180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Considering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Study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Hours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6.5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split.</a:t>
            </a:r>
            <a:endParaRPr sz="1800">
              <a:latin typeface="Arial MT"/>
              <a:cs typeface="Arial MT"/>
            </a:endParaRPr>
          </a:p>
          <a:p>
            <a:pPr marL="431800" indent="-367665">
              <a:lnSpc>
                <a:spcPct val="100000"/>
              </a:lnSpc>
              <a:spcBef>
                <a:spcPts val="1520"/>
              </a:spcBef>
              <a:buChar char="●"/>
              <a:tabLst>
                <a:tab pos="431800" algn="l"/>
                <a:tab pos="4324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Left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(Study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Hours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≤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6.5):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(3,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40,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Fail)(4, 50,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Fail)(6,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65,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Pass)</a:t>
            </a:r>
            <a:endParaRPr sz="1800">
              <a:latin typeface="Arial MT"/>
              <a:cs typeface="Arial MT"/>
            </a:endParaRPr>
          </a:p>
          <a:p>
            <a:pPr marL="431800" indent="-367665">
              <a:lnSpc>
                <a:spcPct val="100000"/>
              </a:lnSpc>
              <a:spcBef>
                <a:spcPts val="325"/>
              </a:spcBef>
              <a:buChar char="●"/>
              <a:tabLst>
                <a:tab pos="431800" algn="l"/>
                <a:tab pos="4324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Right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(Study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Hours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&gt;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6.5):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(8,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78,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Pass)(10,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85,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Pass)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76599" y="1388680"/>
          <a:ext cx="5088890" cy="1265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5865"/>
                <a:gridCol w="1723389"/>
                <a:gridCol w="2160270"/>
              </a:tblGrid>
              <a:tr h="205997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Hours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152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Attendance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(%)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152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Final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Grade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(Pass/Fail)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3359">
                <a:tc>
                  <a:txBody>
                    <a:bodyPr/>
                    <a:lstStyle/>
                    <a:p>
                      <a:pPr marR="2222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64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85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220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3360">
                <a:tc>
                  <a:txBody>
                    <a:bodyPr/>
                    <a:lstStyle/>
                    <a:p>
                      <a:pPr marR="121920" algn="ctr">
                        <a:lnSpc>
                          <a:spcPts val="15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64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78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220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3360">
                <a:tc>
                  <a:txBody>
                    <a:bodyPr/>
                    <a:lstStyle/>
                    <a:p>
                      <a:pPr marR="121920" algn="ctr">
                        <a:lnSpc>
                          <a:spcPts val="15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64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480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Fail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3359">
                <a:tc>
                  <a:txBody>
                    <a:bodyPr/>
                    <a:lstStyle/>
                    <a:p>
                      <a:pPr marR="121920" algn="ctr">
                        <a:lnSpc>
                          <a:spcPts val="158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645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65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220" algn="ct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05997">
                <a:tc>
                  <a:txBody>
                    <a:bodyPr/>
                    <a:lstStyle/>
                    <a:p>
                      <a:pPr marR="121920" algn="ctr">
                        <a:lnSpc>
                          <a:spcPts val="152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645" algn="ctr">
                        <a:lnSpc>
                          <a:spcPts val="152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40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4805" algn="ctr">
                        <a:lnSpc>
                          <a:spcPts val="152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Fail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21678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</a:t>
            </a:r>
            <a:r>
              <a:rPr sz="2500"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62230"/>
            <a:ext cx="3785235" cy="357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2.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Calculate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Gini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Impurity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Left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Node:</a:t>
            </a:r>
            <a:endParaRPr sz="1800">
              <a:latin typeface="Arial MT"/>
              <a:cs typeface="Arial MT"/>
            </a:endParaRPr>
          </a:p>
          <a:p>
            <a:pPr marL="469900" marR="970915">
              <a:lnSpc>
                <a:spcPct val="1706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Probability of Fail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</a:t>
            </a:r>
            <a:r>
              <a:rPr sz="1800" spc="-300" dirty="0">
                <a:solidFill>
                  <a:srgbClr val="595959"/>
                </a:solidFill>
                <a:latin typeface="Arial MT"/>
                <a:cs typeface="Arial MT"/>
              </a:rPr>
              <a:t>⅔ </a:t>
            </a:r>
            <a:r>
              <a:rPr sz="1800" spc="-2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Probability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300" dirty="0">
                <a:solidFill>
                  <a:srgbClr val="595959"/>
                </a:solidFill>
                <a:latin typeface="Arial MT"/>
                <a:cs typeface="Arial MT"/>
              </a:rPr>
              <a:t>⅓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Gini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(2/3)^2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(1/3)^2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≈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0.44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Right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Node:</a:t>
            </a:r>
            <a:endParaRPr sz="1800">
              <a:latin typeface="Arial MT"/>
              <a:cs typeface="Arial MT"/>
            </a:endParaRPr>
          </a:p>
          <a:p>
            <a:pPr marL="469900" marR="457200">
              <a:lnSpc>
                <a:spcPct val="1706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Probability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2/2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Gini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(1)^2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21678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0" spc="-5" dirty="0">
                <a:solidFill>
                  <a:srgbClr val="000000"/>
                </a:solidFill>
                <a:latin typeface="Arial MT"/>
                <a:cs typeface="Arial MT"/>
              </a:rPr>
              <a:t>CART</a:t>
            </a:r>
            <a:r>
              <a:rPr sz="2500"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500" b="0" spc="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925" y="1582314"/>
            <a:ext cx="2491105" cy="1006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1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Study</a:t>
            </a:r>
            <a:r>
              <a:rPr sz="15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Hours</a:t>
            </a:r>
            <a:r>
              <a:rPr sz="15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≤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6.5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948" y="2704054"/>
            <a:ext cx="800100" cy="1006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0335" algn="ctr">
              <a:lnSpc>
                <a:spcPct val="100000"/>
              </a:lnSpc>
              <a:spcBef>
                <a:spcPts val="130"/>
              </a:spcBef>
            </a:pP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endParaRPr sz="1500">
              <a:latin typeface="Arial MT"/>
              <a:cs typeface="Arial MT"/>
            </a:endParaRPr>
          </a:p>
          <a:p>
            <a:pPr marL="12700" marR="5080" algn="ctr">
              <a:lnSpc>
                <a:spcPct val="163600"/>
              </a:lnSpc>
            </a:pP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Fail/pass 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(3,</a:t>
            </a:r>
            <a:r>
              <a:rPr sz="15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4,6)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8975" y="2704054"/>
            <a:ext cx="8001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\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8410" y="3077967"/>
            <a:ext cx="723900" cy="633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0"/>
              </a:spcBef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(8,</a:t>
            </a:r>
            <a:r>
              <a:rPr sz="15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10)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7258" y="2441629"/>
            <a:ext cx="338645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Arigato</a:t>
            </a:r>
            <a:r>
              <a:rPr spc="-90" dirty="0"/>
              <a:t> </a:t>
            </a:r>
            <a:r>
              <a:rPr spc="-5" dirty="0"/>
              <a:t>Gujaimas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1214</Words>
  <Application>Microsoft Office PowerPoint</Application>
  <PresentationFormat>On-screen Show (16:9)</PresentationFormat>
  <Paragraphs>133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MT</vt:lpstr>
      <vt:lpstr>Calibri</vt:lpstr>
      <vt:lpstr>Office Theme</vt:lpstr>
      <vt:lpstr>Decision Tree</vt:lpstr>
      <vt:lpstr>Decision Tree</vt:lpstr>
      <vt:lpstr>Decision Tree</vt:lpstr>
      <vt:lpstr>PowerPoint Presentation</vt:lpstr>
      <vt:lpstr>Iterative Dichotomiser 3 (ID3)</vt:lpstr>
      <vt:lpstr>Iterative Dichotomiser 3 (ID3)</vt:lpstr>
      <vt:lpstr>Iterative Dichotomiser 3 (ID3)</vt:lpstr>
      <vt:lpstr>Iterative Dichotomiser 3 (ID3)</vt:lpstr>
      <vt:lpstr>Example - Dataset</vt:lpstr>
      <vt:lpstr>ID3 - Information Gain calculation</vt:lpstr>
      <vt:lpstr>Same way, the IG of Outlook = 0.246, Temperature = 0.086, Humidity = 0.154, and  Wind = 0.197.</vt:lpstr>
      <vt:lpstr>PowerPoint Presentation</vt:lpstr>
      <vt:lpstr>PowerPoint Presentation</vt:lpstr>
      <vt:lpstr>Decision Tree</vt:lpstr>
      <vt:lpstr>C4.5</vt:lpstr>
      <vt:lpstr>C4.5 - example for the same dataset</vt:lpstr>
      <vt:lpstr>C4.5 - example for the same dataset</vt:lpstr>
      <vt:lpstr>C4.5 - example for the same dataset</vt:lpstr>
      <vt:lpstr>C4.5 - example for the same dataset</vt:lpstr>
      <vt:lpstr>CART( Classification And Regression Trees)</vt:lpstr>
      <vt:lpstr>CART( Classification And Regression Trees)</vt:lpstr>
      <vt:lpstr>CART for Classification</vt:lpstr>
      <vt:lpstr>CART for Regression</vt:lpstr>
      <vt:lpstr>CART Example</vt:lpstr>
      <vt:lpstr>CART Example</vt:lpstr>
      <vt:lpstr>CART Example</vt:lpstr>
      <vt:lpstr>Arigato Gujaimas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Decistion Tree.pptx</dc:title>
  <cp:lastModifiedBy>Microsoft account</cp:lastModifiedBy>
  <cp:revision>1</cp:revision>
  <dcterms:created xsi:type="dcterms:W3CDTF">2024-12-12T06:33:26Z</dcterms:created>
  <dcterms:modified xsi:type="dcterms:W3CDTF">2024-12-12T06:51:15Z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