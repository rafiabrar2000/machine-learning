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754" autoAdjust="0"/>
  </p:normalViewPr>
  <p:slideViewPr>
    <p:cSldViewPr>
      <p:cViewPr varScale="1">
        <p:scale>
          <a:sx n="61" d="100"/>
          <a:sy n="61" d="100"/>
        </p:scale>
        <p:origin x="1420" y="3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1E228BE5-A4F3-4EDD-86E9-0059946E03AA}" type="datetimeFigureOut">
              <a:rPr lang="en-US" smtClean="0"/>
              <a:t>12/14/2024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77C9C8AF-2433-4F98-B298-C755E9A7875E}" type="slidenum">
              <a:rPr lang="en-US" smtClean="0"/>
              <a:t>‹#›</a:t>
            </a:fld>
            <a:endParaRPr lang="en-US"/>
          </a:p>
        </p:txBody>
      </p:sp>
    </p:spTree>
    <p:extLst>
      <p:ext uri="{BB962C8B-B14F-4D97-AF65-F5344CB8AC3E}">
        <p14:creationId xmlns:p14="http://schemas.microsoft.com/office/powerpoint/2010/main" val="1503893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What is Multinomial Logistic Regression?</a:t>
            </a:r>
          </a:p>
          <a:p>
            <a:r>
              <a:rPr lang="en-US" dirty="0" smtClean="0"/>
              <a:t>It's a way to classify things when there are more than two possible categories (e.g., Class 1, Class 2, Class 3). It builds on the simpler logistic regression (which works for two classes) and adapts it for multiple classes.</a:t>
            </a:r>
          </a:p>
          <a:p>
            <a:endParaRPr lang="en-US" dirty="0" smtClean="0"/>
          </a:p>
          <a:p>
            <a:r>
              <a:rPr lang="en-US" b="1" dirty="0" smtClean="0"/>
              <a:t>How does it work? (One-</a:t>
            </a:r>
            <a:r>
              <a:rPr lang="en-US" b="1" dirty="0" err="1" smtClean="0"/>
              <a:t>vs</a:t>
            </a:r>
            <a:r>
              <a:rPr lang="en-US" b="1" dirty="0" smtClean="0"/>
              <a:t>-All Approach)</a:t>
            </a:r>
          </a:p>
          <a:p>
            <a:r>
              <a:rPr lang="en-US" b="1" dirty="0" smtClean="0"/>
              <a:t>One Class at a Time:</a:t>
            </a:r>
            <a:endParaRPr lang="en-US" dirty="0" smtClean="0"/>
          </a:p>
          <a:p>
            <a:pPr lvl="1"/>
            <a:r>
              <a:rPr lang="en-US" dirty="0" smtClean="0"/>
              <a:t>Treat each class as a "positive" (1) and all other classes as "negative" (0).</a:t>
            </a:r>
          </a:p>
          <a:p>
            <a:pPr lvl="1"/>
            <a:r>
              <a:rPr lang="en-US" dirty="0" smtClean="0"/>
              <a:t>For example:</a:t>
            </a:r>
          </a:p>
          <a:p>
            <a:pPr lvl="2"/>
            <a:r>
              <a:rPr lang="en-US" dirty="0" smtClean="0"/>
              <a:t>If you have Class 1, Class 2, and Class 3:</a:t>
            </a:r>
          </a:p>
          <a:p>
            <a:pPr lvl="3"/>
            <a:r>
              <a:rPr lang="en-US" dirty="0" smtClean="0"/>
              <a:t>Train a binary classifier to distinguish Class 1 vs. (Class 2 and Class 3).</a:t>
            </a:r>
          </a:p>
          <a:p>
            <a:pPr lvl="3"/>
            <a:r>
              <a:rPr lang="en-US" dirty="0" smtClean="0"/>
              <a:t>Then, train another binary classifier for Class 2 vs. (Class 1 and Class 3), and so on.</a:t>
            </a:r>
          </a:p>
          <a:p>
            <a:r>
              <a:rPr lang="en-US" b="1" dirty="0" smtClean="0"/>
              <a:t>Run All Classifiers:</a:t>
            </a:r>
            <a:endParaRPr lang="en-US" dirty="0" smtClean="0"/>
          </a:p>
          <a:p>
            <a:pPr lvl="1"/>
            <a:r>
              <a:rPr lang="en-US" dirty="0" smtClean="0"/>
              <a:t>When a new data point comes in, test it on all the classifiers.</a:t>
            </a:r>
          </a:p>
          <a:p>
            <a:pPr lvl="1"/>
            <a:r>
              <a:rPr lang="en-US" dirty="0" smtClean="0"/>
              <a:t>Each classifier gives a probability that the point belongs to its class.</a:t>
            </a:r>
          </a:p>
          <a:p>
            <a:r>
              <a:rPr lang="en-US" b="1" dirty="0" smtClean="0"/>
              <a:t>Pick the Best Class:</a:t>
            </a:r>
            <a:endParaRPr lang="en-US" dirty="0" smtClean="0"/>
          </a:p>
          <a:p>
            <a:pPr lvl="1"/>
            <a:r>
              <a:rPr lang="en-US" dirty="0" smtClean="0"/>
              <a:t>Assign the data point to the class with the highest probability.</a:t>
            </a:r>
          </a:p>
          <a:p>
            <a:r>
              <a:rPr lang="en-US" b="1" dirty="0" smtClean="0"/>
              <a:t>Why is it called "One-</a:t>
            </a:r>
            <a:r>
              <a:rPr lang="en-US" b="1" dirty="0" err="1" smtClean="0"/>
              <a:t>vs</a:t>
            </a:r>
            <a:r>
              <a:rPr lang="en-US" b="1" dirty="0" smtClean="0"/>
              <a:t>-All"?</a:t>
            </a:r>
          </a:p>
          <a:p>
            <a:r>
              <a:rPr lang="en-US" dirty="0" smtClean="0"/>
              <a:t>Because we’re splitting the problem into smaller ones where we compare </a:t>
            </a:r>
            <a:r>
              <a:rPr lang="en-US" b="1" dirty="0" smtClean="0"/>
              <a:t>one class</a:t>
            </a:r>
            <a:r>
              <a:rPr lang="en-US" dirty="0" smtClean="0"/>
              <a:t> against </a:t>
            </a:r>
            <a:r>
              <a:rPr lang="en-US" b="1" dirty="0" smtClean="0"/>
              <a:t>all the others</a:t>
            </a:r>
            <a:r>
              <a:rPr lang="en-US" dirty="0" smtClean="0"/>
              <a:t>.</a:t>
            </a:r>
          </a:p>
          <a:p>
            <a:endParaRPr lang="en-US" dirty="0"/>
          </a:p>
        </p:txBody>
      </p:sp>
      <p:sp>
        <p:nvSpPr>
          <p:cNvPr id="4" name="Slide Number Placeholder 3"/>
          <p:cNvSpPr>
            <a:spLocks noGrp="1"/>
          </p:cNvSpPr>
          <p:nvPr>
            <p:ph type="sldNum" sz="quarter" idx="10"/>
          </p:nvPr>
        </p:nvSpPr>
        <p:spPr/>
        <p:txBody>
          <a:bodyPr/>
          <a:lstStyle/>
          <a:p>
            <a:fld id="{77C9C8AF-2433-4F98-B298-C755E9A7875E}" type="slidenum">
              <a:rPr lang="en-US" smtClean="0"/>
              <a:t>12</a:t>
            </a:fld>
            <a:endParaRPr lang="en-US"/>
          </a:p>
        </p:txBody>
      </p:sp>
    </p:spTree>
    <p:extLst>
      <p:ext uri="{BB962C8B-B14F-4D97-AF65-F5344CB8AC3E}">
        <p14:creationId xmlns:p14="http://schemas.microsoft.com/office/powerpoint/2010/main" val="1342716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left side shows data with three classes (green triangles, blue squares, red crosses).</a:t>
            </a:r>
          </a:p>
          <a:p>
            <a:endParaRPr lang="en-US" dirty="0" smtClean="0"/>
          </a:p>
          <a:p>
            <a:r>
              <a:rPr lang="en-US" dirty="0" smtClean="0"/>
              <a:t>The right side shows how each binary classifier (one per class) focuses on distinguishing its class from the </a:t>
            </a:r>
            <a:r>
              <a:rPr lang="en-US" smtClean="0"/>
              <a:t>others.</a:t>
            </a:r>
          </a:p>
          <a:p>
            <a:endParaRPr lang="en-US" dirty="0" smtClean="0"/>
          </a:p>
          <a:p>
            <a:r>
              <a:rPr lang="en-US" dirty="0" smtClean="0"/>
              <a:t>At the end, a new sample is assigned to the class with the strongest prediction.</a:t>
            </a:r>
            <a:endParaRPr lang="en-US" dirty="0"/>
          </a:p>
        </p:txBody>
      </p:sp>
      <p:sp>
        <p:nvSpPr>
          <p:cNvPr id="4" name="Slide Number Placeholder 3"/>
          <p:cNvSpPr>
            <a:spLocks noGrp="1"/>
          </p:cNvSpPr>
          <p:nvPr>
            <p:ph type="sldNum" sz="quarter" idx="10"/>
          </p:nvPr>
        </p:nvSpPr>
        <p:spPr/>
        <p:txBody>
          <a:bodyPr/>
          <a:lstStyle/>
          <a:p>
            <a:fld id="{77C9C8AF-2433-4F98-B298-C755E9A7875E}" type="slidenum">
              <a:rPr lang="en-US" smtClean="0"/>
              <a:t>13</a:t>
            </a:fld>
            <a:endParaRPr lang="en-US"/>
          </a:p>
        </p:txBody>
      </p:sp>
    </p:spTree>
    <p:extLst>
      <p:ext uri="{BB962C8B-B14F-4D97-AF65-F5344CB8AC3E}">
        <p14:creationId xmlns:p14="http://schemas.microsoft.com/office/powerpoint/2010/main" val="1965479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4725" y="505248"/>
            <a:ext cx="1910714" cy="409575"/>
          </a:xfrm>
          <a:prstGeom prst="rect">
            <a:avLst/>
          </a:prstGeom>
        </p:spPr>
        <p:txBody>
          <a:bodyPr wrap="square" lIns="0" tIns="0" rIns="0" bIns="0">
            <a:spAutoFit/>
          </a:bodyPr>
          <a:lstStyle>
            <a:lvl1pPr>
              <a:defRPr sz="2500" b="0" i="0">
                <a:solidFill>
                  <a:schemeClr val="tx1"/>
                </a:solidFill>
                <a:latin typeface="Arial MT"/>
                <a:cs typeface="Arial MT"/>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tx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tx1"/>
                </a:solidFill>
                <a:latin typeface="Arial MT"/>
                <a:cs typeface="Arial MT"/>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tx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4725" y="328798"/>
            <a:ext cx="8221980" cy="593010"/>
          </a:xfrm>
          <a:prstGeom prst="rect">
            <a:avLst/>
          </a:prstGeom>
        </p:spPr>
        <p:txBody>
          <a:bodyPr wrap="square" lIns="0" tIns="0" rIns="0" bIns="0">
            <a:spAutoFit/>
          </a:bodyPr>
          <a:lstStyle>
            <a:lvl1pPr>
              <a:defRPr sz="2500" b="0" i="0">
                <a:solidFill>
                  <a:schemeClr val="tx1"/>
                </a:solidFill>
                <a:latin typeface="Arial MT"/>
                <a:cs typeface="Arial MT"/>
              </a:defRPr>
            </a:lvl1pPr>
          </a:lstStyle>
          <a:p>
            <a:endParaRPr/>
          </a:p>
        </p:txBody>
      </p:sp>
      <p:sp>
        <p:nvSpPr>
          <p:cNvPr id="3" name="Holder 3"/>
          <p:cNvSpPr>
            <a:spLocks noGrp="1"/>
          </p:cNvSpPr>
          <p:nvPr>
            <p:ph type="body" idx="1"/>
          </p:nvPr>
        </p:nvSpPr>
        <p:spPr>
          <a:xfrm>
            <a:off x="909637" y="1804987"/>
            <a:ext cx="7324725" cy="21913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12/14/2024</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66329" y="814243"/>
            <a:ext cx="5210810" cy="739140"/>
          </a:xfrm>
          <a:prstGeom prst="rect">
            <a:avLst/>
          </a:prstGeom>
        </p:spPr>
        <p:txBody>
          <a:bodyPr vert="horz" wrap="square" lIns="0" tIns="16510" rIns="0" bIns="0" rtlCol="0">
            <a:spAutoFit/>
          </a:bodyPr>
          <a:lstStyle/>
          <a:p>
            <a:pPr marL="12700">
              <a:lnSpc>
                <a:spcPct val="100000"/>
              </a:lnSpc>
              <a:spcBef>
                <a:spcPts val="130"/>
              </a:spcBef>
            </a:pPr>
            <a:r>
              <a:rPr sz="4650" dirty="0"/>
              <a:t>Logistic </a:t>
            </a:r>
            <a:r>
              <a:rPr sz="4650" spc="-10" dirty="0"/>
              <a:t>Regression</a:t>
            </a:r>
            <a:endParaRPr sz="4650"/>
          </a:p>
        </p:txBody>
      </p:sp>
      <p:sp>
        <p:nvSpPr>
          <p:cNvPr id="3" name="object 3"/>
          <p:cNvSpPr txBox="1"/>
          <p:nvPr/>
        </p:nvSpPr>
        <p:spPr>
          <a:xfrm>
            <a:off x="1192008" y="2648725"/>
            <a:ext cx="6758305" cy="1259205"/>
          </a:xfrm>
          <a:prstGeom prst="rect">
            <a:avLst/>
          </a:prstGeom>
        </p:spPr>
        <p:txBody>
          <a:bodyPr vert="horz" wrap="square" lIns="0" tIns="83185" rIns="0" bIns="0" rtlCol="0">
            <a:spAutoFit/>
          </a:bodyPr>
          <a:lstStyle/>
          <a:p>
            <a:pPr marL="2078355" marR="2070100" indent="1270" algn="ctr">
              <a:lnSpc>
                <a:spcPts val="2280"/>
              </a:lnSpc>
              <a:spcBef>
                <a:spcPts val="655"/>
              </a:spcBef>
            </a:pPr>
            <a:r>
              <a:rPr sz="2350" dirty="0">
                <a:solidFill>
                  <a:srgbClr val="595959"/>
                </a:solidFill>
                <a:latin typeface="Arial MT"/>
                <a:cs typeface="Arial MT"/>
              </a:rPr>
              <a:t>Sadia</a:t>
            </a:r>
            <a:r>
              <a:rPr sz="2350" spc="45" dirty="0">
                <a:solidFill>
                  <a:srgbClr val="595959"/>
                </a:solidFill>
                <a:latin typeface="Arial MT"/>
                <a:cs typeface="Arial MT"/>
              </a:rPr>
              <a:t> </a:t>
            </a:r>
            <a:r>
              <a:rPr sz="2350" spc="-20" dirty="0">
                <a:solidFill>
                  <a:srgbClr val="595959"/>
                </a:solidFill>
                <a:latin typeface="Arial MT"/>
                <a:cs typeface="Arial MT"/>
              </a:rPr>
              <a:t>Islam </a:t>
            </a:r>
            <a:r>
              <a:rPr sz="2350" dirty="0">
                <a:solidFill>
                  <a:srgbClr val="595959"/>
                </a:solidFill>
                <a:latin typeface="Arial MT"/>
                <a:cs typeface="Arial MT"/>
              </a:rPr>
              <a:t>Assistant</a:t>
            </a:r>
            <a:r>
              <a:rPr sz="2350" spc="55" dirty="0">
                <a:solidFill>
                  <a:srgbClr val="595959"/>
                </a:solidFill>
                <a:latin typeface="Arial MT"/>
                <a:cs typeface="Arial MT"/>
              </a:rPr>
              <a:t> </a:t>
            </a:r>
            <a:r>
              <a:rPr sz="2350" spc="-10" dirty="0">
                <a:solidFill>
                  <a:srgbClr val="595959"/>
                </a:solidFill>
                <a:latin typeface="Arial MT"/>
                <a:cs typeface="Arial MT"/>
              </a:rPr>
              <a:t>Professor</a:t>
            </a:r>
            <a:endParaRPr sz="2350">
              <a:latin typeface="Arial MT"/>
              <a:cs typeface="Arial MT"/>
            </a:endParaRPr>
          </a:p>
          <a:p>
            <a:pPr marL="12700" marR="5080" algn="ctr">
              <a:lnSpc>
                <a:spcPts val="2280"/>
              </a:lnSpc>
              <a:spcBef>
                <a:spcPts val="10"/>
              </a:spcBef>
            </a:pPr>
            <a:r>
              <a:rPr sz="2350" dirty="0">
                <a:solidFill>
                  <a:srgbClr val="595959"/>
                </a:solidFill>
                <a:latin typeface="Arial MT"/>
                <a:cs typeface="Arial MT"/>
              </a:rPr>
              <a:t>Department</a:t>
            </a:r>
            <a:r>
              <a:rPr sz="2350" spc="-5" dirty="0">
                <a:solidFill>
                  <a:srgbClr val="595959"/>
                </a:solidFill>
                <a:latin typeface="Arial MT"/>
                <a:cs typeface="Arial MT"/>
              </a:rPr>
              <a:t> </a:t>
            </a:r>
            <a:r>
              <a:rPr sz="2350" dirty="0">
                <a:solidFill>
                  <a:srgbClr val="595959"/>
                </a:solidFill>
                <a:latin typeface="Arial MT"/>
                <a:cs typeface="Arial MT"/>
              </a:rPr>
              <a:t>of Computer</a:t>
            </a:r>
            <a:r>
              <a:rPr sz="2350" spc="10" dirty="0">
                <a:solidFill>
                  <a:srgbClr val="595959"/>
                </a:solidFill>
                <a:latin typeface="Arial MT"/>
                <a:cs typeface="Arial MT"/>
              </a:rPr>
              <a:t> </a:t>
            </a:r>
            <a:r>
              <a:rPr sz="2350" dirty="0">
                <a:solidFill>
                  <a:srgbClr val="595959"/>
                </a:solidFill>
                <a:latin typeface="Arial MT"/>
                <a:cs typeface="Arial MT"/>
              </a:rPr>
              <a:t>Science</a:t>
            </a:r>
            <a:r>
              <a:rPr sz="2350" spc="5" dirty="0">
                <a:solidFill>
                  <a:srgbClr val="595959"/>
                </a:solidFill>
                <a:latin typeface="Arial MT"/>
                <a:cs typeface="Arial MT"/>
              </a:rPr>
              <a:t> </a:t>
            </a:r>
            <a:r>
              <a:rPr sz="2350" dirty="0">
                <a:solidFill>
                  <a:srgbClr val="595959"/>
                </a:solidFill>
                <a:latin typeface="Arial MT"/>
                <a:cs typeface="Arial MT"/>
              </a:rPr>
              <a:t>and</a:t>
            </a:r>
            <a:r>
              <a:rPr sz="2350" spc="10" dirty="0">
                <a:solidFill>
                  <a:srgbClr val="595959"/>
                </a:solidFill>
                <a:latin typeface="Arial MT"/>
                <a:cs typeface="Arial MT"/>
              </a:rPr>
              <a:t> </a:t>
            </a:r>
            <a:r>
              <a:rPr sz="2350" spc="-10" dirty="0">
                <a:solidFill>
                  <a:srgbClr val="595959"/>
                </a:solidFill>
                <a:latin typeface="Arial MT"/>
                <a:cs typeface="Arial MT"/>
              </a:rPr>
              <a:t>engineering </a:t>
            </a:r>
            <a:r>
              <a:rPr sz="2350" dirty="0">
                <a:solidFill>
                  <a:srgbClr val="595959"/>
                </a:solidFill>
                <a:latin typeface="Arial MT"/>
                <a:cs typeface="Arial MT"/>
              </a:rPr>
              <a:t>United</a:t>
            </a:r>
            <a:r>
              <a:rPr sz="2350" spc="-40" dirty="0">
                <a:solidFill>
                  <a:srgbClr val="595959"/>
                </a:solidFill>
                <a:latin typeface="Arial MT"/>
                <a:cs typeface="Arial MT"/>
              </a:rPr>
              <a:t> </a:t>
            </a:r>
            <a:r>
              <a:rPr sz="2350" dirty="0">
                <a:solidFill>
                  <a:srgbClr val="595959"/>
                </a:solidFill>
                <a:latin typeface="Arial MT"/>
                <a:cs typeface="Arial MT"/>
              </a:rPr>
              <a:t>International</a:t>
            </a:r>
            <a:r>
              <a:rPr sz="2350" spc="-35" dirty="0">
                <a:solidFill>
                  <a:srgbClr val="595959"/>
                </a:solidFill>
                <a:latin typeface="Arial MT"/>
                <a:cs typeface="Arial MT"/>
              </a:rPr>
              <a:t> </a:t>
            </a:r>
            <a:r>
              <a:rPr sz="2350" spc="-10" dirty="0">
                <a:solidFill>
                  <a:srgbClr val="595959"/>
                </a:solidFill>
                <a:latin typeface="Arial MT"/>
                <a:cs typeface="Arial MT"/>
              </a:rPr>
              <a:t>University</a:t>
            </a:r>
            <a:endParaRPr sz="235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5240" rIns="0" bIns="0" rtlCol="0">
            <a:spAutoFit/>
          </a:bodyPr>
          <a:lstStyle/>
          <a:p>
            <a:pPr marL="12700">
              <a:lnSpc>
                <a:spcPct val="100000"/>
              </a:lnSpc>
              <a:spcBef>
                <a:spcPts val="120"/>
              </a:spcBef>
            </a:pPr>
            <a:r>
              <a:rPr spc="-10" dirty="0"/>
              <a:t>Classification</a:t>
            </a:r>
          </a:p>
        </p:txBody>
      </p:sp>
      <p:sp>
        <p:nvSpPr>
          <p:cNvPr id="3" name="object 3"/>
          <p:cNvSpPr txBox="1"/>
          <p:nvPr/>
        </p:nvSpPr>
        <p:spPr>
          <a:xfrm>
            <a:off x="384725" y="1175208"/>
            <a:ext cx="7986395" cy="656590"/>
          </a:xfrm>
          <a:prstGeom prst="rect">
            <a:avLst/>
          </a:prstGeom>
        </p:spPr>
        <p:txBody>
          <a:bodyPr vert="horz" wrap="square" lIns="0" tIns="12700" rIns="0" bIns="0" rtlCol="0">
            <a:spAutoFit/>
          </a:bodyPr>
          <a:lstStyle/>
          <a:p>
            <a:pPr marL="12700" marR="5080">
              <a:lnSpc>
                <a:spcPct val="114999"/>
              </a:lnSpc>
              <a:spcBef>
                <a:spcPts val="100"/>
              </a:spcBef>
            </a:pPr>
            <a:r>
              <a:rPr sz="1800" dirty="0">
                <a:solidFill>
                  <a:srgbClr val="595959"/>
                </a:solidFill>
                <a:latin typeface="Arial MT"/>
                <a:cs typeface="Arial MT"/>
              </a:rPr>
              <a:t>Predicting</a:t>
            </a:r>
            <a:r>
              <a:rPr sz="1800" spc="-20" dirty="0">
                <a:solidFill>
                  <a:srgbClr val="595959"/>
                </a:solidFill>
                <a:latin typeface="Arial MT"/>
                <a:cs typeface="Arial MT"/>
              </a:rPr>
              <a:t> </a:t>
            </a:r>
            <a:r>
              <a:rPr sz="1800" dirty="0">
                <a:solidFill>
                  <a:srgbClr val="595959"/>
                </a:solidFill>
                <a:latin typeface="Arial MT"/>
                <a:cs typeface="Arial MT"/>
              </a:rPr>
              <a:t>if</a:t>
            </a:r>
            <a:r>
              <a:rPr sz="1800" spc="-20" dirty="0">
                <a:solidFill>
                  <a:srgbClr val="595959"/>
                </a:solidFill>
                <a:latin typeface="Arial MT"/>
                <a:cs typeface="Arial MT"/>
              </a:rPr>
              <a:t> </a:t>
            </a:r>
            <a:r>
              <a:rPr sz="1800" dirty="0">
                <a:solidFill>
                  <a:srgbClr val="595959"/>
                </a:solidFill>
                <a:latin typeface="Arial MT"/>
                <a:cs typeface="Arial MT"/>
              </a:rPr>
              <a:t>a</a:t>
            </a:r>
            <a:r>
              <a:rPr sz="1800" spc="-20" dirty="0">
                <a:solidFill>
                  <a:srgbClr val="595959"/>
                </a:solidFill>
                <a:latin typeface="Arial MT"/>
                <a:cs typeface="Arial MT"/>
              </a:rPr>
              <a:t> </a:t>
            </a:r>
            <a:r>
              <a:rPr sz="1800" dirty="0">
                <a:solidFill>
                  <a:srgbClr val="595959"/>
                </a:solidFill>
                <a:latin typeface="Arial MT"/>
                <a:cs typeface="Arial MT"/>
              </a:rPr>
              <a:t>student</a:t>
            </a:r>
            <a:r>
              <a:rPr sz="1800" spc="-20" dirty="0">
                <a:solidFill>
                  <a:srgbClr val="595959"/>
                </a:solidFill>
                <a:latin typeface="Arial MT"/>
                <a:cs typeface="Arial MT"/>
              </a:rPr>
              <a:t> </a:t>
            </a:r>
            <a:r>
              <a:rPr sz="1800" dirty="0">
                <a:solidFill>
                  <a:srgbClr val="595959"/>
                </a:solidFill>
                <a:latin typeface="Arial MT"/>
                <a:cs typeface="Arial MT"/>
              </a:rPr>
              <a:t>will</a:t>
            </a:r>
            <a:r>
              <a:rPr sz="1800" spc="-20" dirty="0">
                <a:solidFill>
                  <a:srgbClr val="595959"/>
                </a:solidFill>
                <a:latin typeface="Arial MT"/>
                <a:cs typeface="Arial MT"/>
              </a:rPr>
              <a:t> </a:t>
            </a:r>
            <a:r>
              <a:rPr sz="1800" dirty="0">
                <a:solidFill>
                  <a:srgbClr val="595959"/>
                </a:solidFill>
                <a:latin typeface="Arial MT"/>
                <a:cs typeface="Arial MT"/>
              </a:rPr>
              <a:t>pass</a:t>
            </a:r>
            <a:r>
              <a:rPr sz="1800" spc="-20" dirty="0">
                <a:solidFill>
                  <a:srgbClr val="595959"/>
                </a:solidFill>
                <a:latin typeface="Arial MT"/>
                <a:cs typeface="Arial MT"/>
              </a:rPr>
              <a:t> </a:t>
            </a:r>
            <a:r>
              <a:rPr sz="1800" dirty="0">
                <a:solidFill>
                  <a:srgbClr val="595959"/>
                </a:solidFill>
                <a:latin typeface="Arial MT"/>
                <a:cs typeface="Arial MT"/>
              </a:rPr>
              <a:t>or</a:t>
            </a:r>
            <a:r>
              <a:rPr sz="1800" spc="-15" dirty="0">
                <a:solidFill>
                  <a:srgbClr val="595959"/>
                </a:solidFill>
                <a:latin typeface="Arial MT"/>
                <a:cs typeface="Arial MT"/>
              </a:rPr>
              <a:t> </a:t>
            </a:r>
            <a:r>
              <a:rPr sz="1800" dirty="0">
                <a:solidFill>
                  <a:srgbClr val="595959"/>
                </a:solidFill>
                <a:latin typeface="Arial MT"/>
                <a:cs typeface="Arial MT"/>
              </a:rPr>
              <a:t>fail</a:t>
            </a:r>
            <a:r>
              <a:rPr sz="1800" spc="-20" dirty="0">
                <a:solidFill>
                  <a:srgbClr val="595959"/>
                </a:solidFill>
                <a:latin typeface="Arial MT"/>
                <a:cs typeface="Arial MT"/>
              </a:rPr>
              <a:t> </a:t>
            </a:r>
            <a:r>
              <a:rPr sz="1800" dirty="0">
                <a:solidFill>
                  <a:srgbClr val="595959"/>
                </a:solidFill>
                <a:latin typeface="Arial MT"/>
                <a:cs typeface="Arial MT"/>
              </a:rPr>
              <a:t>based</a:t>
            </a:r>
            <a:r>
              <a:rPr sz="1800" spc="-20" dirty="0">
                <a:solidFill>
                  <a:srgbClr val="595959"/>
                </a:solidFill>
                <a:latin typeface="Arial MT"/>
                <a:cs typeface="Arial MT"/>
              </a:rPr>
              <a:t> </a:t>
            </a:r>
            <a:r>
              <a:rPr sz="1800" dirty="0">
                <a:solidFill>
                  <a:srgbClr val="595959"/>
                </a:solidFill>
                <a:latin typeface="Arial MT"/>
                <a:cs typeface="Arial MT"/>
              </a:rPr>
              <a:t>on</a:t>
            </a:r>
            <a:r>
              <a:rPr sz="1800" spc="-20" dirty="0">
                <a:solidFill>
                  <a:srgbClr val="595959"/>
                </a:solidFill>
                <a:latin typeface="Arial MT"/>
                <a:cs typeface="Arial MT"/>
              </a:rPr>
              <a:t> </a:t>
            </a:r>
            <a:r>
              <a:rPr sz="1800" dirty="0">
                <a:solidFill>
                  <a:srgbClr val="595959"/>
                </a:solidFill>
                <a:latin typeface="Arial MT"/>
                <a:cs typeface="Arial MT"/>
              </a:rPr>
              <a:t>features</a:t>
            </a:r>
            <a:r>
              <a:rPr sz="1800" spc="-20" dirty="0">
                <a:solidFill>
                  <a:srgbClr val="595959"/>
                </a:solidFill>
                <a:latin typeface="Arial MT"/>
                <a:cs typeface="Arial MT"/>
              </a:rPr>
              <a:t> </a:t>
            </a:r>
            <a:r>
              <a:rPr sz="1800" dirty="0">
                <a:solidFill>
                  <a:srgbClr val="595959"/>
                </a:solidFill>
                <a:latin typeface="Arial MT"/>
                <a:cs typeface="Arial MT"/>
              </a:rPr>
              <a:t>like</a:t>
            </a:r>
            <a:r>
              <a:rPr sz="1800" spc="-20" dirty="0">
                <a:solidFill>
                  <a:srgbClr val="595959"/>
                </a:solidFill>
                <a:latin typeface="Arial MT"/>
                <a:cs typeface="Arial MT"/>
              </a:rPr>
              <a:t> </a:t>
            </a:r>
            <a:r>
              <a:rPr sz="1800" dirty="0">
                <a:solidFill>
                  <a:srgbClr val="595959"/>
                </a:solidFill>
                <a:latin typeface="Arial MT"/>
                <a:cs typeface="Arial MT"/>
              </a:rPr>
              <a:t>study</a:t>
            </a:r>
            <a:r>
              <a:rPr sz="1800" spc="-20" dirty="0">
                <a:solidFill>
                  <a:srgbClr val="595959"/>
                </a:solidFill>
                <a:latin typeface="Arial MT"/>
                <a:cs typeface="Arial MT"/>
              </a:rPr>
              <a:t> </a:t>
            </a:r>
            <a:r>
              <a:rPr sz="1800" dirty="0">
                <a:solidFill>
                  <a:srgbClr val="595959"/>
                </a:solidFill>
                <a:latin typeface="Arial MT"/>
                <a:cs typeface="Arial MT"/>
              </a:rPr>
              <a:t>hours,</a:t>
            </a:r>
            <a:r>
              <a:rPr sz="1800" spc="-15" dirty="0">
                <a:solidFill>
                  <a:srgbClr val="595959"/>
                </a:solidFill>
                <a:latin typeface="Arial MT"/>
                <a:cs typeface="Arial MT"/>
              </a:rPr>
              <a:t> </a:t>
            </a:r>
            <a:r>
              <a:rPr sz="1800" spc="-10" dirty="0">
                <a:solidFill>
                  <a:srgbClr val="595959"/>
                </a:solidFill>
                <a:latin typeface="Arial MT"/>
                <a:cs typeface="Arial MT"/>
              </a:rPr>
              <a:t>sleep </a:t>
            </a:r>
            <a:r>
              <a:rPr sz="1800" dirty="0">
                <a:solidFill>
                  <a:srgbClr val="595959"/>
                </a:solidFill>
                <a:latin typeface="Arial MT"/>
                <a:cs typeface="Arial MT"/>
              </a:rPr>
              <a:t>hours,</a:t>
            </a:r>
            <a:r>
              <a:rPr sz="1800" spc="-30" dirty="0">
                <a:solidFill>
                  <a:srgbClr val="595959"/>
                </a:solidFill>
                <a:latin typeface="Arial MT"/>
                <a:cs typeface="Arial MT"/>
              </a:rPr>
              <a:t> </a:t>
            </a:r>
            <a:r>
              <a:rPr sz="1800" dirty="0">
                <a:solidFill>
                  <a:srgbClr val="595959"/>
                </a:solidFill>
                <a:latin typeface="Arial MT"/>
                <a:cs typeface="Arial MT"/>
              </a:rPr>
              <a:t>attendance,</a:t>
            </a:r>
            <a:r>
              <a:rPr sz="1800" spc="-25" dirty="0">
                <a:solidFill>
                  <a:srgbClr val="595959"/>
                </a:solidFill>
                <a:latin typeface="Arial MT"/>
                <a:cs typeface="Arial MT"/>
              </a:rPr>
              <a:t> </a:t>
            </a:r>
            <a:r>
              <a:rPr sz="1800" dirty="0">
                <a:solidFill>
                  <a:srgbClr val="595959"/>
                </a:solidFill>
                <a:latin typeface="Arial MT"/>
                <a:cs typeface="Arial MT"/>
              </a:rPr>
              <a:t>and</a:t>
            </a:r>
            <a:r>
              <a:rPr sz="1800" spc="-25" dirty="0">
                <a:solidFill>
                  <a:srgbClr val="595959"/>
                </a:solidFill>
                <a:latin typeface="Arial MT"/>
                <a:cs typeface="Arial MT"/>
              </a:rPr>
              <a:t> </a:t>
            </a:r>
            <a:r>
              <a:rPr sz="1800" dirty="0">
                <a:solidFill>
                  <a:srgbClr val="595959"/>
                </a:solidFill>
                <a:latin typeface="Arial MT"/>
                <a:cs typeface="Arial MT"/>
              </a:rPr>
              <a:t>previous</a:t>
            </a:r>
            <a:r>
              <a:rPr sz="1800" spc="-25" dirty="0">
                <a:solidFill>
                  <a:srgbClr val="595959"/>
                </a:solidFill>
                <a:latin typeface="Arial MT"/>
                <a:cs typeface="Arial MT"/>
              </a:rPr>
              <a:t> </a:t>
            </a:r>
            <a:r>
              <a:rPr sz="1800" spc="-10" dirty="0">
                <a:solidFill>
                  <a:srgbClr val="595959"/>
                </a:solidFill>
                <a:latin typeface="Arial MT"/>
                <a:cs typeface="Arial MT"/>
              </a:rPr>
              <a:t>scores.</a:t>
            </a:r>
            <a:endParaRPr sz="1800">
              <a:latin typeface="Arial MT"/>
              <a:cs typeface="Arial MT"/>
            </a:endParaRPr>
          </a:p>
        </p:txBody>
      </p:sp>
      <p:pic>
        <p:nvPicPr>
          <p:cNvPr id="4" name="object 4"/>
          <p:cNvPicPr/>
          <p:nvPr/>
        </p:nvPicPr>
        <p:blipFill>
          <a:blip r:embed="rId2" cstate="print"/>
          <a:stretch>
            <a:fillRect/>
          </a:stretch>
        </p:blipFill>
        <p:spPr>
          <a:xfrm>
            <a:off x="1272762" y="2402725"/>
            <a:ext cx="6924674" cy="17335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1690" rIns="0" bIns="0" rtlCol="0">
            <a:spAutoFit/>
          </a:bodyPr>
          <a:lstStyle/>
          <a:p>
            <a:pPr marL="12700">
              <a:lnSpc>
                <a:spcPct val="100000"/>
              </a:lnSpc>
              <a:spcBef>
                <a:spcPts val="120"/>
              </a:spcBef>
            </a:pPr>
            <a:r>
              <a:rPr spc="-10" dirty="0"/>
              <a:t>Classification</a:t>
            </a:r>
          </a:p>
        </p:txBody>
      </p:sp>
      <p:sp>
        <p:nvSpPr>
          <p:cNvPr id="3" name="object 3"/>
          <p:cNvSpPr txBox="1"/>
          <p:nvPr/>
        </p:nvSpPr>
        <p:spPr>
          <a:xfrm>
            <a:off x="475249" y="1175208"/>
            <a:ext cx="1637030" cy="972185"/>
          </a:xfrm>
          <a:prstGeom prst="rect">
            <a:avLst/>
          </a:prstGeom>
        </p:spPr>
        <p:txBody>
          <a:bodyPr vert="horz" wrap="square" lIns="0" tIns="53340" rIns="0" bIns="0" rtlCol="0">
            <a:spAutoFit/>
          </a:bodyPr>
          <a:lstStyle/>
          <a:p>
            <a:pPr marL="379095" indent="-366395">
              <a:lnSpc>
                <a:spcPct val="100000"/>
              </a:lnSpc>
              <a:spcBef>
                <a:spcPts val="420"/>
              </a:spcBef>
              <a:buChar char="●"/>
              <a:tabLst>
                <a:tab pos="379095" algn="l"/>
              </a:tabLst>
            </a:pPr>
            <a:r>
              <a:rPr sz="1800" dirty="0">
                <a:solidFill>
                  <a:srgbClr val="595959"/>
                </a:solidFill>
                <a:latin typeface="Arial MT"/>
                <a:cs typeface="Arial MT"/>
              </a:rPr>
              <a:t>Binary-</a:t>
            </a:r>
            <a:r>
              <a:rPr sz="1800" spc="-10" dirty="0">
                <a:solidFill>
                  <a:srgbClr val="595959"/>
                </a:solidFill>
                <a:latin typeface="Arial MT"/>
                <a:cs typeface="Arial MT"/>
              </a:rPr>
              <a:t>class</a:t>
            </a:r>
            <a:endParaRPr sz="1800">
              <a:latin typeface="Arial MT"/>
              <a:cs typeface="Arial MT"/>
            </a:endParaRPr>
          </a:p>
          <a:p>
            <a:pPr marL="379095" indent="-366395">
              <a:lnSpc>
                <a:spcPct val="100000"/>
              </a:lnSpc>
              <a:spcBef>
                <a:spcPts val="325"/>
              </a:spcBef>
              <a:buChar char="●"/>
              <a:tabLst>
                <a:tab pos="379095" algn="l"/>
              </a:tabLst>
            </a:pPr>
            <a:r>
              <a:rPr sz="1800" dirty="0">
                <a:solidFill>
                  <a:srgbClr val="595959"/>
                </a:solidFill>
                <a:latin typeface="Arial MT"/>
                <a:cs typeface="Arial MT"/>
              </a:rPr>
              <a:t>Multi-</a:t>
            </a:r>
            <a:r>
              <a:rPr sz="1800" spc="-10" dirty="0">
                <a:solidFill>
                  <a:srgbClr val="595959"/>
                </a:solidFill>
                <a:latin typeface="Arial MT"/>
                <a:cs typeface="Arial MT"/>
              </a:rPr>
              <a:t>class</a:t>
            </a:r>
            <a:endParaRPr sz="1800">
              <a:latin typeface="Arial MT"/>
              <a:cs typeface="Arial MT"/>
            </a:endParaRPr>
          </a:p>
          <a:p>
            <a:pPr marL="379095" indent="-366395">
              <a:lnSpc>
                <a:spcPct val="100000"/>
              </a:lnSpc>
              <a:spcBef>
                <a:spcPts val="325"/>
              </a:spcBef>
              <a:buChar char="●"/>
              <a:tabLst>
                <a:tab pos="379095" algn="l"/>
              </a:tabLst>
            </a:pPr>
            <a:r>
              <a:rPr sz="1800" spc="-10" dirty="0">
                <a:solidFill>
                  <a:srgbClr val="595959"/>
                </a:solidFill>
                <a:latin typeface="Arial MT"/>
                <a:cs typeface="Arial MT"/>
              </a:rPr>
              <a:t>Multi-</a:t>
            </a:r>
            <a:r>
              <a:rPr sz="1800" spc="-20" dirty="0">
                <a:solidFill>
                  <a:srgbClr val="595959"/>
                </a:solidFill>
                <a:latin typeface="Arial MT"/>
                <a:cs typeface="Arial MT"/>
              </a:rPr>
              <a:t>label</a:t>
            </a:r>
            <a:endParaRPr sz="1800">
              <a:latin typeface="Arial MT"/>
              <a:cs typeface="Arial MT"/>
            </a:endParaRPr>
          </a:p>
        </p:txBody>
      </p:sp>
      <p:pic>
        <p:nvPicPr>
          <p:cNvPr id="4" name="object 4"/>
          <p:cNvPicPr/>
          <p:nvPr/>
        </p:nvPicPr>
        <p:blipFill>
          <a:blip r:embed="rId2" cstate="print"/>
          <a:stretch>
            <a:fillRect/>
          </a:stretch>
        </p:blipFill>
        <p:spPr>
          <a:xfrm>
            <a:off x="787887" y="2848662"/>
            <a:ext cx="3629024" cy="1704974"/>
          </a:xfrm>
          <a:prstGeom prst="rect">
            <a:avLst/>
          </a:prstGeom>
        </p:spPr>
      </p:pic>
      <p:pic>
        <p:nvPicPr>
          <p:cNvPr id="5" name="object 5"/>
          <p:cNvPicPr/>
          <p:nvPr/>
        </p:nvPicPr>
        <p:blipFill>
          <a:blip r:embed="rId3" cstate="print"/>
          <a:stretch>
            <a:fillRect/>
          </a:stretch>
        </p:blipFill>
        <p:spPr>
          <a:xfrm>
            <a:off x="5044750" y="2863899"/>
            <a:ext cx="3629025" cy="1704974"/>
          </a:xfrm>
          <a:prstGeom prst="rect">
            <a:avLst/>
          </a:prstGeom>
        </p:spPr>
      </p:pic>
      <p:pic>
        <p:nvPicPr>
          <p:cNvPr id="6" name="object 6"/>
          <p:cNvPicPr/>
          <p:nvPr/>
        </p:nvPicPr>
        <p:blipFill>
          <a:blip r:embed="rId4" cstate="print"/>
          <a:stretch>
            <a:fillRect/>
          </a:stretch>
        </p:blipFill>
        <p:spPr>
          <a:xfrm>
            <a:off x="3026425" y="1017724"/>
            <a:ext cx="3867149" cy="17335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1690" rIns="0" bIns="0" rtlCol="0">
            <a:spAutoFit/>
          </a:bodyPr>
          <a:lstStyle/>
          <a:p>
            <a:pPr marL="12700">
              <a:lnSpc>
                <a:spcPct val="100000"/>
              </a:lnSpc>
              <a:spcBef>
                <a:spcPts val="120"/>
              </a:spcBef>
            </a:pPr>
            <a:r>
              <a:rPr dirty="0"/>
              <a:t>Logistic </a:t>
            </a:r>
            <a:r>
              <a:rPr spc="-10" dirty="0"/>
              <a:t>Regression</a:t>
            </a:r>
          </a:p>
        </p:txBody>
      </p:sp>
      <p:sp>
        <p:nvSpPr>
          <p:cNvPr id="3" name="object 3"/>
          <p:cNvSpPr txBox="1"/>
          <p:nvPr/>
        </p:nvSpPr>
        <p:spPr>
          <a:xfrm>
            <a:off x="384725" y="1175208"/>
            <a:ext cx="8370570" cy="2854325"/>
          </a:xfrm>
          <a:prstGeom prst="rect">
            <a:avLst/>
          </a:prstGeom>
        </p:spPr>
        <p:txBody>
          <a:bodyPr vert="horz" wrap="square" lIns="0" tIns="12700" rIns="0" bIns="0" rtlCol="0">
            <a:spAutoFit/>
          </a:bodyPr>
          <a:lstStyle/>
          <a:p>
            <a:pPr marL="12700" marR="5080" algn="just">
              <a:lnSpc>
                <a:spcPct val="114999"/>
              </a:lnSpc>
              <a:spcBef>
                <a:spcPts val="100"/>
              </a:spcBef>
            </a:pPr>
            <a:r>
              <a:rPr sz="1800" dirty="0">
                <a:solidFill>
                  <a:srgbClr val="595959"/>
                </a:solidFill>
                <a:latin typeface="Arial MT"/>
                <a:cs typeface="Arial MT"/>
              </a:rPr>
              <a:t>Logistic</a:t>
            </a:r>
            <a:r>
              <a:rPr sz="1800" spc="240" dirty="0">
                <a:solidFill>
                  <a:srgbClr val="595959"/>
                </a:solidFill>
                <a:latin typeface="Arial MT"/>
                <a:cs typeface="Arial MT"/>
              </a:rPr>
              <a:t>  </a:t>
            </a:r>
            <a:r>
              <a:rPr sz="1800" dirty="0">
                <a:solidFill>
                  <a:srgbClr val="595959"/>
                </a:solidFill>
                <a:latin typeface="Arial MT"/>
                <a:cs typeface="Arial MT"/>
              </a:rPr>
              <a:t>regression</a:t>
            </a:r>
            <a:r>
              <a:rPr sz="1800" spc="245" dirty="0">
                <a:solidFill>
                  <a:srgbClr val="595959"/>
                </a:solidFill>
                <a:latin typeface="Arial MT"/>
                <a:cs typeface="Arial MT"/>
              </a:rPr>
              <a:t>  </a:t>
            </a:r>
            <a:r>
              <a:rPr sz="1800" dirty="0">
                <a:solidFill>
                  <a:srgbClr val="595959"/>
                </a:solidFill>
                <a:latin typeface="Arial MT"/>
                <a:cs typeface="Arial MT"/>
              </a:rPr>
              <a:t>is</a:t>
            </a:r>
            <a:r>
              <a:rPr sz="1800" spc="240" dirty="0">
                <a:solidFill>
                  <a:srgbClr val="595959"/>
                </a:solidFill>
                <a:latin typeface="Arial MT"/>
                <a:cs typeface="Arial MT"/>
              </a:rPr>
              <a:t>  </a:t>
            </a:r>
            <a:r>
              <a:rPr sz="1800" dirty="0">
                <a:solidFill>
                  <a:srgbClr val="595959"/>
                </a:solidFill>
                <a:latin typeface="Arial MT"/>
                <a:cs typeface="Arial MT"/>
              </a:rPr>
              <a:t>a</a:t>
            </a:r>
            <a:r>
              <a:rPr sz="1800" spc="245" dirty="0">
                <a:solidFill>
                  <a:srgbClr val="595959"/>
                </a:solidFill>
                <a:latin typeface="Arial MT"/>
                <a:cs typeface="Arial MT"/>
              </a:rPr>
              <a:t>  </a:t>
            </a:r>
            <a:r>
              <a:rPr sz="1800" dirty="0">
                <a:solidFill>
                  <a:srgbClr val="595959"/>
                </a:solidFill>
                <a:latin typeface="Arial MT"/>
                <a:cs typeface="Arial MT"/>
              </a:rPr>
              <a:t>supervised</a:t>
            </a:r>
            <a:r>
              <a:rPr sz="1800" spc="245" dirty="0">
                <a:solidFill>
                  <a:srgbClr val="595959"/>
                </a:solidFill>
                <a:latin typeface="Arial MT"/>
                <a:cs typeface="Arial MT"/>
              </a:rPr>
              <a:t>  </a:t>
            </a:r>
            <a:r>
              <a:rPr sz="1800" dirty="0">
                <a:solidFill>
                  <a:srgbClr val="595959"/>
                </a:solidFill>
                <a:latin typeface="Arial MT"/>
                <a:cs typeface="Arial MT"/>
              </a:rPr>
              <a:t>machine</a:t>
            </a:r>
            <a:r>
              <a:rPr sz="1800" spc="240" dirty="0">
                <a:solidFill>
                  <a:srgbClr val="595959"/>
                </a:solidFill>
                <a:latin typeface="Arial MT"/>
                <a:cs typeface="Arial MT"/>
              </a:rPr>
              <a:t>  </a:t>
            </a:r>
            <a:r>
              <a:rPr sz="1800" dirty="0">
                <a:solidFill>
                  <a:srgbClr val="595959"/>
                </a:solidFill>
                <a:latin typeface="Arial MT"/>
                <a:cs typeface="Arial MT"/>
              </a:rPr>
              <a:t>learning</a:t>
            </a:r>
            <a:r>
              <a:rPr sz="1800" spc="245" dirty="0">
                <a:solidFill>
                  <a:srgbClr val="595959"/>
                </a:solidFill>
                <a:latin typeface="Arial MT"/>
                <a:cs typeface="Arial MT"/>
              </a:rPr>
              <a:t>  </a:t>
            </a:r>
            <a:r>
              <a:rPr sz="1800" dirty="0">
                <a:solidFill>
                  <a:srgbClr val="595959"/>
                </a:solidFill>
                <a:latin typeface="Arial MT"/>
                <a:cs typeface="Arial MT"/>
              </a:rPr>
              <a:t>algorithm</a:t>
            </a:r>
            <a:r>
              <a:rPr sz="1800" spc="240" dirty="0">
                <a:solidFill>
                  <a:srgbClr val="595959"/>
                </a:solidFill>
                <a:latin typeface="Arial MT"/>
                <a:cs typeface="Arial MT"/>
              </a:rPr>
              <a:t>  </a:t>
            </a:r>
            <a:r>
              <a:rPr sz="1800" dirty="0">
                <a:solidFill>
                  <a:srgbClr val="595959"/>
                </a:solidFill>
                <a:latin typeface="Arial MT"/>
                <a:cs typeface="Arial MT"/>
              </a:rPr>
              <a:t>used</a:t>
            </a:r>
            <a:r>
              <a:rPr sz="1800" spc="245" dirty="0">
                <a:solidFill>
                  <a:srgbClr val="595959"/>
                </a:solidFill>
                <a:latin typeface="Arial MT"/>
                <a:cs typeface="Arial MT"/>
              </a:rPr>
              <a:t>  </a:t>
            </a:r>
            <a:r>
              <a:rPr sz="1800" spc="-25" dirty="0">
                <a:solidFill>
                  <a:srgbClr val="595959"/>
                </a:solidFill>
                <a:latin typeface="Arial MT"/>
                <a:cs typeface="Arial MT"/>
              </a:rPr>
              <a:t>for </a:t>
            </a:r>
            <a:r>
              <a:rPr sz="1800" dirty="0">
                <a:solidFill>
                  <a:srgbClr val="595959"/>
                </a:solidFill>
                <a:latin typeface="Arial MT"/>
                <a:cs typeface="Arial MT"/>
              </a:rPr>
              <a:t>classification</a:t>
            </a:r>
            <a:r>
              <a:rPr sz="1800" spc="305" dirty="0">
                <a:solidFill>
                  <a:srgbClr val="595959"/>
                </a:solidFill>
                <a:latin typeface="Arial MT"/>
                <a:cs typeface="Arial MT"/>
              </a:rPr>
              <a:t> </a:t>
            </a:r>
            <a:r>
              <a:rPr sz="1800" dirty="0">
                <a:solidFill>
                  <a:srgbClr val="595959"/>
                </a:solidFill>
                <a:latin typeface="Arial MT"/>
                <a:cs typeface="Arial MT"/>
              </a:rPr>
              <a:t>tasks</a:t>
            </a:r>
            <a:r>
              <a:rPr sz="1800" spc="305" dirty="0">
                <a:solidFill>
                  <a:srgbClr val="595959"/>
                </a:solidFill>
                <a:latin typeface="Arial MT"/>
                <a:cs typeface="Arial MT"/>
              </a:rPr>
              <a:t> </a:t>
            </a:r>
            <a:r>
              <a:rPr sz="1800" dirty="0">
                <a:solidFill>
                  <a:srgbClr val="595959"/>
                </a:solidFill>
                <a:latin typeface="Arial MT"/>
                <a:cs typeface="Arial MT"/>
              </a:rPr>
              <a:t>where</a:t>
            </a:r>
            <a:r>
              <a:rPr sz="1800" spc="305" dirty="0">
                <a:solidFill>
                  <a:srgbClr val="595959"/>
                </a:solidFill>
                <a:latin typeface="Arial MT"/>
                <a:cs typeface="Arial MT"/>
              </a:rPr>
              <a:t> </a:t>
            </a:r>
            <a:r>
              <a:rPr sz="1800" dirty="0">
                <a:solidFill>
                  <a:srgbClr val="595959"/>
                </a:solidFill>
                <a:latin typeface="Arial MT"/>
                <a:cs typeface="Arial MT"/>
              </a:rPr>
              <a:t>the</a:t>
            </a:r>
            <a:r>
              <a:rPr sz="1800" spc="305" dirty="0">
                <a:solidFill>
                  <a:srgbClr val="595959"/>
                </a:solidFill>
                <a:latin typeface="Arial MT"/>
                <a:cs typeface="Arial MT"/>
              </a:rPr>
              <a:t> </a:t>
            </a:r>
            <a:r>
              <a:rPr sz="1800" dirty="0">
                <a:solidFill>
                  <a:srgbClr val="595959"/>
                </a:solidFill>
                <a:latin typeface="Arial MT"/>
                <a:cs typeface="Arial MT"/>
              </a:rPr>
              <a:t>goal</a:t>
            </a:r>
            <a:r>
              <a:rPr sz="1800" spc="305" dirty="0">
                <a:solidFill>
                  <a:srgbClr val="595959"/>
                </a:solidFill>
                <a:latin typeface="Arial MT"/>
                <a:cs typeface="Arial MT"/>
              </a:rPr>
              <a:t> </a:t>
            </a:r>
            <a:r>
              <a:rPr sz="1800" dirty="0">
                <a:solidFill>
                  <a:srgbClr val="595959"/>
                </a:solidFill>
                <a:latin typeface="Arial MT"/>
                <a:cs typeface="Arial MT"/>
              </a:rPr>
              <a:t>is</a:t>
            </a:r>
            <a:r>
              <a:rPr sz="1800" spc="305" dirty="0">
                <a:solidFill>
                  <a:srgbClr val="595959"/>
                </a:solidFill>
                <a:latin typeface="Arial MT"/>
                <a:cs typeface="Arial MT"/>
              </a:rPr>
              <a:t> </a:t>
            </a:r>
            <a:r>
              <a:rPr sz="1800" dirty="0">
                <a:solidFill>
                  <a:srgbClr val="595959"/>
                </a:solidFill>
                <a:latin typeface="Arial MT"/>
                <a:cs typeface="Arial MT"/>
              </a:rPr>
              <a:t>to</a:t>
            </a:r>
            <a:r>
              <a:rPr sz="1800" spc="305" dirty="0">
                <a:solidFill>
                  <a:srgbClr val="595959"/>
                </a:solidFill>
                <a:latin typeface="Arial MT"/>
                <a:cs typeface="Arial MT"/>
              </a:rPr>
              <a:t> </a:t>
            </a:r>
            <a:r>
              <a:rPr sz="1800" dirty="0">
                <a:solidFill>
                  <a:srgbClr val="595959"/>
                </a:solidFill>
                <a:latin typeface="Arial MT"/>
                <a:cs typeface="Arial MT"/>
              </a:rPr>
              <a:t>predict</a:t>
            </a:r>
            <a:r>
              <a:rPr sz="1800" spc="305" dirty="0">
                <a:solidFill>
                  <a:srgbClr val="595959"/>
                </a:solidFill>
                <a:latin typeface="Arial MT"/>
                <a:cs typeface="Arial MT"/>
              </a:rPr>
              <a:t> </a:t>
            </a:r>
            <a:r>
              <a:rPr sz="1800" dirty="0">
                <a:solidFill>
                  <a:srgbClr val="595959"/>
                </a:solidFill>
                <a:latin typeface="Arial MT"/>
                <a:cs typeface="Arial MT"/>
              </a:rPr>
              <a:t>the</a:t>
            </a:r>
            <a:r>
              <a:rPr sz="1800" spc="305" dirty="0">
                <a:solidFill>
                  <a:srgbClr val="595959"/>
                </a:solidFill>
                <a:latin typeface="Arial MT"/>
                <a:cs typeface="Arial MT"/>
              </a:rPr>
              <a:t> </a:t>
            </a:r>
            <a:r>
              <a:rPr sz="1800" dirty="0">
                <a:solidFill>
                  <a:srgbClr val="595959"/>
                </a:solidFill>
                <a:latin typeface="Arial MT"/>
                <a:cs typeface="Arial MT"/>
              </a:rPr>
              <a:t>probability</a:t>
            </a:r>
            <a:r>
              <a:rPr sz="1800" spc="305" dirty="0">
                <a:solidFill>
                  <a:srgbClr val="595959"/>
                </a:solidFill>
                <a:latin typeface="Arial MT"/>
                <a:cs typeface="Arial MT"/>
              </a:rPr>
              <a:t> </a:t>
            </a:r>
            <a:r>
              <a:rPr sz="1800" dirty="0">
                <a:solidFill>
                  <a:srgbClr val="595959"/>
                </a:solidFill>
                <a:latin typeface="Arial MT"/>
                <a:cs typeface="Arial MT"/>
              </a:rPr>
              <a:t>that</a:t>
            </a:r>
            <a:r>
              <a:rPr sz="1800" spc="305" dirty="0">
                <a:solidFill>
                  <a:srgbClr val="595959"/>
                </a:solidFill>
                <a:latin typeface="Arial MT"/>
                <a:cs typeface="Arial MT"/>
              </a:rPr>
              <a:t> </a:t>
            </a:r>
            <a:r>
              <a:rPr sz="1800" dirty="0">
                <a:solidFill>
                  <a:srgbClr val="595959"/>
                </a:solidFill>
                <a:latin typeface="Arial MT"/>
                <a:cs typeface="Arial MT"/>
              </a:rPr>
              <a:t>an</a:t>
            </a:r>
            <a:r>
              <a:rPr sz="1800" spc="310" dirty="0">
                <a:solidFill>
                  <a:srgbClr val="595959"/>
                </a:solidFill>
                <a:latin typeface="Arial MT"/>
                <a:cs typeface="Arial MT"/>
              </a:rPr>
              <a:t> </a:t>
            </a:r>
            <a:r>
              <a:rPr sz="1800" spc="-10" dirty="0">
                <a:solidFill>
                  <a:srgbClr val="595959"/>
                </a:solidFill>
                <a:latin typeface="Arial MT"/>
                <a:cs typeface="Arial MT"/>
              </a:rPr>
              <a:t>instance </a:t>
            </a:r>
            <a:r>
              <a:rPr sz="1800" dirty="0">
                <a:solidFill>
                  <a:srgbClr val="595959"/>
                </a:solidFill>
                <a:latin typeface="Arial MT"/>
                <a:cs typeface="Arial MT"/>
              </a:rPr>
              <a:t>belongs</a:t>
            </a:r>
            <a:r>
              <a:rPr sz="1800" spc="75" dirty="0">
                <a:solidFill>
                  <a:srgbClr val="595959"/>
                </a:solidFill>
                <a:latin typeface="Arial MT"/>
                <a:cs typeface="Arial MT"/>
              </a:rPr>
              <a:t> </a:t>
            </a:r>
            <a:r>
              <a:rPr sz="1800" dirty="0">
                <a:solidFill>
                  <a:srgbClr val="595959"/>
                </a:solidFill>
                <a:latin typeface="Arial MT"/>
                <a:cs typeface="Arial MT"/>
              </a:rPr>
              <a:t>to</a:t>
            </a:r>
            <a:r>
              <a:rPr sz="1800" spc="80" dirty="0">
                <a:solidFill>
                  <a:srgbClr val="595959"/>
                </a:solidFill>
                <a:latin typeface="Arial MT"/>
                <a:cs typeface="Arial MT"/>
              </a:rPr>
              <a:t> </a:t>
            </a:r>
            <a:r>
              <a:rPr sz="1800" dirty="0">
                <a:solidFill>
                  <a:srgbClr val="595959"/>
                </a:solidFill>
                <a:latin typeface="Arial MT"/>
                <a:cs typeface="Arial MT"/>
              </a:rPr>
              <a:t>a</a:t>
            </a:r>
            <a:r>
              <a:rPr sz="1800" spc="80" dirty="0">
                <a:solidFill>
                  <a:srgbClr val="595959"/>
                </a:solidFill>
                <a:latin typeface="Arial MT"/>
                <a:cs typeface="Arial MT"/>
              </a:rPr>
              <a:t> </a:t>
            </a:r>
            <a:r>
              <a:rPr sz="1800" dirty="0">
                <a:solidFill>
                  <a:srgbClr val="595959"/>
                </a:solidFill>
                <a:latin typeface="Arial MT"/>
                <a:cs typeface="Arial MT"/>
              </a:rPr>
              <a:t>given</a:t>
            </a:r>
            <a:r>
              <a:rPr sz="1800" spc="80" dirty="0">
                <a:solidFill>
                  <a:srgbClr val="595959"/>
                </a:solidFill>
                <a:latin typeface="Arial MT"/>
                <a:cs typeface="Arial MT"/>
              </a:rPr>
              <a:t> </a:t>
            </a:r>
            <a:r>
              <a:rPr sz="1800" dirty="0">
                <a:solidFill>
                  <a:srgbClr val="595959"/>
                </a:solidFill>
                <a:latin typeface="Arial MT"/>
                <a:cs typeface="Arial MT"/>
              </a:rPr>
              <a:t>class</a:t>
            </a:r>
            <a:r>
              <a:rPr sz="1800" spc="80" dirty="0">
                <a:solidFill>
                  <a:srgbClr val="595959"/>
                </a:solidFill>
                <a:latin typeface="Arial MT"/>
                <a:cs typeface="Arial MT"/>
              </a:rPr>
              <a:t> </a:t>
            </a:r>
            <a:r>
              <a:rPr sz="1800" dirty="0">
                <a:solidFill>
                  <a:srgbClr val="595959"/>
                </a:solidFill>
                <a:latin typeface="Arial MT"/>
                <a:cs typeface="Arial MT"/>
              </a:rPr>
              <a:t>or</a:t>
            </a:r>
            <a:r>
              <a:rPr sz="1800" spc="80" dirty="0">
                <a:solidFill>
                  <a:srgbClr val="595959"/>
                </a:solidFill>
                <a:latin typeface="Arial MT"/>
                <a:cs typeface="Arial MT"/>
              </a:rPr>
              <a:t> </a:t>
            </a:r>
            <a:r>
              <a:rPr sz="1800" dirty="0">
                <a:solidFill>
                  <a:srgbClr val="595959"/>
                </a:solidFill>
                <a:latin typeface="Arial MT"/>
                <a:cs typeface="Arial MT"/>
              </a:rPr>
              <a:t>not.</a:t>
            </a:r>
            <a:r>
              <a:rPr sz="1800" spc="75" dirty="0">
                <a:solidFill>
                  <a:srgbClr val="595959"/>
                </a:solidFill>
                <a:latin typeface="Arial MT"/>
                <a:cs typeface="Arial MT"/>
              </a:rPr>
              <a:t> </a:t>
            </a:r>
            <a:r>
              <a:rPr sz="1800" dirty="0">
                <a:solidFill>
                  <a:srgbClr val="595959"/>
                </a:solidFill>
                <a:latin typeface="Arial MT"/>
                <a:cs typeface="Arial MT"/>
              </a:rPr>
              <a:t>Logistic</a:t>
            </a:r>
            <a:r>
              <a:rPr sz="1800" spc="80" dirty="0">
                <a:solidFill>
                  <a:srgbClr val="595959"/>
                </a:solidFill>
                <a:latin typeface="Arial MT"/>
                <a:cs typeface="Arial MT"/>
              </a:rPr>
              <a:t> </a:t>
            </a:r>
            <a:r>
              <a:rPr sz="1800" dirty="0">
                <a:solidFill>
                  <a:srgbClr val="595959"/>
                </a:solidFill>
                <a:latin typeface="Arial MT"/>
                <a:cs typeface="Arial MT"/>
              </a:rPr>
              <a:t>regression</a:t>
            </a:r>
            <a:r>
              <a:rPr sz="1800" spc="80" dirty="0">
                <a:solidFill>
                  <a:srgbClr val="595959"/>
                </a:solidFill>
                <a:latin typeface="Arial MT"/>
                <a:cs typeface="Arial MT"/>
              </a:rPr>
              <a:t> </a:t>
            </a:r>
            <a:r>
              <a:rPr sz="1800" dirty="0">
                <a:solidFill>
                  <a:srgbClr val="595959"/>
                </a:solidFill>
                <a:latin typeface="Arial MT"/>
                <a:cs typeface="Arial MT"/>
              </a:rPr>
              <a:t>is</a:t>
            </a:r>
            <a:r>
              <a:rPr sz="1800" spc="80" dirty="0">
                <a:solidFill>
                  <a:srgbClr val="595959"/>
                </a:solidFill>
                <a:latin typeface="Arial MT"/>
                <a:cs typeface="Arial MT"/>
              </a:rPr>
              <a:t> </a:t>
            </a:r>
            <a:r>
              <a:rPr sz="1800" dirty="0">
                <a:solidFill>
                  <a:srgbClr val="595959"/>
                </a:solidFill>
                <a:latin typeface="Arial MT"/>
                <a:cs typeface="Arial MT"/>
              </a:rPr>
              <a:t>a</a:t>
            </a:r>
            <a:r>
              <a:rPr sz="1800" spc="80" dirty="0">
                <a:solidFill>
                  <a:srgbClr val="595959"/>
                </a:solidFill>
                <a:latin typeface="Arial MT"/>
                <a:cs typeface="Arial MT"/>
              </a:rPr>
              <a:t> </a:t>
            </a:r>
            <a:r>
              <a:rPr sz="1800" dirty="0">
                <a:solidFill>
                  <a:srgbClr val="595959"/>
                </a:solidFill>
                <a:latin typeface="Arial MT"/>
                <a:cs typeface="Arial MT"/>
              </a:rPr>
              <a:t>statistical</a:t>
            </a:r>
            <a:r>
              <a:rPr sz="1800" spc="80" dirty="0">
                <a:solidFill>
                  <a:srgbClr val="595959"/>
                </a:solidFill>
                <a:latin typeface="Arial MT"/>
                <a:cs typeface="Arial MT"/>
              </a:rPr>
              <a:t> </a:t>
            </a:r>
            <a:r>
              <a:rPr sz="1800" dirty="0">
                <a:solidFill>
                  <a:srgbClr val="595959"/>
                </a:solidFill>
                <a:latin typeface="Arial MT"/>
                <a:cs typeface="Arial MT"/>
              </a:rPr>
              <a:t>algorithm</a:t>
            </a:r>
            <a:r>
              <a:rPr sz="1800" spc="80" dirty="0">
                <a:solidFill>
                  <a:srgbClr val="595959"/>
                </a:solidFill>
                <a:latin typeface="Arial MT"/>
                <a:cs typeface="Arial MT"/>
              </a:rPr>
              <a:t> </a:t>
            </a:r>
            <a:r>
              <a:rPr sz="1800" spc="-10" dirty="0">
                <a:solidFill>
                  <a:srgbClr val="595959"/>
                </a:solidFill>
                <a:latin typeface="Arial MT"/>
                <a:cs typeface="Arial MT"/>
              </a:rPr>
              <a:t>which </a:t>
            </a:r>
            <a:r>
              <a:rPr sz="1800" dirty="0">
                <a:solidFill>
                  <a:srgbClr val="595959"/>
                </a:solidFill>
                <a:latin typeface="Arial MT"/>
                <a:cs typeface="Arial MT"/>
              </a:rPr>
              <a:t>analyze</a:t>
            </a:r>
            <a:r>
              <a:rPr sz="1800" spc="-30" dirty="0">
                <a:solidFill>
                  <a:srgbClr val="595959"/>
                </a:solidFill>
                <a:latin typeface="Arial MT"/>
                <a:cs typeface="Arial MT"/>
              </a:rPr>
              <a:t> </a:t>
            </a:r>
            <a:r>
              <a:rPr sz="1800" dirty="0">
                <a:solidFill>
                  <a:srgbClr val="595959"/>
                </a:solidFill>
                <a:latin typeface="Arial MT"/>
                <a:cs typeface="Arial MT"/>
              </a:rPr>
              <a:t>the</a:t>
            </a:r>
            <a:r>
              <a:rPr sz="1800" spc="-30" dirty="0">
                <a:solidFill>
                  <a:srgbClr val="595959"/>
                </a:solidFill>
                <a:latin typeface="Arial MT"/>
                <a:cs typeface="Arial MT"/>
              </a:rPr>
              <a:t> </a:t>
            </a:r>
            <a:r>
              <a:rPr sz="1800" dirty="0">
                <a:solidFill>
                  <a:srgbClr val="595959"/>
                </a:solidFill>
                <a:latin typeface="Arial MT"/>
                <a:cs typeface="Arial MT"/>
              </a:rPr>
              <a:t>relationship</a:t>
            </a:r>
            <a:r>
              <a:rPr sz="1800" spc="-30" dirty="0">
                <a:solidFill>
                  <a:srgbClr val="595959"/>
                </a:solidFill>
                <a:latin typeface="Arial MT"/>
                <a:cs typeface="Arial MT"/>
              </a:rPr>
              <a:t> </a:t>
            </a:r>
            <a:r>
              <a:rPr sz="1800" dirty="0">
                <a:solidFill>
                  <a:srgbClr val="595959"/>
                </a:solidFill>
                <a:latin typeface="Arial MT"/>
                <a:cs typeface="Arial MT"/>
              </a:rPr>
              <a:t>between</a:t>
            </a:r>
            <a:r>
              <a:rPr sz="1800" spc="-30" dirty="0">
                <a:solidFill>
                  <a:srgbClr val="595959"/>
                </a:solidFill>
                <a:latin typeface="Arial MT"/>
                <a:cs typeface="Arial MT"/>
              </a:rPr>
              <a:t> </a:t>
            </a:r>
            <a:r>
              <a:rPr sz="1800" dirty="0">
                <a:solidFill>
                  <a:srgbClr val="595959"/>
                </a:solidFill>
                <a:latin typeface="Arial MT"/>
                <a:cs typeface="Arial MT"/>
              </a:rPr>
              <a:t>two</a:t>
            </a:r>
            <a:r>
              <a:rPr sz="1800" spc="-30" dirty="0">
                <a:solidFill>
                  <a:srgbClr val="595959"/>
                </a:solidFill>
                <a:latin typeface="Arial MT"/>
                <a:cs typeface="Arial MT"/>
              </a:rPr>
              <a:t> </a:t>
            </a:r>
            <a:r>
              <a:rPr sz="1800" dirty="0">
                <a:solidFill>
                  <a:srgbClr val="595959"/>
                </a:solidFill>
                <a:latin typeface="Arial MT"/>
                <a:cs typeface="Arial MT"/>
              </a:rPr>
              <a:t>data</a:t>
            </a:r>
            <a:r>
              <a:rPr sz="1800" spc="-30" dirty="0">
                <a:solidFill>
                  <a:srgbClr val="595959"/>
                </a:solidFill>
                <a:latin typeface="Arial MT"/>
                <a:cs typeface="Arial MT"/>
              </a:rPr>
              <a:t> </a:t>
            </a:r>
            <a:r>
              <a:rPr sz="1800" spc="-10" dirty="0">
                <a:solidFill>
                  <a:srgbClr val="595959"/>
                </a:solidFill>
                <a:latin typeface="Arial MT"/>
                <a:cs typeface="Arial MT"/>
              </a:rPr>
              <a:t>factors.</a:t>
            </a:r>
            <a:endParaRPr sz="1800">
              <a:latin typeface="Arial MT"/>
              <a:cs typeface="Arial MT"/>
            </a:endParaRPr>
          </a:p>
          <a:p>
            <a:pPr>
              <a:lnSpc>
                <a:spcPct val="100000"/>
              </a:lnSpc>
            </a:pPr>
            <a:endParaRPr sz="1800">
              <a:latin typeface="Arial MT"/>
              <a:cs typeface="Arial MT"/>
            </a:endParaRPr>
          </a:p>
          <a:p>
            <a:pPr>
              <a:lnSpc>
                <a:spcPct val="100000"/>
              </a:lnSpc>
              <a:spcBef>
                <a:spcPts val="740"/>
              </a:spcBef>
            </a:pPr>
            <a:endParaRPr sz="1800">
              <a:latin typeface="Arial MT"/>
              <a:cs typeface="Arial MT"/>
            </a:endParaRPr>
          </a:p>
          <a:p>
            <a:pPr marL="12700" marR="7620" algn="just">
              <a:lnSpc>
                <a:spcPct val="114999"/>
              </a:lnSpc>
              <a:spcBef>
                <a:spcPts val="5"/>
              </a:spcBef>
            </a:pPr>
            <a:r>
              <a:rPr sz="1800" dirty="0">
                <a:solidFill>
                  <a:srgbClr val="595959"/>
                </a:solidFill>
                <a:latin typeface="Arial MT"/>
                <a:cs typeface="Arial MT"/>
              </a:rPr>
              <a:t>Logistic</a:t>
            </a:r>
            <a:r>
              <a:rPr sz="1800" spc="-5" dirty="0">
                <a:solidFill>
                  <a:srgbClr val="595959"/>
                </a:solidFill>
                <a:latin typeface="Arial MT"/>
                <a:cs typeface="Arial MT"/>
              </a:rPr>
              <a:t> </a:t>
            </a:r>
            <a:r>
              <a:rPr sz="1800" dirty="0">
                <a:solidFill>
                  <a:srgbClr val="595959"/>
                </a:solidFill>
                <a:latin typeface="Arial MT"/>
                <a:cs typeface="Arial MT"/>
              </a:rPr>
              <a:t>regression is</a:t>
            </a:r>
            <a:r>
              <a:rPr sz="1800" spc="-5" dirty="0">
                <a:solidFill>
                  <a:srgbClr val="595959"/>
                </a:solidFill>
                <a:latin typeface="Arial MT"/>
                <a:cs typeface="Arial MT"/>
              </a:rPr>
              <a:t> </a:t>
            </a:r>
            <a:r>
              <a:rPr sz="1800" dirty="0">
                <a:solidFill>
                  <a:srgbClr val="595959"/>
                </a:solidFill>
                <a:latin typeface="Arial MT"/>
                <a:cs typeface="Arial MT"/>
              </a:rPr>
              <a:t>used for</a:t>
            </a:r>
            <a:r>
              <a:rPr sz="1800" spc="-5" dirty="0">
                <a:solidFill>
                  <a:srgbClr val="595959"/>
                </a:solidFill>
                <a:latin typeface="Arial MT"/>
                <a:cs typeface="Arial MT"/>
              </a:rPr>
              <a:t> </a:t>
            </a:r>
            <a:r>
              <a:rPr sz="1800" dirty="0">
                <a:solidFill>
                  <a:srgbClr val="595959"/>
                </a:solidFill>
                <a:latin typeface="Arial MT"/>
                <a:cs typeface="Arial MT"/>
              </a:rPr>
              <a:t>binary classification</a:t>
            </a:r>
            <a:r>
              <a:rPr sz="1800" spc="-5" dirty="0">
                <a:solidFill>
                  <a:srgbClr val="595959"/>
                </a:solidFill>
                <a:latin typeface="Arial MT"/>
                <a:cs typeface="Arial MT"/>
              </a:rPr>
              <a:t> </a:t>
            </a:r>
            <a:r>
              <a:rPr sz="1800" dirty="0">
                <a:solidFill>
                  <a:srgbClr val="595959"/>
                </a:solidFill>
                <a:latin typeface="Arial MT"/>
                <a:cs typeface="Arial MT"/>
              </a:rPr>
              <a:t>where we</a:t>
            </a:r>
            <a:r>
              <a:rPr sz="1800" spc="-5" dirty="0">
                <a:solidFill>
                  <a:srgbClr val="595959"/>
                </a:solidFill>
                <a:latin typeface="Arial MT"/>
                <a:cs typeface="Arial MT"/>
              </a:rPr>
              <a:t> </a:t>
            </a:r>
            <a:r>
              <a:rPr sz="1800" dirty="0">
                <a:solidFill>
                  <a:srgbClr val="595959"/>
                </a:solidFill>
                <a:latin typeface="Arial MT"/>
                <a:cs typeface="Arial MT"/>
              </a:rPr>
              <a:t>use sigmoid </a:t>
            </a:r>
            <a:r>
              <a:rPr sz="1800" spc="-10" dirty="0">
                <a:solidFill>
                  <a:srgbClr val="595959"/>
                </a:solidFill>
                <a:latin typeface="Arial MT"/>
                <a:cs typeface="Arial MT"/>
              </a:rPr>
              <a:t>function, </a:t>
            </a:r>
            <a:r>
              <a:rPr sz="1800" dirty="0">
                <a:solidFill>
                  <a:srgbClr val="595959"/>
                </a:solidFill>
                <a:latin typeface="Arial MT"/>
                <a:cs typeface="Arial MT"/>
              </a:rPr>
              <a:t>that</a:t>
            </a:r>
            <a:r>
              <a:rPr sz="1800" spc="70" dirty="0">
                <a:solidFill>
                  <a:srgbClr val="595959"/>
                </a:solidFill>
                <a:latin typeface="Arial MT"/>
                <a:cs typeface="Arial MT"/>
              </a:rPr>
              <a:t>  </a:t>
            </a:r>
            <a:r>
              <a:rPr sz="1800" dirty="0">
                <a:solidFill>
                  <a:srgbClr val="595959"/>
                </a:solidFill>
                <a:latin typeface="Arial MT"/>
                <a:cs typeface="Arial MT"/>
              </a:rPr>
              <a:t>takes</a:t>
            </a:r>
            <a:r>
              <a:rPr sz="1800" spc="75" dirty="0">
                <a:solidFill>
                  <a:srgbClr val="595959"/>
                </a:solidFill>
                <a:latin typeface="Arial MT"/>
                <a:cs typeface="Arial MT"/>
              </a:rPr>
              <a:t>  </a:t>
            </a:r>
            <a:r>
              <a:rPr sz="1800" dirty="0">
                <a:solidFill>
                  <a:srgbClr val="595959"/>
                </a:solidFill>
                <a:latin typeface="Arial MT"/>
                <a:cs typeface="Arial MT"/>
              </a:rPr>
              <a:t>input</a:t>
            </a:r>
            <a:r>
              <a:rPr sz="1800" spc="70" dirty="0">
                <a:solidFill>
                  <a:srgbClr val="595959"/>
                </a:solidFill>
                <a:latin typeface="Arial MT"/>
                <a:cs typeface="Arial MT"/>
              </a:rPr>
              <a:t>  </a:t>
            </a:r>
            <a:r>
              <a:rPr sz="1800" dirty="0">
                <a:solidFill>
                  <a:srgbClr val="595959"/>
                </a:solidFill>
                <a:latin typeface="Arial MT"/>
                <a:cs typeface="Arial MT"/>
              </a:rPr>
              <a:t>as</a:t>
            </a:r>
            <a:r>
              <a:rPr sz="1800" spc="75" dirty="0">
                <a:solidFill>
                  <a:srgbClr val="595959"/>
                </a:solidFill>
                <a:latin typeface="Arial MT"/>
                <a:cs typeface="Arial MT"/>
              </a:rPr>
              <a:t>  </a:t>
            </a:r>
            <a:r>
              <a:rPr sz="1800" dirty="0">
                <a:solidFill>
                  <a:srgbClr val="595959"/>
                </a:solidFill>
                <a:latin typeface="Arial MT"/>
                <a:cs typeface="Arial MT"/>
              </a:rPr>
              <a:t>independent</a:t>
            </a:r>
            <a:r>
              <a:rPr sz="1800" spc="70" dirty="0">
                <a:solidFill>
                  <a:srgbClr val="595959"/>
                </a:solidFill>
                <a:latin typeface="Arial MT"/>
                <a:cs typeface="Arial MT"/>
              </a:rPr>
              <a:t>  </a:t>
            </a:r>
            <a:r>
              <a:rPr sz="1800" dirty="0">
                <a:solidFill>
                  <a:srgbClr val="595959"/>
                </a:solidFill>
                <a:latin typeface="Arial MT"/>
                <a:cs typeface="Arial MT"/>
              </a:rPr>
              <a:t>variables</a:t>
            </a:r>
            <a:r>
              <a:rPr sz="1800" spc="75" dirty="0">
                <a:solidFill>
                  <a:srgbClr val="595959"/>
                </a:solidFill>
                <a:latin typeface="Arial MT"/>
                <a:cs typeface="Arial MT"/>
              </a:rPr>
              <a:t>  </a:t>
            </a:r>
            <a:r>
              <a:rPr sz="1800" dirty="0">
                <a:solidFill>
                  <a:srgbClr val="595959"/>
                </a:solidFill>
                <a:latin typeface="Arial MT"/>
                <a:cs typeface="Arial MT"/>
              </a:rPr>
              <a:t>and</a:t>
            </a:r>
            <a:r>
              <a:rPr sz="1800" spc="70" dirty="0">
                <a:solidFill>
                  <a:srgbClr val="595959"/>
                </a:solidFill>
                <a:latin typeface="Arial MT"/>
                <a:cs typeface="Arial MT"/>
              </a:rPr>
              <a:t>  </a:t>
            </a:r>
            <a:r>
              <a:rPr sz="1800" dirty="0">
                <a:solidFill>
                  <a:srgbClr val="595959"/>
                </a:solidFill>
                <a:latin typeface="Arial MT"/>
                <a:cs typeface="Arial MT"/>
              </a:rPr>
              <a:t>produces</a:t>
            </a:r>
            <a:r>
              <a:rPr sz="1800" spc="75" dirty="0">
                <a:solidFill>
                  <a:srgbClr val="595959"/>
                </a:solidFill>
                <a:latin typeface="Arial MT"/>
                <a:cs typeface="Arial MT"/>
              </a:rPr>
              <a:t>  </a:t>
            </a:r>
            <a:r>
              <a:rPr sz="1800" dirty="0">
                <a:solidFill>
                  <a:srgbClr val="595959"/>
                </a:solidFill>
                <a:latin typeface="Arial MT"/>
                <a:cs typeface="Arial MT"/>
              </a:rPr>
              <a:t>a</a:t>
            </a:r>
            <a:r>
              <a:rPr sz="1800" spc="70" dirty="0">
                <a:solidFill>
                  <a:srgbClr val="595959"/>
                </a:solidFill>
                <a:latin typeface="Arial MT"/>
                <a:cs typeface="Arial MT"/>
              </a:rPr>
              <a:t>  </a:t>
            </a:r>
            <a:r>
              <a:rPr sz="1800" dirty="0">
                <a:solidFill>
                  <a:srgbClr val="595959"/>
                </a:solidFill>
                <a:latin typeface="Arial MT"/>
                <a:cs typeface="Arial MT"/>
              </a:rPr>
              <a:t>probability</a:t>
            </a:r>
            <a:r>
              <a:rPr sz="1800" spc="75" dirty="0">
                <a:solidFill>
                  <a:srgbClr val="595959"/>
                </a:solidFill>
                <a:latin typeface="Arial MT"/>
                <a:cs typeface="Arial MT"/>
              </a:rPr>
              <a:t>  </a:t>
            </a:r>
            <a:r>
              <a:rPr sz="1800" spc="-10" dirty="0">
                <a:solidFill>
                  <a:srgbClr val="595959"/>
                </a:solidFill>
                <a:latin typeface="Arial MT"/>
                <a:cs typeface="Arial MT"/>
              </a:rPr>
              <a:t>value </a:t>
            </a:r>
            <a:r>
              <a:rPr sz="1800" dirty="0">
                <a:solidFill>
                  <a:srgbClr val="595959"/>
                </a:solidFill>
                <a:latin typeface="Arial MT"/>
                <a:cs typeface="Arial MT"/>
              </a:rPr>
              <a:t>between</a:t>
            </a:r>
            <a:r>
              <a:rPr sz="1800" spc="-20" dirty="0">
                <a:solidFill>
                  <a:srgbClr val="595959"/>
                </a:solidFill>
                <a:latin typeface="Arial MT"/>
                <a:cs typeface="Arial MT"/>
              </a:rPr>
              <a:t> </a:t>
            </a:r>
            <a:r>
              <a:rPr sz="1800" dirty="0">
                <a:solidFill>
                  <a:srgbClr val="595959"/>
                </a:solidFill>
                <a:latin typeface="Arial MT"/>
                <a:cs typeface="Arial MT"/>
              </a:rPr>
              <a:t>0</a:t>
            </a:r>
            <a:r>
              <a:rPr sz="1800" spc="-20" dirty="0">
                <a:solidFill>
                  <a:srgbClr val="595959"/>
                </a:solidFill>
                <a:latin typeface="Arial MT"/>
                <a:cs typeface="Arial MT"/>
              </a:rPr>
              <a:t> </a:t>
            </a:r>
            <a:r>
              <a:rPr sz="1800" dirty="0">
                <a:solidFill>
                  <a:srgbClr val="595959"/>
                </a:solidFill>
                <a:latin typeface="Arial MT"/>
                <a:cs typeface="Arial MT"/>
              </a:rPr>
              <a:t>and</a:t>
            </a:r>
            <a:r>
              <a:rPr sz="1800" spc="-15" dirty="0">
                <a:solidFill>
                  <a:srgbClr val="595959"/>
                </a:solidFill>
                <a:latin typeface="Arial MT"/>
                <a:cs typeface="Arial MT"/>
              </a:rPr>
              <a:t> </a:t>
            </a:r>
            <a:r>
              <a:rPr sz="1800" spc="-35" dirty="0">
                <a:solidFill>
                  <a:srgbClr val="595959"/>
                </a:solidFill>
                <a:latin typeface="Arial MT"/>
                <a:cs typeface="Arial MT"/>
              </a:rPr>
              <a:t>1.</a:t>
            </a:r>
            <a:endParaRPr sz="18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1690" rIns="0" bIns="0" rtlCol="0">
            <a:spAutoFit/>
          </a:bodyPr>
          <a:lstStyle/>
          <a:p>
            <a:pPr marL="12700">
              <a:lnSpc>
                <a:spcPct val="100000"/>
              </a:lnSpc>
              <a:spcBef>
                <a:spcPts val="120"/>
              </a:spcBef>
            </a:pPr>
            <a:r>
              <a:rPr dirty="0"/>
              <a:t>Logistic</a:t>
            </a:r>
            <a:r>
              <a:rPr spc="30" dirty="0"/>
              <a:t> </a:t>
            </a:r>
            <a:r>
              <a:rPr spc="-10" dirty="0"/>
              <a:t>Regression</a:t>
            </a:r>
            <a:r>
              <a:rPr spc="-114" dirty="0"/>
              <a:t> </a:t>
            </a:r>
            <a:r>
              <a:rPr spc="-10" dirty="0"/>
              <a:t>Assumptions</a:t>
            </a:r>
          </a:p>
        </p:txBody>
      </p:sp>
      <p:sp>
        <p:nvSpPr>
          <p:cNvPr id="3" name="object 3"/>
          <p:cNvSpPr txBox="1"/>
          <p:nvPr/>
        </p:nvSpPr>
        <p:spPr>
          <a:xfrm>
            <a:off x="475249" y="1175208"/>
            <a:ext cx="8277225" cy="3180080"/>
          </a:xfrm>
          <a:prstGeom prst="rect">
            <a:avLst/>
          </a:prstGeom>
        </p:spPr>
        <p:txBody>
          <a:bodyPr vert="horz" wrap="square" lIns="0" tIns="12700" rIns="0" bIns="0" rtlCol="0">
            <a:spAutoFit/>
          </a:bodyPr>
          <a:lstStyle/>
          <a:p>
            <a:pPr marL="377825" marR="33655" indent="-365760" algn="just">
              <a:lnSpc>
                <a:spcPct val="114999"/>
              </a:lnSpc>
              <a:spcBef>
                <a:spcPts val="100"/>
              </a:spcBef>
              <a:buFont typeface="Arial MT"/>
              <a:buChar char="●"/>
              <a:tabLst>
                <a:tab pos="379095" algn="l"/>
              </a:tabLst>
            </a:pPr>
            <a:r>
              <a:rPr sz="1800" b="1" dirty="0">
                <a:solidFill>
                  <a:srgbClr val="595959"/>
                </a:solidFill>
                <a:latin typeface="Arial"/>
                <a:cs typeface="Arial"/>
              </a:rPr>
              <a:t>Independent</a:t>
            </a:r>
            <a:r>
              <a:rPr sz="1800" b="1" spc="260" dirty="0">
                <a:solidFill>
                  <a:srgbClr val="595959"/>
                </a:solidFill>
                <a:latin typeface="Arial"/>
                <a:cs typeface="Arial"/>
              </a:rPr>
              <a:t> </a:t>
            </a:r>
            <a:r>
              <a:rPr sz="1800" b="1" dirty="0">
                <a:solidFill>
                  <a:srgbClr val="595959"/>
                </a:solidFill>
                <a:latin typeface="Arial"/>
                <a:cs typeface="Arial"/>
              </a:rPr>
              <a:t>observations:</a:t>
            </a:r>
            <a:r>
              <a:rPr sz="1800" b="1" spc="270" dirty="0">
                <a:solidFill>
                  <a:srgbClr val="595959"/>
                </a:solidFill>
                <a:latin typeface="Arial"/>
                <a:cs typeface="Arial"/>
              </a:rPr>
              <a:t> </a:t>
            </a:r>
            <a:r>
              <a:rPr sz="1800" dirty="0">
                <a:solidFill>
                  <a:srgbClr val="595959"/>
                </a:solidFill>
                <a:latin typeface="Arial MT"/>
                <a:cs typeface="Arial MT"/>
              </a:rPr>
              <a:t>Each</a:t>
            </a:r>
            <a:r>
              <a:rPr sz="1800" spc="265" dirty="0">
                <a:solidFill>
                  <a:srgbClr val="595959"/>
                </a:solidFill>
                <a:latin typeface="Arial MT"/>
                <a:cs typeface="Arial MT"/>
              </a:rPr>
              <a:t> </a:t>
            </a:r>
            <a:r>
              <a:rPr sz="1800" dirty="0">
                <a:solidFill>
                  <a:srgbClr val="595959"/>
                </a:solidFill>
                <a:latin typeface="Arial MT"/>
                <a:cs typeface="Arial MT"/>
              </a:rPr>
              <a:t>observation</a:t>
            </a:r>
            <a:r>
              <a:rPr sz="1800" spc="260" dirty="0">
                <a:solidFill>
                  <a:srgbClr val="595959"/>
                </a:solidFill>
                <a:latin typeface="Arial MT"/>
                <a:cs typeface="Arial MT"/>
              </a:rPr>
              <a:t> </a:t>
            </a:r>
            <a:r>
              <a:rPr sz="1800" dirty="0">
                <a:solidFill>
                  <a:srgbClr val="595959"/>
                </a:solidFill>
                <a:latin typeface="Arial MT"/>
                <a:cs typeface="Arial MT"/>
              </a:rPr>
              <a:t>is</a:t>
            </a:r>
            <a:r>
              <a:rPr sz="1800" spc="265" dirty="0">
                <a:solidFill>
                  <a:srgbClr val="595959"/>
                </a:solidFill>
                <a:latin typeface="Arial MT"/>
                <a:cs typeface="Arial MT"/>
              </a:rPr>
              <a:t> </a:t>
            </a:r>
            <a:r>
              <a:rPr sz="1800" dirty="0">
                <a:solidFill>
                  <a:srgbClr val="595959"/>
                </a:solidFill>
                <a:latin typeface="Arial MT"/>
                <a:cs typeface="Arial MT"/>
              </a:rPr>
              <a:t>independent</a:t>
            </a:r>
            <a:r>
              <a:rPr sz="1800" spc="260" dirty="0">
                <a:solidFill>
                  <a:srgbClr val="595959"/>
                </a:solidFill>
                <a:latin typeface="Arial MT"/>
                <a:cs typeface="Arial MT"/>
              </a:rPr>
              <a:t> </a:t>
            </a:r>
            <a:r>
              <a:rPr sz="1800" dirty="0">
                <a:solidFill>
                  <a:srgbClr val="595959"/>
                </a:solidFill>
                <a:latin typeface="Arial MT"/>
                <a:cs typeface="Arial MT"/>
              </a:rPr>
              <a:t>of</a:t>
            </a:r>
            <a:r>
              <a:rPr sz="1800" spc="260" dirty="0">
                <a:solidFill>
                  <a:srgbClr val="595959"/>
                </a:solidFill>
                <a:latin typeface="Arial MT"/>
                <a:cs typeface="Arial MT"/>
              </a:rPr>
              <a:t> </a:t>
            </a:r>
            <a:r>
              <a:rPr sz="1800" dirty="0">
                <a:solidFill>
                  <a:srgbClr val="595959"/>
                </a:solidFill>
                <a:latin typeface="Arial MT"/>
                <a:cs typeface="Arial MT"/>
              </a:rPr>
              <a:t>the</a:t>
            </a:r>
            <a:r>
              <a:rPr sz="1800" spc="265" dirty="0">
                <a:solidFill>
                  <a:srgbClr val="595959"/>
                </a:solidFill>
                <a:latin typeface="Arial MT"/>
                <a:cs typeface="Arial MT"/>
              </a:rPr>
              <a:t> </a:t>
            </a:r>
            <a:r>
              <a:rPr sz="1800" spc="-10" dirty="0">
                <a:solidFill>
                  <a:srgbClr val="595959"/>
                </a:solidFill>
                <a:latin typeface="Arial MT"/>
                <a:cs typeface="Arial MT"/>
              </a:rPr>
              <a:t>other. 	</a:t>
            </a:r>
            <a:r>
              <a:rPr sz="1800" dirty="0">
                <a:solidFill>
                  <a:srgbClr val="595959"/>
                </a:solidFill>
                <a:latin typeface="Arial MT"/>
                <a:cs typeface="Arial MT"/>
              </a:rPr>
              <a:t>meaning</a:t>
            </a:r>
            <a:r>
              <a:rPr sz="1800" spc="-35" dirty="0">
                <a:solidFill>
                  <a:srgbClr val="595959"/>
                </a:solidFill>
                <a:latin typeface="Arial MT"/>
                <a:cs typeface="Arial MT"/>
              </a:rPr>
              <a:t> </a:t>
            </a:r>
            <a:r>
              <a:rPr sz="1800" dirty="0">
                <a:solidFill>
                  <a:srgbClr val="595959"/>
                </a:solidFill>
                <a:latin typeface="Arial MT"/>
                <a:cs typeface="Arial MT"/>
              </a:rPr>
              <a:t>there</a:t>
            </a:r>
            <a:r>
              <a:rPr sz="1800" spc="-25" dirty="0">
                <a:solidFill>
                  <a:srgbClr val="595959"/>
                </a:solidFill>
                <a:latin typeface="Arial MT"/>
                <a:cs typeface="Arial MT"/>
              </a:rPr>
              <a:t> </a:t>
            </a:r>
            <a:r>
              <a:rPr sz="1800" dirty="0">
                <a:solidFill>
                  <a:srgbClr val="595959"/>
                </a:solidFill>
                <a:latin typeface="Arial MT"/>
                <a:cs typeface="Arial MT"/>
              </a:rPr>
              <a:t>is</a:t>
            </a:r>
            <a:r>
              <a:rPr sz="1800" spc="-25" dirty="0">
                <a:solidFill>
                  <a:srgbClr val="595959"/>
                </a:solidFill>
                <a:latin typeface="Arial MT"/>
                <a:cs typeface="Arial MT"/>
              </a:rPr>
              <a:t> </a:t>
            </a:r>
            <a:r>
              <a:rPr sz="1800" dirty="0">
                <a:solidFill>
                  <a:srgbClr val="595959"/>
                </a:solidFill>
                <a:latin typeface="Arial MT"/>
                <a:cs typeface="Arial MT"/>
              </a:rPr>
              <a:t>no</a:t>
            </a:r>
            <a:r>
              <a:rPr sz="1800" spc="-25" dirty="0">
                <a:solidFill>
                  <a:srgbClr val="595959"/>
                </a:solidFill>
                <a:latin typeface="Arial MT"/>
                <a:cs typeface="Arial MT"/>
              </a:rPr>
              <a:t> </a:t>
            </a:r>
            <a:r>
              <a:rPr sz="1800" dirty="0">
                <a:solidFill>
                  <a:srgbClr val="595959"/>
                </a:solidFill>
                <a:latin typeface="Arial MT"/>
                <a:cs typeface="Arial MT"/>
              </a:rPr>
              <a:t>correlation</a:t>
            </a:r>
            <a:r>
              <a:rPr sz="1800" spc="-25" dirty="0">
                <a:solidFill>
                  <a:srgbClr val="595959"/>
                </a:solidFill>
                <a:latin typeface="Arial MT"/>
                <a:cs typeface="Arial MT"/>
              </a:rPr>
              <a:t> </a:t>
            </a:r>
            <a:r>
              <a:rPr sz="1800" dirty="0">
                <a:solidFill>
                  <a:srgbClr val="595959"/>
                </a:solidFill>
                <a:latin typeface="Arial MT"/>
                <a:cs typeface="Arial MT"/>
              </a:rPr>
              <a:t>between</a:t>
            </a:r>
            <a:r>
              <a:rPr sz="1800" spc="-25" dirty="0">
                <a:solidFill>
                  <a:srgbClr val="595959"/>
                </a:solidFill>
                <a:latin typeface="Arial MT"/>
                <a:cs typeface="Arial MT"/>
              </a:rPr>
              <a:t> </a:t>
            </a:r>
            <a:r>
              <a:rPr sz="1800" dirty="0">
                <a:solidFill>
                  <a:srgbClr val="595959"/>
                </a:solidFill>
                <a:latin typeface="Arial MT"/>
                <a:cs typeface="Arial MT"/>
              </a:rPr>
              <a:t>any</a:t>
            </a:r>
            <a:r>
              <a:rPr sz="1800" spc="-25" dirty="0">
                <a:solidFill>
                  <a:srgbClr val="595959"/>
                </a:solidFill>
                <a:latin typeface="Arial MT"/>
                <a:cs typeface="Arial MT"/>
              </a:rPr>
              <a:t> </a:t>
            </a:r>
            <a:r>
              <a:rPr sz="1800" dirty="0">
                <a:solidFill>
                  <a:srgbClr val="595959"/>
                </a:solidFill>
                <a:latin typeface="Arial MT"/>
                <a:cs typeface="Arial MT"/>
              </a:rPr>
              <a:t>input</a:t>
            </a:r>
            <a:r>
              <a:rPr sz="1800" spc="-20" dirty="0">
                <a:solidFill>
                  <a:srgbClr val="595959"/>
                </a:solidFill>
                <a:latin typeface="Arial MT"/>
                <a:cs typeface="Arial MT"/>
              </a:rPr>
              <a:t> </a:t>
            </a:r>
            <a:r>
              <a:rPr sz="1800" spc="-10" dirty="0">
                <a:solidFill>
                  <a:srgbClr val="595959"/>
                </a:solidFill>
                <a:latin typeface="Arial MT"/>
                <a:cs typeface="Arial MT"/>
              </a:rPr>
              <a:t>variables.</a:t>
            </a:r>
            <a:endParaRPr sz="1800">
              <a:latin typeface="Arial MT"/>
              <a:cs typeface="Arial MT"/>
            </a:endParaRPr>
          </a:p>
          <a:p>
            <a:pPr marL="377825" marR="6985" indent="-365760" algn="just">
              <a:lnSpc>
                <a:spcPct val="114999"/>
              </a:lnSpc>
              <a:buFont typeface="Arial MT"/>
              <a:buChar char="●"/>
              <a:tabLst>
                <a:tab pos="379095" algn="l"/>
              </a:tabLst>
            </a:pPr>
            <a:r>
              <a:rPr sz="1800" b="1" dirty="0">
                <a:solidFill>
                  <a:srgbClr val="595959"/>
                </a:solidFill>
                <a:latin typeface="Arial"/>
                <a:cs typeface="Arial"/>
              </a:rPr>
              <a:t>Binary</a:t>
            </a:r>
            <a:r>
              <a:rPr sz="1800" b="1" spc="340" dirty="0">
                <a:solidFill>
                  <a:srgbClr val="595959"/>
                </a:solidFill>
                <a:latin typeface="Arial"/>
                <a:cs typeface="Arial"/>
              </a:rPr>
              <a:t> </a:t>
            </a:r>
            <a:r>
              <a:rPr sz="1800" b="1" dirty="0">
                <a:solidFill>
                  <a:srgbClr val="595959"/>
                </a:solidFill>
                <a:latin typeface="Arial"/>
                <a:cs typeface="Arial"/>
              </a:rPr>
              <a:t>dependent</a:t>
            </a:r>
            <a:r>
              <a:rPr sz="1800" b="1" spc="355" dirty="0">
                <a:solidFill>
                  <a:srgbClr val="595959"/>
                </a:solidFill>
                <a:latin typeface="Arial"/>
                <a:cs typeface="Arial"/>
              </a:rPr>
              <a:t> </a:t>
            </a:r>
            <a:r>
              <a:rPr sz="1800" b="1" dirty="0">
                <a:solidFill>
                  <a:srgbClr val="595959"/>
                </a:solidFill>
                <a:latin typeface="Arial"/>
                <a:cs typeface="Arial"/>
              </a:rPr>
              <a:t>variables:</a:t>
            </a:r>
            <a:r>
              <a:rPr sz="1800" b="1" spc="355" dirty="0">
                <a:solidFill>
                  <a:srgbClr val="595959"/>
                </a:solidFill>
                <a:latin typeface="Arial"/>
                <a:cs typeface="Arial"/>
              </a:rPr>
              <a:t> </a:t>
            </a:r>
            <a:r>
              <a:rPr sz="1800" dirty="0">
                <a:solidFill>
                  <a:srgbClr val="595959"/>
                </a:solidFill>
                <a:latin typeface="Arial MT"/>
                <a:cs typeface="Arial MT"/>
              </a:rPr>
              <a:t>It</a:t>
            </a:r>
            <a:r>
              <a:rPr sz="1800" spc="355" dirty="0">
                <a:solidFill>
                  <a:srgbClr val="595959"/>
                </a:solidFill>
                <a:latin typeface="Arial MT"/>
                <a:cs typeface="Arial MT"/>
              </a:rPr>
              <a:t> </a:t>
            </a:r>
            <a:r>
              <a:rPr sz="1800" dirty="0">
                <a:solidFill>
                  <a:srgbClr val="595959"/>
                </a:solidFill>
                <a:latin typeface="Arial MT"/>
                <a:cs typeface="Arial MT"/>
              </a:rPr>
              <a:t>takes</a:t>
            </a:r>
            <a:r>
              <a:rPr sz="1800" spc="350" dirty="0">
                <a:solidFill>
                  <a:srgbClr val="595959"/>
                </a:solidFill>
                <a:latin typeface="Arial MT"/>
                <a:cs typeface="Arial MT"/>
              </a:rPr>
              <a:t> </a:t>
            </a:r>
            <a:r>
              <a:rPr sz="1800" dirty="0">
                <a:solidFill>
                  <a:srgbClr val="595959"/>
                </a:solidFill>
                <a:latin typeface="Arial MT"/>
                <a:cs typeface="Arial MT"/>
              </a:rPr>
              <a:t>the</a:t>
            </a:r>
            <a:r>
              <a:rPr sz="1800" spc="355" dirty="0">
                <a:solidFill>
                  <a:srgbClr val="595959"/>
                </a:solidFill>
                <a:latin typeface="Arial MT"/>
                <a:cs typeface="Arial MT"/>
              </a:rPr>
              <a:t> </a:t>
            </a:r>
            <a:r>
              <a:rPr sz="1800" dirty="0">
                <a:solidFill>
                  <a:srgbClr val="595959"/>
                </a:solidFill>
                <a:latin typeface="Arial MT"/>
                <a:cs typeface="Arial MT"/>
              </a:rPr>
              <a:t>assumption</a:t>
            </a:r>
            <a:r>
              <a:rPr sz="1800" spc="350" dirty="0">
                <a:solidFill>
                  <a:srgbClr val="595959"/>
                </a:solidFill>
                <a:latin typeface="Arial MT"/>
                <a:cs typeface="Arial MT"/>
              </a:rPr>
              <a:t> </a:t>
            </a:r>
            <a:r>
              <a:rPr sz="1800" dirty="0">
                <a:solidFill>
                  <a:srgbClr val="595959"/>
                </a:solidFill>
                <a:latin typeface="Arial MT"/>
                <a:cs typeface="Arial MT"/>
              </a:rPr>
              <a:t>that</a:t>
            </a:r>
            <a:r>
              <a:rPr sz="1800" spc="355" dirty="0">
                <a:solidFill>
                  <a:srgbClr val="595959"/>
                </a:solidFill>
                <a:latin typeface="Arial MT"/>
                <a:cs typeface="Arial MT"/>
              </a:rPr>
              <a:t> </a:t>
            </a:r>
            <a:r>
              <a:rPr sz="1800" dirty="0">
                <a:solidFill>
                  <a:srgbClr val="595959"/>
                </a:solidFill>
                <a:latin typeface="Arial MT"/>
                <a:cs typeface="Arial MT"/>
              </a:rPr>
              <a:t>the</a:t>
            </a:r>
            <a:r>
              <a:rPr sz="1800" spc="355" dirty="0">
                <a:solidFill>
                  <a:srgbClr val="595959"/>
                </a:solidFill>
                <a:latin typeface="Arial MT"/>
                <a:cs typeface="Arial MT"/>
              </a:rPr>
              <a:t> </a:t>
            </a:r>
            <a:r>
              <a:rPr sz="1800" spc="-10" dirty="0">
                <a:solidFill>
                  <a:srgbClr val="595959"/>
                </a:solidFill>
                <a:latin typeface="Arial MT"/>
                <a:cs typeface="Arial MT"/>
              </a:rPr>
              <a:t>dependent 	</a:t>
            </a:r>
            <a:r>
              <a:rPr sz="1800" dirty="0">
                <a:solidFill>
                  <a:srgbClr val="595959"/>
                </a:solidFill>
                <a:latin typeface="Arial MT"/>
                <a:cs typeface="Arial MT"/>
              </a:rPr>
              <a:t>variable</a:t>
            </a:r>
            <a:r>
              <a:rPr sz="1800" spc="45" dirty="0">
                <a:solidFill>
                  <a:srgbClr val="595959"/>
                </a:solidFill>
                <a:latin typeface="Arial MT"/>
                <a:cs typeface="Arial MT"/>
              </a:rPr>
              <a:t> </a:t>
            </a:r>
            <a:r>
              <a:rPr sz="1800" dirty="0">
                <a:solidFill>
                  <a:srgbClr val="595959"/>
                </a:solidFill>
                <a:latin typeface="Arial MT"/>
                <a:cs typeface="Arial MT"/>
              </a:rPr>
              <a:t>must</a:t>
            </a:r>
            <a:r>
              <a:rPr sz="1800" spc="45" dirty="0">
                <a:solidFill>
                  <a:srgbClr val="595959"/>
                </a:solidFill>
                <a:latin typeface="Arial MT"/>
                <a:cs typeface="Arial MT"/>
              </a:rPr>
              <a:t> </a:t>
            </a:r>
            <a:r>
              <a:rPr sz="1800" dirty="0">
                <a:solidFill>
                  <a:srgbClr val="595959"/>
                </a:solidFill>
                <a:latin typeface="Arial MT"/>
                <a:cs typeface="Arial MT"/>
              </a:rPr>
              <a:t>be</a:t>
            </a:r>
            <a:r>
              <a:rPr sz="1800" spc="45" dirty="0">
                <a:solidFill>
                  <a:srgbClr val="595959"/>
                </a:solidFill>
                <a:latin typeface="Arial MT"/>
                <a:cs typeface="Arial MT"/>
              </a:rPr>
              <a:t> </a:t>
            </a:r>
            <a:r>
              <a:rPr sz="1800" dirty="0">
                <a:solidFill>
                  <a:srgbClr val="595959"/>
                </a:solidFill>
                <a:latin typeface="Arial MT"/>
                <a:cs typeface="Arial MT"/>
              </a:rPr>
              <a:t>binary</a:t>
            </a:r>
            <a:r>
              <a:rPr sz="1800" spc="50" dirty="0">
                <a:solidFill>
                  <a:srgbClr val="595959"/>
                </a:solidFill>
                <a:latin typeface="Arial MT"/>
                <a:cs typeface="Arial MT"/>
              </a:rPr>
              <a:t> </a:t>
            </a:r>
            <a:r>
              <a:rPr sz="1800" dirty="0">
                <a:solidFill>
                  <a:srgbClr val="595959"/>
                </a:solidFill>
                <a:latin typeface="Arial MT"/>
                <a:cs typeface="Arial MT"/>
              </a:rPr>
              <a:t>or</a:t>
            </a:r>
            <a:r>
              <a:rPr sz="1800" spc="45" dirty="0">
                <a:solidFill>
                  <a:srgbClr val="595959"/>
                </a:solidFill>
                <a:latin typeface="Arial MT"/>
                <a:cs typeface="Arial MT"/>
              </a:rPr>
              <a:t> </a:t>
            </a:r>
            <a:r>
              <a:rPr sz="1800" dirty="0">
                <a:solidFill>
                  <a:srgbClr val="595959"/>
                </a:solidFill>
                <a:latin typeface="Arial MT"/>
                <a:cs typeface="Arial MT"/>
              </a:rPr>
              <a:t>dichotomous,</a:t>
            </a:r>
            <a:r>
              <a:rPr sz="1800" spc="45" dirty="0">
                <a:solidFill>
                  <a:srgbClr val="595959"/>
                </a:solidFill>
                <a:latin typeface="Arial MT"/>
                <a:cs typeface="Arial MT"/>
              </a:rPr>
              <a:t> </a:t>
            </a:r>
            <a:r>
              <a:rPr sz="1800" dirty="0">
                <a:solidFill>
                  <a:srgbClr val="595959"/>
                </a:solidFill>
                <a:latin typeface="Arial MT"/>
                <a:cs typeface="Arial MT"/>
              </a:rPr>
              <a:t>meaning</a:t>
            </a:r>
            <a:r>
              <a:rPr sz="1800" spc="50" dirty="0">
                <a:solidFill>
                  <a:srgbClr val="595959"/>
                </a:solidFill>
                <a:latin typeface="Arial MT"/>
                <a:cs typeface="Arial MT"/>
              </a:rPr>
              <a:t> </a:t>
            </a:r>
            <a:r>
              <a:rPr sz="1800" dirty="0">
                <a:solidFill>
                  <a:srgbClr val="595959"/>
                </a:solidFill>
                <a:latin typeface="Arial MT"/>
                <a:cs typeface="Arial MT"/>
              </a:rPr>
              <a:t>it</a:t>
            </a:r>
            <a:r>
              <a:rPr sz="1800" spc="45" dirty="0">
                <a:solidFill>
                  <a:srgbClr val="595959"/>
                </a:solidFill>
                <a:latin typeface="Arial MT"/>
                <a:cs typeface="Arial MT"/>
              </a:rPr>
              <a:t> </a:t>
            </a:r>
            <a:r>
              <a:rPr sz="1800" dirty="0">
                <a:solidFill>
                  <a:srgbClr val="595959"/>
                </a:solidFill>
                <a:latin typeface="Arial MT"/>
                <a:cs typeface="Arial MT"/>
              </a:rPr>
              <a:t>can</a:t>
            </a:r>
            <a:r>
              <a:rPr sz="1800" spc="45" dirty="0">
                <a:solidFill>
                  <a:srgbClr val="595959"/>
                </a:solidFill>
                <a:latin typeface="Arial MT"/>
                <a:cs typeface="Arial MT"/>
              </a:rPr>
              <a:t> </a:t>
            </a:r>
            <a:r>
              <a:rPr sz="1800" dirty="0">
                <a:solidFill>
                  <a:srgbClr val="595959"/>
                </a:solidFill>
                <a:latin typeface="Arial MT"/>
                <a:cs typeface="Arial MT"/>
              </a:rPr>
              <a:t>take</a:t>
            </a:r>
            <a:r>
              <a:rPr sz="1800" spc="45" dirty="0">
                <a:solidFill>
                  <a:srgbClr val="595959"/>
                </a:solidFill>
                <a:latin typeface="Arial MT"/>
                <a:cs typeface="Arial MT"/>
              </a:rPr>
              <a:t> </a:t>
            </a:r>
            <a:r>
              <a:rPr sz="1800" dirty="0">
                <a:solidFill>
                  <a:srgbClr val="595959"/>
                </a:solidFill>
                <a:latin typeface="Arial MT"/>
                <a:cs typeface="Arial MT"/>
              </a:rPr>
              <a:t>only</a:t>
            </a:r>
            <a:r>
              <a:rPr sz="1800" spc="50" dirty="0">
                <a:solidFill>
                  <a:srgbClr val="595959"/>
                </a:solidFill>
                <a:latin typeface="Arial MT"/>
                <a:cs typeface="Arial MT"/>
              </a:rPr>
              <a:t> </a:t>
            </a:r>
            <a:r>
              <a:rPr sz="1800" dirty="0">
                <a:solidFill>
                  <a:srgbClr val="595959"/>
                </a:solidFill>
                <a:latin typeface="Arial MT"/>
                <a:cs typeface="Arial MT"/>
              </a:rPr>
              <a:t>two</a:t>
            </a:r>
            <a:r>
              <a:rPr sz="1800" spc="45" dirty="0">
                <a:solidFill>
                  <a:srgbClr val="595959"/>
                </a:solidFill>
                <a:latin typeface="Arial MT"/>
                <a:cs typeface="Arial MT"/>
              </a:rPr>
              <a:t> </a:t>
            </a:r>
            <a:r>
              <a:rPr sz="1800" spc="-10" dirty="0">
                <a:solidFill>
                  <a:srgbClr val="595959"/>
                </a:solidFill>
                <a:latin typeface="Arial MT"/>
                <a:cs typeface="Arial MT"/>
              </a:rPr>
              <a:t>values. 	</a:t>
            </a:r>
            <a:r>
              <a:rPr sz="1800" dirty="0">
                <a:solidFill>
                  <a:srgbClr val="595959"/>
                </a:solidFill>
                <a:latin typeface="Arial MT"/>
                <a:cs typeface="Arial MT"/>
              </a:rPr>
              <a:t>For</a:t>
            </a:r>
            <a:r>
              <a:rPr sz="1800" spc="-15" dirty="0">
                <a:solidFill>
                  <a:srgbClr val="595959"/>
                </a:solidFill>
                <a:latin typeface="Arial MT"/>
                <a:cs typeface="Arial MT"/>
              </a:rPr>
              <a:t> </a:t>
            </a:r>
            <a:r>
              <a:rPr sz="1800" dirty="0">
                <a:solidFill>
                  <a:srgbClr val="595959"/>
                </a:solidFill>
                <a:latin typeface="Arial MT"/>
                <a:cs typeface="Arial MT"/>
              </a:rPr>
              <a:t>more</a:t>
            </a:r>
            <a:r>
              <a:rPr sz="1800" spc="-10" dirty="0">
                <a:solidFill>
                  <a:srgbClr val="595959"/>
                </a:solidFill>
                <a:latin typeface="Arial MT"/>
                <a:cs typeface="Arial MT"/>
              </a:rPr>
              <a:t> </a:t>
            </a:r>
            <a:r>
              <a:rPr sz="1800" dirty="0">
                <a:solidFill>
                  <a:srgbClr val="595959"/>
                </a:solidFill>
                <a:latin typeface="Arial MT"/>
                <a:cs typeface="Arial MT"/>
              </a:rPr>
              <a:t>than</a:t>
            </a:r>
            <a:r>
              <a:rPr sz="1800" spc="-10" dirty="0">
                <a:solidFill>
                  <a:srgbClr val="595959"/>
                </a:solidFill>
                <a:latin typeface="Arial MT"/>
                <a:cs typeface="Arial MT"/>
              </a:rPr>
              <a:t> </a:t>
            </a:r>
            <a:r>
              <a:rPr sz="1800" dirty="0">
                <a:solidFill>
                  <a:srgbClr val="595959"/>
                </a:solidFill>
                <a:latin typeface="Arial MT"/>
                <a:cs typeface="Arial MT"/>
              </a:rPr>
              <a:t>two</a:t>
            </a:r>
            <a:r>
              <a:rPr sz="1800" spc="-10" dirty="0">
                <a:solidFill>
                  <a:srgbClr val="595959"/>
                </a:solidFill>
                <a:latin typeface="Arial MT"/>
                <a:cs typeface="Arial MT"/>
              </a:rPr>
              <a:t> </a:t>
            </a:r>
            <a:r>
              <a:rPr sz="1800" dirty="0">
                <a:solidFill>
                  <a:srgbClr val="595959"/>
                </a:solidFill>
                <a:latin typeface="Arial MT"/>
                <a:cs typeface="Arial MT"/>
              </a:rPr>
              <a:t>categories</a:t>
            </a:r>
            <a:r>
              <a:rPr sz="1800" spc="-15" dirty="0">
                <a:solidFill>
                  <a:srgbClr val="595959"/>
                </a:solidFill>
                <a:latin typeface="Arial MT"/>
                <a:cs typeface="Arial MT"/>
              </a:rPr>
              <a:t> </a:t>
            </a:r>
            <a:r>
              <a:rPr sz="1800" dirty="0">
                <a:solidFill>
                  <a:srgbClr val="595959"/>
                </a:solidFill>
                <a:latin typeface="Arial MT"/>
                <a:cs typeface="Arial MT"/>
              </a:rPr>
              <a:t>SoftMax</a:t>
            </a:r>
            <a:r>
              <a:rPr sz="1800" spc="-10" dirty="0">
                <a:solidFill>
                  <a:srgbClr val="595959"/>
                </a:solidFill>
                <a:latin typeface="Arial MT"/>
                <a:cs typeface="Arial MT"/>
              </a:rPr>
              <a:t> </a:t>
            </a:r>
            <a:r>
              <a:rPr sz="1800" dirty="0">
                <a:solidFill>
                  <a:srgbClr val="595959"/>
                </a:solidFill>
                <a:latin typeface="Arial MT"/>
                <a:cs typeface="Arial MT"/>
              </a:rPr>
              <a:t>functions</a:t>
            </a:r>
            <a:r>
              <a:rPr sz="1800" spc="-10" dirty="0">
                <a:solidFill>
                  <a:srgbClr val="595959"/>
                </a:solidFill>
                <a:latin typeface="Arial MT"/>
                <a:cs typeface="Arial MT"/>
              </a:rPr>
              <a:t> </a:t>
            </a:r>
            <a:r>
              <a:rPr sz="1800" dirty="0">
                <a:solidFill>
                  <a:srgbClr val="595959"/>
                </a:solidFill>
                <a:latin typeface="Arial MT"/>
                <a:cs typeface="Arial MT"/>
              </a:rPr>
              <a:t>are</a:t>
            </a:r>
            <a:r>
              <a:rPr sz="1800" spc="-10" dirty="0">
                <a:solidFill>
                  <a:srgbClr val="595959"/>
                </a:solidFill>
                <a:latin typeface="Arial MT"/>
                <a:cs typeface="Arial MT"/>
              </a:rPr>
              <a:t> used.</a:t>
            </a:r>
            <a:endParaRPr sz="1800">
              <a:latin typeface="Arial MT"/>
              <a:cs typeface="Arial MT"/>
            </a:endParaRPr>
          </a:p>
          <a:p>
            <a:pPr marL="377825" marR="5080" indent="-365760" algn="just">
              <a:lnSpc>
                <a:spcPct val="114999"/>
              </a:lnSpc>
              <a:buFont typeface="Arial MT"/>
              <a:buChar char="●"/>
              <a:tabLst>
                <a:tab pos="379095" algn="l"/>
              </a:tabLst>
            </a:pPr>
            <a:r>
              <a:rPr sz="1800" b="1" dirty="0">
                <a:solidFill>
                  <a:srgbClr val="595959"/>
                </a:solidFill>
                <a:latin typeface="Arial"/>
                <a:cs typeface="Arial"/>
              </a:rPr>
              <a:t>Linearity</a:t>
            </a:r>
            <a:r>
              <a:rPr sz="1800" b="1" spc="60" dirty="0">
                <a:solidFill>
                  <a:srgbClr val="595959"/>
                </a:solidFill>
                <a:latin typeface="Arial"/>
                <a:cs typeface="Arial"/>
              </a:rPr>
              <a:t> </a:t>
            </a:r>
            <a:r>
              <a:rPr sz="1800" b="1" dirty="0">
                <a:solidFill>
                  <a:srgbClr val="595959"/>
                </a:solidFill>
                <a:latin typeface="Arial"/>
                <a:cs typeface="Arial"/>
              </a:rPr>
              <a:t>relationship</a:t>
            </a:r>
            <a:r>
              <a:rPr sz="1800" b="1" spc="60" dirty="0">
                <a:solidFill>
                  <a:srgbClr val="595959"/>
                </a:solidFill>
                <a:latin typeface="Arial"/>
                <a:cs typeface="Arial"/>
              </a:rPr>
              <a:t> </a:t>
            </a:r>
            <a:r>
              <a:rPr sz="1800" b="1" dirty="0">
                <a:solidFill>
                  <a:srgbClr val="595959"/>
                </a:solidFill>
                <a:latin typeface="Arial"/>
                <a:cs typeface="Arial"/>
              </a:rPr>
              <a:t>between</a:t>
            </a:r>
            <a:r>
              <a:rPr sz="1800" b="1" spc="55" dirty="0">
                <a:solidFill>
                  <a:srgbClr val="595959"/>
                </a:solidFill>
                <a:latin typeface="Arial"/>
                <a:cs typeface="Arial"/>
              </a:rPr>
              <a:t> </a:t>
            </a:r>
            <a:r>
              <a:rPr sz="1800" b="1" dirty="0">
                <a:solidFill>
                  <a:srgbClr val="595959"/>
                </a:solidFill>
                <a:latin typeface="Arial"/>
                <a:cs typeface="Arial"/>
              </a:rPr>
              <a:t>independent</a:t>
            </a:r>
            <a:r>
              <a:rPr sz="1800" b="1" spc="65" dirty="0">
                <a:solidFill>
                  <a:srgbClr val="595959"/>
                </a:solidFill>
                <a:latin typeface="Arial"/>
                <a:cs typeface="Arial"/>
              </a:rPr>
              <a:t> </a:t>
            </a:r>
            <a:r>
              <a:rPr sz="1800" b="1" dirty="0">
                <a:solidFill>
                  <a:srgbClr val="595959"/>
                </a:solidFill>
                <a:latin typeface="Arial"/>
                <a:cs typeface="Arial"/>
              </a:rPr>
              <a:t>variables</a:t>
            </a:r>
            <a:r>
              <a:rPr sz="1800" b="1" spc="60" dirty="0">
                <a:solidFill>
                  <a:srgbClr val="595959"/>
                </a:solidFill>
                <a:latin typeface="Arial"/>
                <a:cs typeface="Arial"/>
              </a:rPr>
              <a:t> </a:t>
            </a:r>
            <a:r>
              <a:rPr sz="1800" b="1" dirty="0">
                <a:solidFill>
                  <a:srgbClr val="595959"/>
                </a:solidFill>
                <a:latin typeface="Arial"/>
                <a:cs typeface="Arial"/>
              </a:rPr>
              <a:t>and</a:t>
            </a:r>
            <a:r>
              <a:rPr sz="1800" b="1" spc="60" dirty="0">
                <a:solidFill>
                  <a:srgbClr val="595959"/>
                </a:solidFill>
                <a:latin typeface="Arial"/>
                <a:cs typeface="Arial"/>
              </a:rPr>
              <a:t> </a:t>
            </a:r>
            <a:r>
              <a:rPr sz="1800" b="1" dirty="0">
                <a:solidFill>
                  <a:srgbClr val="595959"/>
                </a:solidFill>
                <a:latin typeface="Arial"/>
                <a:cs typeface="Arial"/>
              </a:rPr>
              <a:t>log</a:t>
            </a:r>
            <a:r>
              <a:rPr sz="1800" b="1" spc="55" dirty="0">
                <a:solidFill>
                  <a:srgbClr val="595959"/>
                </a:solidFill>
                <a:latin typeface="Arial"/>
                <a:cs typeface="Arial"/>
              </a:rPr>
              <a:t> </a:t>
            </a:r>
            <a:r>
              <a:rPr sz="1800" b="1" dirty="0">
                <a:solidFill>
                  <a:srgbClr val="595959"/>
                </a:solidFill>
                <a:latin typeface="Arial"/>
                <a:cs typeface="Arial"/>
              </a:rPr>
              <a:t>odds:</a:t>
            </a:r>
            <a:r>
              <a:rPr sz="1800" b="1" spc="80" dirty="0">
                <a:solidFill>
                  <a:srgbClr val="595959"/>
                </a:solidFill>
                <a:latin typeface="Arial"/>
                <a:cs typeface="Arial"/>
              </a:rPr>
              <a:t> </a:t>
            </a:r>
            <a:r>
              <a:rPr sz="1800" spc="-25" dirty="0">
                <a:solidFill>
                  <a:srgbClr val="595959"/>
                </a:solidFill>
                <a:latin typeface="Arial MT"/>
                <a:cs typeface="Arial MT"/>
              </a:rPr>
              <a:t>The 	</a:t>
            </a:r>
            <a:r>
              <a:rPr sz="1800" dirty="0">
                <a:solidFill>
                  <a:srgbClr val="595959"/>
                </a:solidFill>
                <a:latin typeface="Arial MT"/>
                <a:cs typeface="Arial MT"/>
              </a:rPr>
              <a:t>relationship</a:t>
            </a:r>
            <a:r>
              <a:rPr sz="1800" spc="20" dirty="0">
                <a:solidFill>
                  <a:srgbClr val="595959"/>
                </a:solidFill>
                <a:latin typeface="Arial MT"/>
                <a:cs typeface="Arial MT"/>
              </a:rPr>
              <a:t>  </a:t>
            </a:r>
            <a:r>
              <a:rPr sz="1800" dirty="0">
                <a:solidFill>
                  <a:srgbClr val="595959"/>
                </a:solidFill>
                <a:latin typeface="Arial MT"/>
                <a:cs typeface="Arial MT"/>
              </a:rPr>
              <a:t>between</a:t>
            </a:r>
            <a:r>
              <a:rPr sz="1800" spc="25" dirty="0">
                <a:solidFill>
                  <a:srgbClr val="595959"/>
                </a:solidFill>
                <a:latin typeface="Arial MT"/>
                <a:cs typeface="Arial MT"/>
              </a:rPr>
              <a:t>  </a:t>
            </a:r>
            <a:r>
              <a:rPr sz="1800" dirty="0">
                <a:solidFill>
                  <a:srgbClr val="595959"/>
                </a:solidFill>
                <a:latin typeface="Arial MT"/>
                <a:cs typeface="Arial MT"/>
              </a:rPr>
              <a:t>the</a:t>
            </a:r>
            <a:r>
              <a:rPr sz="1800" spc="25" dirty="0">
                <a:solidFill>
                  <a:srgbClr val="595959"/>
                </a:solidFill>
                <a:latin typeface="Arial MT"/>
                <a:cs typeface="Arial MT"/>
              </a:rPr>
              <a:t>  </a:t>
            </a:r>
            <a:r>
              <a:rPr sz="1800" dirty="0">
                <a:solidFill>
                  <a:srgbClr val="595959"/>
                </a:solidFill>
                <a:latin typeface="Arial MT"/>
                <a:cs typeface="Arial MT"/>
              </a:rPr>
              <a:t>independent</a:t>
            </a:r>
            <a:r>
              <a:rPr sz="1800" spc="20" dirty="0">
                <a:solidFill>
                  <a:srgbClr val="595959"/>
                </a:solidFill>
                <a:latin typeface="Arial MT"/>
                <a:cs typeface="Arial MT"/>
              </a:rPr>
              <a:t>  </a:t>
            </a:r>
            <a:r>
              <a:rPr sz="1800" dirty="0">
                <a:solidFill>
                  <a:srgbClr val="595959"/>
                </a:solidFill>
                <a:latin typeface="Arial MT"/>
                <a:cs typeface="Arial MT"/>
              </a:rPr>
              <a:t>variables</a:t>
            </a:r>
            <a:r>
              <a:rPr sz="1800" spc="25" dirty="0">
                <a:solidFill>
                  <a:srgbClr val="595959"/>
                </a:solidFill>
                <a:latin typeface="Arial MT"/>
                <a:cs typeface="Arial MT"/>
              </a:rPr>
              <a:t>  </a:t>
            </a:r>
            <a:r>
              <a:rPr sz="1800" dirty="0">
                <a:solidFill>
                  <a:srgbClr val="595959"/>
                </a:solidFill>
                <a:latin typeface="Arial MT"/>
                <a:cs typeface="Arial MT"/>
              </a:rPr>
              <a:t>and</a:t>
            </a:r>
            <a:r>
              <a:rPr sz="1800" spc="25" dirty="0">
                <a:solidFill>
                  <a:srgbClr val="595959"/>
                </a:solidFill>
                <a:latin typeface="Arial MT"/>
                <a:cs typeface="Arial MT"/>
              </a:rPr>
              <a:t>  </a:t>
            </a:r>
            <a:r>
              <a:rPr sz="1800" dirty="0">
                <a:solidFill>
                  <a:srgbClr val="595959"/>
                </a:solidFill>
                <a:latin typeface="Arial MT"/>
                <a:cs typeface="Arial MT"/>
              </a:rPr>
              <a:t>the</a:t>
            </a:r>
            <a:r>
              <a:rPr sz="1800" spc="20" dirty="0">
                <a:solidFill>
                  <a:srgbClr val="595959"/>
                </a:solidFill>
                <a:latin typeface="Arial MT"/>
                <a:cs typeface="Arial MT"/>
              </a:rPr>
              <a:t>  </a:t>
            </a:r>
            <a:r>
              <a:rPr sz="1800" dirty="0">
                <a:solidFill>
                  <a:srgbClr val="595959"/>
                </a:solidFill>
                <a:latin typeface="Arial MT"/>
                <a:cs typeface="Arial MT"/>
              </a:rPr>
              <a:t>log</a:t>
            </a:r>
            <a:r>
              <a:rPr sz="1800" spc="25" dirty="0">
                <a:solidFill>
                  <a:srgbClr val="595959"/>
                </a:solidFill>
                <a:latin typeface="Arial MT"/>
                <a:cs typeface="Arial MT"/>
              </a:rPr>
              <a:t>  </a:t>
            </a:r>
            <a:r>
              <a:rPr sz="1800" dirty="0">
                <a:solidFill>
                  <a:srgbClr val="595959"/>
                </a:solidFill>
                <a:latin typeface="Arial MT"/>
                <a:cs typeface="Arial MT"/>
              </a:rPr>
              <a:t>odds</a:t>
            </a:r>
            <a:r>
              <a:rPr sz="1800" spc="25" dirty="0">
                <a:solidFill>
                  <a:srgbClr val="595959"/>
                </a:solidFill>
                <a:latin typeface="Arial MT"/>
                <a:cs typeface="Arial MT"/>
              </a:rPr>
              <a:t>  </a:t>
            </a:r>
            <a:r>
              <a:rPr sz="1800" dirty="0">
                <a:solidFill>
                  <a:srgbClr val="595959"/>
                </a:solidFill>
                <a:latin typeface="Arial MT"/>
                <a:cs typeface="Arial MT"/>
              </a:rPr>
              <a:t>of</a:t>
            </a:r>
            <a:r>
              <a:rPr sz="1800" spc="25" dirty="0">
                <a:solidFill>
                  <a:srgbClr val="595959"/>
                </a:solidFill>
                <a:latin typeface="Arial MT"/>
                <a:cs typeface="Arial MT"/>
              </a:rPr>
              <a:t>  </a:t>
            </a:r>
            <a:r>
              <a:rPr sz="1800" spc="-25" dirty="0">
                <a:solidFill>
                  <a:srgbClr val="595959"/>
                </a:solidFill>
                <a:latin typeface="Arial MT"/>
                <a:cs typeface="Arial MT"/>
              </a:rPr>
              <a:t>the 	</a:t>
            </a:r>
            <a:r>
              <a:rPr sz="1800" dirty="0">
                <a:solidFill>
                  <a:srgbClr val="595959"/>
                </a:solidFill>
                <a:latin typeface="Arial MT"/>
                <a:cs typeface="Arial MT"/>
              </a:rPr>
              <a:t>dependent</a:t>
            </a:r>
            <a:r>
              <a:rPr sz="1800" spc="-45" dirty="0">
                <a:solidFill>
                  <a:srgbClr val="595959"/>
                </a:solidFill>
                <a:latin typeface="Arial MT"/>
                <a:cs typeface="Arial MT"/>
              </a:rPr>
              <a:t> </a:t>
            </a:r>
            <a:r>
              <a:rPr sz="1800" dirty="0">
                <a:solidFill>
                  <a:srgbClr val="595959"/>
                </a:solidFill>
                <a:latin typeface="Arial MT"/>
                <a:cs typeface="Arial MT"/>
              </a:rPr>
              <a:t>variable</a:t>
            </a:r>
            <a:r>
              <a:rPr sz="1800" spc="-30" dirty="0">
                <a:solidFill>
                  <a:srgbClr val="595959"/>
                </a:solidFill>
                <a:latin typeface="Arial MT"/>
                <a:cs typeface="Arial MT"/>
              </a:rPr>
              <a:t> </a:t>
            </a:r>
            <a:r>
              <a:rPr sz="1800" dirty="0">
                <a:solidFill>
                  <a:srgbClr val="595959"/>
                </a:solidFill>
                <a:latin typeface="Arial MT"/>
                <a:cs typeface="Arial MT"/>
              </a:rPr>
              <a:t>should</a:t>
            </a:r>
            <a:r>
              <a:rPr sz="1800" spc="-30" dirty="0">
                <a:solidFill>
                  <a:srgbClr val="595959"/>
                </a:solidFill>
                <a:latin typeface="Arial MT"/>
                <a:cs typeface="Arial MT"/>
              </a:rPr>
              <a:t> </a:t>
            </a:r>
            <a:r>
              <a:rPr sz="1800" dirty="0">
                <a:solidFill>
                  <a:srgbClr val="595959"/>
                </a:solidFill>
                <a:latin typeface="Arial MT"/>
                <a:cs typeface="Arial MT"/>
              </a:rPr>
              <a:t>be</a:t>
            </a:r>
            <a:r>
              <a:rPr sz="1800" spc="-30" dirty="0">
                <a:solidFill>
                  <a:srgbClr val="595959"/>
                </a:solidFill>
                <a:latin typeface="Arial MT"/>
                <a:cs typeface="Arial MT"/>
              </a:rPr>
              <a:t> </a:t>
            </a:r>
            <a:r>
              <a:rPr sz="1800" spc="-10" dirty="0">
                <a:solidFill>
                  <a:srgbClr val="595959"/>
                </a:solidFill>
                <a:latin typeface="Arial MT"/>
                <a:cs typeface="Arial MT"/>
              </a:rPr>
              <a:t>linear.</a:t>
            </a:r>
            <a:endParaRPr sz="1800">
              <a:latin typeface="Arial MT"/>
              <a:cs typeface="Arial MT"/>
            </a:endParaRPr>
          </a:p>
          <a:p>
            <a:pPr marL="378460" indent="-365760" algn="just">
              <a:lnSpc>
                <a:spcPct val="100000"/>
              </a:lnSpc>
              <a:spcBef>
                <a:spcPts val="325"/>
              </a:spcBef>
              <a:buFont typeface="Arial MT"/>
              <a:buChar char="●"/>
              <a:tabLst>
                <a:tab pos="378460" algn="l"/>
              </a:tabLst>
            </a:pPr>
            <a:r>
              <a:rPr sz="1800" b="1" dirty="0">
                <a:solidFill>
                  <a:srgbClr val="595959"/>
                </a:solidFill>
                <a:latin typeface="Arial"/>
                <a:cs typeface="Arial"/>
              </a:rPr>
              <a:t>No</a:t>
            </a:r>
            <a:r>
              <a:rPr sz="1800" b="1" spc="-20" dirty="0">
                <a:solidFill>
                  <a:srgbClr val="595959"/>
                </a:solidFill>
                <a:latin typeface="Arial"/>
                <a:cs typeface="Arial"/>
              </a:rPr>
              <a:t> </a:t>
            </a:r>
            <a:r>
              <a:rPr sz="1800" b="1" dirty="0">
                <a:solidFill>
                  <a:srgbClr val="595959"/>
                </a:solidFill>
                <a:latin typeface="Arial"/>
                <a:cs typeface="Arial"/>
              </a:rPr>
              <a:t>outliers:</a:t>
            </a:r>
            <a:r>
              <a:rPr sz="1800" b="1" spc="-10" dirty="0">
                <a:solidFill>
                  <a:srgbClr val="595959"/>
                </a:solidFill>
                <a:latin typeface="Arial"/>
                <a:cs typeface="Arial"/>
              </a:rPr>
              <a:t> </a:t>
            </a:r>
            <a:r>
              <a:rPr sz="1800" dirty="0">
                <a:solidFill>
                  <a:srgbClr val="595959"/>
                </a:solidFill>
                <a:latin typeface="Arial MT"/>
                <a:cs typeface="Arial MT"/>
              </a:rPr>
              <a:t>There</a:t>
            </a:r>
            <a:r>
              <a:rPr sz="1800" spc="-15" dirty="0">
                <a:solidFill>
                  <a:srgbClr val="595959"/>
                </a:solidFill>
                <a:latin typeface="Arial MT"/>
                <a:cs typeface="Arial MT"/>
              </a:rPr>
              <a:t> </a:t>
            </a:r>
            <a:r>
              <a:rPr sz="1800" dirty="0">
                <a:solidFill>
                  <a:srgbClr val="595959"/>
                </a:solidFill>
                <a:latin typeface="Arial MT"/>
                <a:cs typeface="Arial MT"/>
              </a:rPr>
              <a:t>should</a:t>
            </a:r>
            <a:r>
              <a:rPr sz="1800" spc="-15" dirty="0">
                <a:solidFill>
                  <a:srgbClr val="595959"/>
                </a:solidFill>
                <a:latin typeface="Arial MT"/>
                <a:cs typeface="Arial MT"/>
              </a:rPr>
              <a:t> </a:t>
            </a:r>
            <a:r>
              <a:rPr sz="1800" dirty="0">
                <a:solidFill>
                  <a:srgbClr val="595959"/>
                </a:solidFill>
                <a:latin typeface="Arial MT"/>
                <a:cs typeface="Arial MT"/>
              </a:rPr>
              <a:t>be</a:t>
            </a:r>
            <a:r>
              <a:rPr sz="1800" spc="-15" dirty="0">
                <a:solidFill>
                  <a:srgbClr val="595959"/>
                </a:solidFill>
                <a:latin typeface="Arial MT"/>
                <a:cs typeface="Arial MT"/>
              </a:rPr>
              <a:t> </a:t>
            </a:r>
            <a:r>
              <a:rPr sz="1800" dirty="0">
                <a:solidFill>
                  <a:srgbClr val="595959"/>
                </a:solidFill>
                <a:latin typeface="Arial MT"/>
                <a:cs typeface="Arial MT"/>
              </a:rPr>
              <a:t>no</a:t>
            </a:r>
            <a:r>
              <a:rPr sz="1800" spc="-20" dirty="0">
                <a:solidFill>
                  <a:srgbClr val="595959"/>
                </a:solidFill>
                <a:latin typeface="Arial MT"/>
                <a:cs typeface="Arial MT"/>
              </a:rPr>
              <a:t> </a:t>
            </a:r>
            <a:r>
              <a:rPr sz="1800" dirty="0">
                <a:solidFill>
                  <a:srgbClr val="595959"/>
                </a:solidFill>
                <a:latin typeface="Arial MT"/>
                <a:cs typeface="Arial MT"/>
              </a:rPr>
              <a:t>outliers</a:t>
            </a:r>
            <a:r>
              <a:rPr sz="1800" spc="-15" dirty="0">
                <a:solidFill>
                  <a:srgbClr val="595959"/>
                </a:solidFill>
                <a:latin typeface="Arial MT"/>
                <a:cs typeface="Arial MT"/>
              </a:rPr>
              <a:t> </a:t>
            </a:r>
            <a:r>
              <a:rPr sz="1800" dirty="0">
                <a:solidFill>
                  <a:srgbClr val="595959"/>
                </a:solidFill>
                <a:latin typeface="Arial MT"/>
                <a:cs typeface="Arial MT"/>
              </a:rPr>
              <a:t>in</a:t>
            </a:r>
            <a:r>
              <a:rPr sz="1800" spc="-15" dirty="0">
                <a:solidFill>
                  <a:srgbClr val="595959"/>
                </a:solidFill>
                <a:latin typeface="Arial MT"/>
                <a:cs typeface="Arial MT"/>
              </a:rPr>
              <a:t> </a:t>
            </a:r>
            <a:r>
              <a:rPr sz="1800" dirty="0">
                <a:solidFill>
                  <a:srgbClr val="595959"/>
                </a:solidFill>
                <a:latin typeface="Arial MT"/>
                <a:cs typeface="Arial MT"/>
              </a:rPr>
              <a:t>the</a:t>
            </a:r>
            <a:r>
              <a:rPr sz="1800" spc="-15" dirty="0">
                <a:solidFill>
                  <a:srgbClr val="595959"/>
                </a:solidFill>
                <a:latin typeface="Arial MT"/>
                <a:cs typeface="Arial MT"/>
              </a:rPr>
              <a:t> </a:t>
            </a:r>
            <a:r>
              <a:rPr sz="1800" spc="-10" dirty="0">
                <a:solidFill>
                  <a:srgbClr val="595959"/>
                </a:solidFill>
                <a:latin typeface="Arial MT"/>
                <a:cs typeface="Arial MT"/>
              </a:rPr>
              <a:t>dataset.</a:t>
            </a:r>
            <a:endParaRPr sz="1800">
              <a:latin typeface="Arial MT"/>
              <a:cs typeface="Arial MT"/>
            </a:endParaRPr>
          </a:p>
          <a:p>
            <a:pPr marL="378460" indent="-365760" algn="just">
              <a:lnSpc>
                <a:spcPct val="100000"/>
              </a:lnSpc>
              <a:spcBef>
                <a:spcPts val="320"/>
              </a:spcBef>
              <a:buFont typeface="Arial MT"/>
              <a:buChar char="●"/>
              <a:tabLst>
                <a:tab pos="378460" algn="l"/>
              </a:tabLst>
            </a:pPr>
            <a:r>
              <a:rPr sz="1800" b="1" dirty="0">
                <a:solidFill>
                  <a:srgbClr val="595959"/>
                </a:solidFill>
                <a:latin typeface="Arial"/>
                <a:cs typeface="Arial"/>
              </a:rPr>
              <a:t>Large</a:t>
            </a:r>
            <a:r>
              <a:rPr sz="1800" b="1" spc="-35" dirty="0">
                <a:solidFill>
                  <a:srgbClr val="595959"/>
                </a:solidFill>
                <a:latin typeface="Arial"/>
                <a:cs typeface="Arial"/>
              </a:rPr>
              <a:t> </a:t>
            </a:r>
            <a:r>
              <a:rPr sz="1800" b="1" dirty="0">
                <a:solidFill>
                  <a:srgbClr val="595959"/>
                </a:solidFill>
                <a:latin typeface="Arial"/>
                <a:cs typeface="Arial"/>
              </a:rPr>
              <a:t>sample</a:t>
            </a:r>
            <a:r>
              <a:rPr sz="1800" b="1" spc="-25" dirty="0">
                <a:solidFill>
                  <a:srgbClr val="595959"/>
                </a:solidFill>
                <a:latin typeface="Arial"/>
                <a:cs typeface="Arial"/>
              </a:rPr>
              <a:t> </a:t>
            </a:r>
            <a:r>
              <a:rPr sz="1800" b="1" dirty="0">
                <a:solidFill>
                  <a:srgbClr val="595959"/>
                </a:solidFill>
                <a:latin typeface="Arial"/>
                <a:cs typeface="Arial"/>
              </a:rPr>
              <a:t>size:</a:t>
            </a:r>
            <a:r>
              <a:rPr sz="1800" b="1" spc="-45" dirty="0">
                <a:solidFill>
                  <a:srgbClr val="595959"/>
                </a:solidFill>
                <a:latin typeface="Arial"/>
                <a:cs typeface="Arial"/>
              </a:rPr>
              <a:t> </a:t>
            </a:r>
            <a:r>
              <a:rPr sz="1800" dirty="0">
                <a:solidFill>
                  <a:srgbClr val="595959"/>
                </a:solidFill>
                <a:latin typeface="Arial MT"/>
                <a:cs typeface="Arial MT"/>
              </a:rPr>
              <a:t>The</a:t>
            </a:r>
            <a:r>
              <a:rPr sz="1800" spc="-20" dirty="0">
                <a:solidFill>
                  <a:srgbClr val="595959"/>
                </a:solidFill>
                <a:latin typeface="Arial MT"/>
                <a:cs typeface="Arial MT"/>
              </a:rPr>
              <a:t> </a:t>
            </a:r>
            <a:r>
              <a:rPr sz="1800" dirty="0">
                <a:solidFill>
                  <a:srgbClr val="595959"/>
                </a:solidFill>
                <a:latin typeface="Arial MT"/>
                <a:cs typeface="Arial MT"/>
              </a:rPr>
              <a:t>sample</a:t>
            </a:r>
            <a:r>
              <a:rPr sz="1800" spc="-25" dirty="0">
                <a:solidFill>
                  <a:srgbClr val="595959"/>
                </a:solidFill>
                <a:latin typeface="Arial MT"/>
                <a:cs typeface="Arial MT"/>
              </a:rPr>
              <a:t> </a:t>
            </a:r>
            <a:r>
              <a:rPr sz="1800" dirty="0">
                <a:solidFill>
                  <a:srgbClr val="595959"/>
                </a:solidFill>
                <a:latin typeface="Arial MT"/>
                <a:cs typeface="Arial MT"/>
              </a:rPr>
              <a:t>size</a:t>
            </a:r>
            <a:r>
              <a:rPr sz="1800" spc="-20" dirty="0">
                <a:solidFill>
                  <a:srgbClr val="595959"/>
                </a:solidFill>
                <a:latin typeface="Arial MT"/>
                <a:cs typeface="Arial MT"/>
              </a:rPr>
              <a:t> </a:t>
            </a:r>
            <a:r>
              <a:rPr sz="1800" dirty="0">
                <a:solidFill>
                  <a:srgbClr val="595959"/>
                </a:solidFill>
                <a:latin typeface="Arial MT"/>
                <a:cs typeface="Arial MT"/>
              </a:rPr>
              <a:t>is</a:t>
            </a:r>
            <a:r>
              <a:rPr sz="1800" spc="-25" dirty="0">
                <a:solidFill>
                  <a:srgbClr val="595959"/>
                </a:solidFill>
                <a:latin typeface="Arial MT"/>
                <a:cs typeface="Arial MT"/>
              </a:rPr>
              <a:t> </a:t>
            </a:r>
            <a:r>
              <a:rPr sz="1800" dirty="0">
                <a:solidFill>
                  <a:srgbClr val="595959"/>
                </a:solidFill>
                <a:latin typeface="Arial MT"/>
                <a:cs typeface="Arial MT"/>
              </a:rPr>
              <a:t>sufficiently</a:t>
            </a:r>
            <a:r>
              <a:rPr sz="1800" spc="-20" dirty="0">
                <a:solidFill>
                  <a:srgbClr val="595959"/>
                </a:solidFill>
                <a:latin typeface="Arial MT"/>
                <a:cs typeface="Arial MT"/>
              </a:rPr>
              <a:t> </a:t>
            </a:r>
            <a:r>
              <a:rPr sz="1800" spc="-10" dirty="0">
                <a:solidFill>
                  <a:srgbClr val="595959"/>
                </a:solidFill>
                <a:latin typeface="Arial MT"/>
                <a:cs typeface="Arial MT"/>
              </a:rPr>
              <a:t>large</a:t>
            </a:r>
            <a:endParaRPr sz="1800">
              <a:latin typeface="Arial MT"/>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3590" rIns="0" bIns="0" rtlCol="0">
            <a:spAutoFit/>
          </a:bodyPr>
          <a:lstStyle/>
          <a:p>
            <a:pPr marL="12700">
              <a:lnSpc>
                <a:spcPct val="100000"/>
              </a:lnSpc>
              <a:spcBef>
                <a:spcPts val="100"/>
              </a:spcBef>
            </a:pPr>
            <a:r>
              <a:rPr sz="2800" dirty="0"/>
              <a:t>Logistic</a:t>
            </a:r>
            <a:r>
              <a:rPr sz="2800" spc="-100" dirty="0"/>
              <a:t> </a:t>
            </a:r>
            <a:r>
              <a:rPr sz="2800" dirty="0"/>
              <a:t>Regression</a:t>
            </a:r>
            <a:r>
              <a:rPr sz="2800" spc="-95" dirty="0"/>
              <a:t> </a:t>
            </a:r>
            <a:r>
              <a:rPr sz="2800" dirty="0"/>
              <a:t>-</a:t>
            </a:r>
            <a:r>
              <a:rPr sz="2800" spc="-95" dirty="0"/>
              <a:t> </a:t>
            </a:r>
            <a:r>
              <a:rPr sz="2800" dirty="0"/>
              <a:t>Binary</a:t>
            </a:r>
            <a:r>
              <a:rPr sz="2800" spc="-95" dirty="0"/>
              <a:t> </a:t>
            </a:r>
            <a:r>
              <a:rPr sz="2800" spc="-10" dirty="0"/>
              <a:t>classification</a:t>
            </a:r>
            <a:r>
              <a:rPr sz="2800" spc="-95" dirty="0"/>
              <a:t> </a:t>
            </a:r>
            <a:r>
              <a:rPr sz="2800" spc="-20" dirty="0"/>
              <a:t>task</a:t>
            </a:r>
            <a:endParaRPr sz="2800"/>
          </a:p>
        </p:txBody>
      </p:sp>
      <p:sp>
        <p:nvSpPr>
          <p:cNvPr id="3" name="object 3"/>
          <p:cNvSpPr txBox="1"/>
          <p:nvPr/>
        </p:nvSpPr>
        <p:spPr>
          <a:xfrm>
            <a:off x="424449" y="1175208"/>
            <a:ext cx="8228330" cy="2595880"/>
          </a:xfrm>
          <a:prstGeom prst="rect">
            <a:avLst/>
          </a:prstGeom>
        </p:spPr>
        <p:txBody>
          <a:bodyPr vert="horz" wrap="square" lIns="0" tIns="53340" rIns="0" bIns="0" rtlCol="0">
            <a:spAutoFit/>
          </a:bodyPr>
          <a:lstStyle/>
          <a:p>
            <a:pPr marL="429895" indent="-366395">
              <a:lnSpc>
                <a:spcPct val="100000"/>
              </a:lnSpc>
              <a:spcBef>
                <a:spcPts val="420"/>
              </a:spcBef>
              <a:buChar char="●"/>
              <a:tabLst>
                <a:tab pos="429895" algn="l"/>
              </a:tabLst>
            </a:pPr>
            <a:r>
              <a:rPr sz="1800" dirty="0">
                <a:solidFill>
                  <a:srgbClr val="595959"/>
                </a:solidFill>
                <a:latin typeface="Arial MT"/>
                <a:cs typeface="Arial MT"/>
              </a:rPr>
              <a:t>Same</a:t>
            </a:r>
            <a:r>
              <a:rPr sz="1800" spc="-30" dirty="0">
                <a:solidFill>
                  <a:srgbClr val="595959"/>
                </a:solidFill>
                <a:latin typeface="Arial MT"/>
                <a:cs typeface="Arial MT"/>
              </a:rPr>
              <a:t> </a:t>
            </a:r>
            <a:r>
              <a:rPr sz="1800" dirty="0">
                <a:solidFill>
                  <a:srgbClr val="595959"/>
                </a:solidFill>
                <a:latin typeface="Arial MT"/>
                <a:cs typeface="Arial MT"/>
              </a:rPr>
              <a:t>procedure</a:t>
            </a:r>
            <a:r>
              <a:rPr sz="1800" spc="-30" dirty="0">
                <a:solidFill>
                  <a:srgbClr val="595959"/>
                </a:solidFill>
                <a:latin typeface="Arial MT"/>
                <a:cs typeface="Arial MT"/>
              </a:rPr>
              <a:t> </a:t>
            </a:r>
            <a:r>
              <a:rPr sz="1800" dirty="0">
                <a:solidFill>
                  <a:srgbClr val="595959"/>
                </a:solidFill>
                <a:latin typeface="Arial MT"/>
                <a:cs typeface="Arial MT"/>
              </a:rPr>
              <a:t>as</a:t>
            </a:r>
            <a:r>
              <a:rPr sz="1800" spc="-30" dirty="0">
                <a:solidFill>
                  <a:srgbClr val="595959"/>
                </a:solidFill>
                <a:latin typeface="Arial MT"/>
                <a:cs typeface="Arial MT"/>
              </a:rPr>
              <a:t> </a:t>
            </a:r>
            <a:r>
              <a:rPr sz="1800" dirty="0">
                <a:solidFill>
                  <a:srgbClr val="595959"/>
                </a:solidFill>
                <a:latin typeface="Arial MT"/>
                <a:cs typeface="Arial MT"/>
              </a:rPr>
              <a:t>regression</a:t>
            </a:r>
            <a:r>
              <a:rPr sz="1800" spc="-30" dirty="0">
                <a:solidFill>
                  <a:srgbClr val="595959"/>
                </a:solidFill>
                <a:latin typeface="Arial MT"/>
                <a:cs typeface="Arial MT"/>
              </a:rPr>
              <a:t> </a:t>
            </a:r>
            <a:r>
              <a:rPr sz="1800" spc="-10" dirty="0">
                <a:solidFill>
                  <a:srgbClr val="595959"/>
                </a:solidFill>
                <a:latin typeface="Arial MT"/>
                <a:cs typeface="Arial MT"/>
              </a:rPr>
              <a:t>algorithms.</a:t>
            </a:r>
            <a:endParaRPr sz="1800" dirty="0">
              <a:latin typeface="Arial MT"/>
              <a:cs typeface="Arial MT"/>
            </a:endParaRPr>
          </a:p>
          <a:p>
            <a:pPr marL="429895" marR="254000" indent="-367030">
              <a:lnSpc>
                <a:spcPct val="114999"/>
              </a:lnSpc>
              <a:buChar char="●"/>
              <a:tabLst>
                <a:tab pos="429895" algn="l"/>
              </a:tabLst>
            </a:pPr>
            <a:r>
              <a:rPr sz="1800" dirty="0">
                <a:solidFill>
                  <a:srgbClr val="595959"/>
                </a:solidFill>
                <a:latin typeface="Arial MT"/>
                <a:cs typeface="Arial MT"/>
              </a:rPr>
              <a:t>In</a:t>
            </a:r>
            <a:r>
              <a:rPr sz="1800" spc="-25" dirty="0">
                <a:solidFill>
                  <a:srgbClr val="595959"/>
                </a:solidFill>
                <a:latin typeface="Arial MT"/>
                <a:cs typeface="Arial MT"/>
              </a:rPr>
              <a:t> </a:t>
            </a:r>
            <a:r>
              <a:rPr sz="1800" dirty="0">
                <a:solidFill>
                  <a:srgbClr val="595959"/>
                </a:solidFill>
                <a:latin typeface="Arial MT"/>
                <a:cs typeface="Arial MT"/>
              </a:rPr>
              <a:t>the</a:t>
            </a:r>
            <a:r>
              <a:rPr sz="1800" spc="-25" dirty="0">
                <a:solidFill>
                  <a:srgbClr val="595959"/>
                </a:solidFill>
                <a:latin typeface="Arial MT"/>
                <a:cs typeface="Arial MT"/>
              </a:rPr>
              <a:t> </a:t>
            </a:r>
            <a:r>
              <a:rPr sz="1800" dirty="0">
                <a:solidFill>
                  <a:srgbClr val="595959"/>
                </a:solidFill>
                <a:latin typeface="Arial MT"/>
                <a:cs typeface="Arial MT"/>
              </a:rPr>
              <a:t>same</a:t>
            </a:r>
            <a:r>
              <a:rPr sz="1800" spc="-20" dirty="0">
                <a:solidFill>
                  <a:srgbClr val="595959"/>
                </a:solidFill>
                <a:latin typeface="Arial MT"/>
                <a:cs typeface="Arial MT"/>
              </a:rPr>
              <a:t> </a:t>
            </a:r>
            <a:r>
              <a:rPr sz="1800" spc="-10" dirty="0">
                <a:solidFill>
                  <a:srgbClr val="595959"/>
                </a:solidFill>
                <a:latin typeface="Arial MT"/>
                <a:cs typeface="Arial MT"/>
              </a:rPr>
              <a:t>way,</a:t>
            </a:r>
            <a:r>
              <a:rPr sz="1800" spc="-25" dirty="0">
                <a:solidFill>
                  <a:srgbClr val="595959"/>
                </a:solidFill>
                <a:latin typeface="Arial MT"/>
                <a:cs typeface="Arial MT"/>
              </a:rPr>
              <a:t> </a:t>
            </a:r>
            <a:r>
              <a:rPr sz="1800" dirty="0">
                <a:solidFill>
                  <a:srgbClr val="595959"/>
                </a:solidFill>
                <a:latin typeface="Arial MT"/>
                <a:cs typeface="Arial MT"/>
              </a:rPr>
              <a:t>we</a:t>
            </a:r>
            <a:r>
              <a:rPr sz="1800" spc="-25" dirty="0">
                <a:solidFill>
                  <a:srgbClr val="595959"/>
                </a:solidFill>
                <a:latin typeface="Arial MT"/>
                <a:cs typeface="Arial MT"/>
              </a:rPr>
              <a:t> </a:t>
            </a:r>
            <a:r>
              <a:rPr sz="1800" dirty="0">
                <a:solidFill>
                  <a:srgbClr val="595959"/>
                </a:solidFill>
                <a:latin typeface="Arial MT"/>
                <a:cs typeface="Arial MT"/>
              </a:rPr>
              <a:t>are</a:t>
            </a:r>
            <a:r>
              <a:rPr sz="1800" spc="-20" dirty="0">
                <a:solidFill>
                  <a:srgbClr val="595959"/>
                </a:solidFill>
                <a:latin typeface="Arial MT"/>
                <a:cs typeface="Arial MT"/>
              </a:rPr>
              <a:t> </a:t>
            </a:r>
            <a:r>
              <a:rPr sz="1800" dirty="0">
                <a:solidFill>
                  <a:srgbClr val="595959"/>
                </a:solidFill>
                <a:latin typeface="Arial MT"/>
                <a:cs typeface="Arial MT"/>
              </a:rPr>
              <a:t>fitting</a:t>
            </a:r>
            <a:r>
              <a:rPr sz="1800" spc="-25" dirty="0">
                <a:solidFill>
                  <a:srgbClr val="595959"/>
                </a:solidFill>
                <a:latin typeface="Arial MT"/>
                <a:cs typeface="Arial MT"/>
              </a:rPr>
              <a:t> </a:t>
            </a:r>
            <a:r>
              <a:rPr sz="1800" dirty="0">
                <a:solidFill>
                  <a:srgbClr val="595959"/>
                </a:solidFill>
                <a:latin typeface="Arial MT"/>
                <a:cs typeface="Arial MT"/>
              </a:rPr>
              <a:t>a</a:t>
            </a:r>
            <a:r>
              <a:rPr sz="1800" spc="-20" dirty="0">
                <a:solidFill>
                  <a:srgbClr val="595959"/>
                </a:solidFill>
                <a:latin typeface="Arial MT"/>
                <a:cs typeface="Arial MT"/>
              </a:rPr>
              <a:t> </a:t>
            </a:r>
            <a:r>
              <a:rPr sz="1800" dirty="0">
                <a:solidFill>
                  <a:srgbClr val="595959"/>
                </a:solidFill>
                <a:latin typeface="Arial MT"/>
                <a:cs typeface="Arial MT"/>
              </a:rPr>
              <a:t>line</a:t>
            </a:r>
            <a:r>
              <a:rPr sz="1800" spc="-25" dirty="0">
                <a:solidFill>
                  <a:srgbClr val="595959"/>
                </a:solidFill>
                <a:latin typeface="Arial MT"/>
                <a:cs typeface="Arial MT"/>
              </a:rPr>
              <a:t> </a:t>
            </a:r>
            <a:r>
              <a:rPr sz="1800" dirty="0">
                <a:solidFill>
                  <a:srgbClr val="595959"/>
                </a:solidFill>
                <a:latin typeface="Arial MT"/>
                <a:cs typeface="Arial MT"/>
              </a:rPr>
              <a:t>like</a:t>
            </a:r>
            <a:r>
              <a:rPr sz="1800" spc="-25" dirty="0">
                <a:solidFill>
                  <a:srgbClr val="595959"/>
                </a:solidFill>
                <a:latin typeface="Arial MT"/>
                <a:cs typeface="Arial MT"/>
              </a:rPr>
              <a:t> </a:t>
            </a:r>
            <a:r>
              <a:rPr sz="1800" dirty="0">
                <a:solidFill>
                  <a:srgbClr val="595959"/>
                </a:solidFill>
                <a:latin typeface="Arial MT"/>
                <a:cs typeface="Arial MT"/>
              </a:rPr>
              <a:t>y</a:t>
            </a:r>
            <a:r>
              <a:rPr sz="1800" spc="-20" dirty="0">
                <a:solidFill>
                  <a:srgbClr val="595959"/>
                </a:solidFill>
                <a:latin typeface="Arial MT"/>
                <a:cs typeface="Arial MT"/>
              </a:rPr>
              <a:t> </a:t>
            </a:r>
            <a:r>
              <a:rPr sz="1800" dirty="0">
                <a:solidFill>
                  <a:srgbClr val="595959"/>
                </a:solidFill>
                <a:latin typeface="Arial MT"/>
                <a:cs typeface="Arial MT"/>
              </a:rPr>
              <a:t>=</a:t>
            </a:r>
            <a:r>
              <a:rPr sz="1800" spc="-25" dirty="0">
                <a:solidFill>
                  <a:srgbClr val="595959"/>
                </a:solidFill>
                <a:latin typeface="Arial MT"/>
                <a:cs typeface="Arial MT"/>
              </a:rPr>
              <a:t> </a:t>
            </a:r>
            <a:r>
              <a:rPr sz="1800" dirty="0">
                <a:solidFill>
                  <a:srgbClr val="595959"/>
                </a:solidFill>
                <a:latin typeface="Arial MT"/>
                <a:cs typeface="Arial MT"/>
              </a:rPr>
              <a:t>m</a:t>
            </a:r>
            <a:r>
              <a:rPr sz="1800" baseline="-32407" dirty="0">
                <a:solidFill>
                  <a:srgbClr val="595959"/>
                </a:solidFill>
                <a:latin typeface="Arial MT"/>
                <a:cs typeface="Arial MT"/>
              </a:rPr>
              <a:t>1</a:t>
            </a:r>
            <a:r>
              <a:rPr sz="1800" dirty="0">
                <a:solidFill>
                  <a:srgbClr val="595959"/>
                </a:solidFill>
                <a:latin typeface="Arial MT"/>
                <a:cs typeface="Arial MT"/>
              </a:rPr>
              <a:t>x</a:t>
            </a:r>
            <a:r>
              <a:rPr sz="1800" baseline="-32407" dirty="0">
                <a:solidFill>
                  <a:srgbClr val="595959"/>
                </a:solidFill>
                <a:latin typeface="Arial MT"/>
                <a:cs typeface="Arial MT"/>
              </a:rPr>
              <a:t>1</a:t>
            </a:r>
            <a:r>
              <a:rPr sz="1800" dirty="0">
                <a:solidFill>
                  <a:srgbClr val="595959"/>
                </a:solidFill>
                <a:latin typeface="Arial MT"/>
                <a:cs typeface="Arial MT"/>
              </a:rPr>
              <a:t>+m</a:t>
            </a:r>
            <a:r>
              <a:rPr sz="1800" baseline="-32407" dirty="0">
                <a:solidFill>
                  <a:srgbClr val="595959"/>
                </a:solidFill>
                <a:latin typeface="Arial MT"/>
                <a:cs typeface="Arial MT"/>
              </a:rPr>
              <a:t>2</a:t>
            </a:r>
            <a:r>
              <a:rPr sz="1800" dirty="0">
                <a:solidFill>
                  <a:srgbClr val="595959"/>
                </a:solidFill>
                <a:latin typeface="Arial MT"/>
                <a:cs typeface="Arial MT"/>
              </a:rPr>
              <a:t>x</a:t>
            </a:r>
            <a:r>
              <a:rPr sz="1800" baseline="-32407" dirty="0">
                <a:solidFill>
                  <a:srgbClr val="595959"/>
                </a:solidFill>
                <a:latin typeface="Arial MT"/>
                <a:cs typeface="Arial MT"/>
              </a:rPr>
              <a:t>2</a:t>
            </a:r>
            <a:r>
              <a:rPr sz="1800" dirty="0">
                <a:solidFill>
                  <a:srgbClr val="595959"/>
                </a:solidFill>
                <a:latin typeface="Arial MT"/>
                <a:cs typeface="Arial MT"/>
              </a:rPr>
              <a:t>+......+c,</a:t>
            </a:r>
            <a:r>
              <a:rPr sz="1800" spc="-20" dirty="0">
                <a:solidFill>
                  <a:srgbClr val="595959"/>
                </a:solidFill>
                <a:latin typeface="Arial MT"/>
                <a:cs typeface="Arial MT"/>
              </a:rPr>
              <a:t> </a:t>
            </a:r>
            <a:r>
              <a:rPr sz="1800" spc="-10" dirty="0">
                <a:solidFill>
                  <a:srgbClr val="595959"/>
                </a:solidFill>
                <a:latin typeface="Arial MT"/>
                <a:cs typeface="Arial MT"/>
              </a:rPr>
              <a:t>estimating </a:t>
            </a:r>
            <a:r>
              <a:rPr sz="1800" dirty="0">
                <a:solidFill>
                  <a:srgbClr val="595959"/>
                </a:solidFill>
                <a:latin typeface="Arial MT"/>
                <a:cs typeface="Arial MT"/>
              </a:rPr>
              <a:t>m</a:t>
            </a:r>
            <a:r>
              <a:rPr sz="1800" baseline="-32407" dirty="0">
                <a:solidFill>
                  <a:srgbClr val="595959"/>
                </a:solidFill>
                <a:latin typeface="Arial MT"/>
                <a:cs typeface="Arial MT"/>
              </a:rPr>
              <a:t>1</a:t>
            </a:r>
            <a:r>
              <a:rPr sz="1800" dirty="0">
                <a:solidFill>
                  <a:srgbClr val="595959"/>
                </a:solidFill>
                <a:latin typeface="Arial MT"/>
                <a:cs typeface="Arial MT"/>
              </a:rPr>
              <a:t>,m</a:t>
            </a:r>
            <a:r>
              <a:rPr sz="1800" baseline="-32407" dirty="0">
                <a:solidFill>
                  <a:srgbClr val="595959"/>
                </a:solidFill>
                <a:latin typeface="Arial MT"/>
                <a:cs typeface="Arial MT"/>
              </a:rPr>
              <a:t>2</a:t>
            </a:r>
            <a:r>
              <a:rPr sz="1800" spc="195" baseline="-32407" dirty="0">
                <a:solidFill>
                  <a:srgbClr val="595959"/>
                </a:solidFill>
                <a:latin typeface="Arial MT"/>
                <a:cs typeface="Arial MT"/>
              </a:rPr>
              <a:t> </a:t>
            </a:r>
            <a:r>
              <a:rPr sz="1800" spc="-20" dirty="0">
                <a:solidFill>
                  <a:srgbClr val="595959"/>
                </a:solidFill>
                <a:latin typeface="Arial MT"/>
                <a:cs typeface="Arial MT"/>
              </a:rPr>
              <a:t>etc.</a:t>
            </a:r>
            <a:endParaRPr sz="1800" dirty="0">
              <a:latin typeface="Arial MT"/>
              <a:cs typeface="Arial MT"/>
            </a:endParaRPr>
          </a:p>
          <a:p>
            <a:pPr marL="429895" marR="68580" indent="-367030">
              <a:lnSpc>
                <a:spcPct val="114999"/>
              </a:lnSpc>
              <a:spcBef>
                <a:spcPts val="5"/>
              </a:spcBef>
              <a:buChar char="●"/>
              <a:tabLst>
                <a:tab pos="429895" algn="l"/>
              </a:tabLst>
            </a:pPr>
            <a:r>
              <a:rPr sz="1800" dirty="0">
                <a:solidFill>
                  <a:srgbClr val="595959"/>
                </a:solidFill>
                <a:latin typeface="Arial MT"/>
                <a:cs typeface="Arial MT"/>
              </a:rPr>
              <a:t>Then</a:t>
            </a:r>
            <a:r>
              <a:rPr sz="1800" spc="-30" dirty="0">
                <a:solidFill>
                  <a:srgbClr val="595959"/>
                </a:solidFill>
                <a:latin typeface="Arial MT"/>
                <a:cs typeface="Arial MT"/>
              </a:rPr>
              <a:t> </a:t>
            </a:r>
            <a:r>
              <a:rPr sz="1800" dirty="0">
                <a:solidFill>
                  <a:srgbClr val="595959"/>
                </a:solidFill>
                <a:latin typeface="Arial MT"/>
                <a:cs typeface="Arial MT"/>
              </a:rPr>
              <a:t>we</a:t>
            </a:r>
            <a:r>
              <a:rPr sz="1800" spc="-20" dirty="0">
                <a:solidFill>
                  <a:srgbClr val="595959"/>
                </a:solidFill>
                <a:latin typeface="Arial MT"/>
                <a:cs typeface="Arial MT"/>
              </a:rPr>
              <a:t> </a:t>
            </a:r>
            <a:r>
              <a:rPr sz="1800" dirty="0">
                <a:solidFill>
                  <a:srgbClr val="595959"/>
                </a:solidFill>
                <a:latin typeface="Arial MT"/>
                <a:cs typeface="Arial MT"/>
              </a:rPr>
              <a:t>pass</a:t>
            </a:r>
            <a:r>
              <a:rPr sz="1800" spc="-15" dirty="0">
                <a:solidFill>
                  <a:srgbClr val="595959"/>
                </a:solidFill>
                <a:latin typeface="Arial MT"/>
                <a:cs typeface="Arial MT"/>
              </a:rPr>
              <a:t> </a:t>
            </a:r>
            <a:r>
              <a:rPr sz="1800" dirty="0">
                <a:solidFill>
                  <a:srgbClr val="595959"/>
                </a:solidFill>
                <a:latin typeface="Arial MT"/>
                <a:cs typeface="Arial MT"/>
              </a:rPr>
              <a:t>the</a:t>
            </a:r>
            <a:r>
              <a:rPr sz="1800" spc="-20" dirty="0">
                <a:solidFill>
                  <a:srgbClr val="595959"/>
                </a:solidFill>
                <a:latin typeface="Arial MT"/>
                <a:cs typeface="Arial MT"/>
              </a:rPr>
              <a:t> </a:t>
            </a:r>
            <a:r>
              <a:rPr sz="1800" dirty="0" err="1">
                <a:solidFill>
                  <a:srgbClr val="595959"/>
                </a:solidFill>
                <a:latin typeface="Arial MT"/>
                <a:cs typeface="Arial MT"/>
              </a:rPr>
              <a:t>the</a:t>
            </a:r>
            <a:r>
              <a:rPr sz="1800" spc="-15">
                <a:solidFill>
                  <a:srgbClr val="595959"/>
                </a:solidFill>
                <a:latin typeface="Arial MT"/>
                <a:cs typeface="Arial MT"/>
              </a:rPr>
              <a:t> </a:t>
            </a:r>
            <a:r>
              <a:rPr sz="1800" smtClean="0">
                <a:solidFill>
                  <a:srgbClr val="595959"/>
                </a:solidFill>
                <a:latin typeface="Arial MT"/>
                <a:cs typeface="Arial MT"/>
              </a:rPr>
              <a:t>value</a:t>
            </a:r>
            <a:r>
              <a:rPr lang="en-US" sz="1800" smtClean="0">
                <a:solidFill>
                  <a:srgbClr val="595959"/>
                </a:solidFill>
                <a:latin typeface="Arial MT"/>
                <a:cs typeface="Arial MT"/>
              </a:rPr>
              <a:t> of y</a:t>
            </a:r>
            <a:r>
              <a:rPr sz="1800" spc="-20" smtClean="0">
                <a:solidFill>
                  <a:srgbClr val="595959"/>
                </a:solidFill>
                <a:latin typeface="Arial MT"/>
                <a:cs typeface="Arial MT"/>
              </a:rPr>
              <a:t> </a:t>
            </a:r>
            <a:r>
              <a:rPr sz="1800" dirty="0">
                <a:solidFill>
                  <a:srgbClr val="595959"/>
                </a:solidFill>
                <a:latin typeface="Arial MT"/>
                <a:cs typeface="Arial MT"/>
              </a:rPr>
              <a:t>in</a:t>
            </a:r>
            <a:r>
              <a:rPr sz="1800" spc="-15" dirty="0">
                <a:solidFill>
                  <a:srgbClr val="595959"/>
                </a:solidFill>
                <a:latin typeface="Arial MT"/>
                <a:cs typeface="Arial MT"/>
              </a:rPr>
              <a:t> </a:t>
            </a:r>
            <a:r>
              <a:rPr sz="1800" dirty="0">
                <a:solidFill>
                  <a:srgbClr val="595959"/>
                </a:solidFill>
                <a:latin typeface="Arial MT"/>
                <a:cs typeface="Arial MT"/>
              </a:rPr>
              <a:t>the</a:t>
            </a:r>
            <a:r>
              <a:rPr sz="1800" spc="-20" dirty="0">
                <a:solidFill>
                  <a:srgbClr val="595959"/>
                </a:solidFill>
                <a:latin typeface="Arial MT"/>
                <a:cs typeface="Arial MT"/>
              </a:rPr>
              <a:t> </a:t>
            </a:r>
            <a:r>
              <a:rPr sz="1800" dirty="0">
                <a:solidFill>
                  <a:srgbClr val="595959"/>
                </a:solidFill>
                <a:latin typeface="Arial MT"/>
                <a:cs typeface="Arial MT"/>
              </a:rPr>
              <a:t>logistic</a:t>
            </a:r>
            <a:r>
              <a:rPr sz="1800" spc="-15" dirty="0">
                <a:solidFill>
                  <a:srgbClr val="595959"/>
                </a:solidFill>
                <a:latin typeface="Arial MT"/>
                <a:cs typeface="Arial MT"/>
              </a:rPr>
              <a:t> </a:t>
            </a:r>
            <a:r>
              <a:rPr sz="1800" dirty="0">
                <a:solidFill>
                  <a:srgbClr val="595959"/>
                </a:solidFill>
                <a:latin typeface="Arial MT"/>
                <a:cs typeface="Arial MT"/>
              </a:rPr>
              <a:t>regression</a:t>
            </a:r>
            <a:r>
              <a:rPr sz="1800" spc="-20" dirty="0">
                <a:solidFill>
                  <a:srgbClr val="595959"/>
                </a:solidFill>
                <a:latin typeface="Arial MT"/>
                <a:cs typeface="Arial MT"/>
              </a:rPr>
              <a:t> </a:t>
            </a:r>
            <a:r>
              <a:rPr sz="1800" dirty="0">
                <a:solidFill>
                  <a:srgbClr val="595959"/>
                </a:solidFill>
                <a:latin typeface="Arial MT"/>
                <a:cs typeface="Arial MT"/>
              </a:rPr>
              <a:t>model</a:t>
            </a:r>
            <a:r>
              <a:rPr sz="1800" spc="-15" dirty="0">
                <a:solidFill>
                  <a:srgbClr val="595959"/>
                </a:solidFill>
                <a:latin typeface="Arial MT"/>
                <a:cs typeface="Arial MT"/>
              </a:rPr>
              <a:t> </a:t>
            </a:r>
            <a:r>
              <a:rPr sz="1800" spc="-10" dirty="0">
                <a:solidFill>
                  <a:srgbClr val="595959"/>
                </a:solidFill>
                <a:latin typeface="Arial MT"/>
                <a:cs typeface="Arial MT"/>
              </a:rPr>
              <a:t>function(sigmoid </a:t>
            </a:r>
            <a:r>
              <a:rPr sz="1800" dirty="0">
                <a:solidFill>
                  <a:srgbClr val="595959"/>
                </a:solidFill>
                <a:latin typeface="Arial MT"/>
                <a:cs typeface="Arial MT"/>
              </a:rPr>
              <a:t>function),</a:t>
            </a:r>
            <a:r>
              <a:rPr sz="1800" spc="-20" dirty="0">
                <a:solidFill>
                  <a:srgbClr val="595959"/>
                </a:solidFill>
                <a:latin typeface="Arial MT"/>
                <a:cs typeface="Arial MT"/>
              </a:rPr>
              <a:t> </a:t>
            </a:r>
            <a:r>
              <a:rPr sz="1800" dirty="0">
                <a:solidFill>
                  <a:srgbClr val="595959"/>
                </a:solidFill>
                <a:latin typeface="Arial MT"/>
                <a:cs typeface="Arial MT"/>
              </a:rPr>
              <a:t>that</a:t>
            </a:r>
            <a:r>
              <a:rPr sz="1800" spc="-15" dirty="0">
                <a:solidFill>
                  <a:srgbClr val="595959"/>
                </a:solidFill>
                <a:latin typeface="Arial MT"/>
                <a:cs typeface="Arial MT"/>
              </a:rPr>
              <a:t> </a:t>
            </a:r>
            <a:r>
              <a:rPr sz="1800" dirty="0">
                <a:solidFill>
                  <a:srgbClr val="595959"/>
                </a:solidFill>
                <a:latin typeface="Arial MT"/>
                <a:cs typeface="Arial MT"/>
              </a:rPr>
              <a:t>is</a:t>
            </a:r>
            <a:r>
              <a:rPr sz="1800" spc="-20" dirty="0">
                <a:solidFill>
                  <a:srgbClr val="595959"/>
                </a:solidFill>
                <a:latin typeface="Arial MT"/>
                <a:cs typeface="Arial MT"/>
              </a:rPr>
              <a:t> </a:t>
            </a:r>
            <a:r>
              <a:rPr sz="1800" dirty="0">
                <a:solidFill>
                  <a:srgbClr val="595959"/>
                </a:solidFill>
                <a:latin typeface="Arial MT"/>
                <a:cs typeface="Arial MT"/>
              </a:rPr>
              <a:t>P(y=1)</a:t>
            </a:r>
            <a:r>
              <a:rPr sz="1800" spc="-15" dirty="0">
                <a:solidFill>
                  <a:srgbClr val="595959"/>
                </a:solidFill>
                <a:latin typeface="Arial MT"/>
                <a:cs typeface="Arial MT"/>
              </a:rPr>
              <a:t> </a:t>
            </a:r>
            <a:r>
              <a:rPr sz="1800" dirty="0">
                <a:solidFill>
                  <a:srgbClr val="595959"/>
                </a:solidFill>
                <a:latin typeface="Arial MT"/>
                <a:cs typeface="Arial MT"/>
              </a:rPr>
              <a:t>=</a:t>
            </a:r>
            <a:r>
              <a:rPr sz="1800" spc="-15" dirty="0">
                <a:solidFill>
                  <a:srgbClr val="595959"/>
                </a:solidFill>
                <a:latin typeface="Arial MT"/>
                <a:cs typeface="Arial MT"/>
              </a:rPr>
              <a:t> </a:t>
            </a:r>
            <a:r>
              <a:rPr sz="1800" dirty="0">
                <a:solidFill>
                  <a:srgbClr val="595959"/>
                </a:solidFill>
                <a:latin typeface="Arial MT"/>
                <a:cs typeface="Arial MT"/>
              </a:rPr>
              <a:t>1/(1+e</a:t>
            </a:r>
            <a:r>
              <a:rPr sz="1800" baseline="30092" dirty="0">
                <a:solidFill>
                  <a:srgbClr val="595959"/>
                </a:solidFill>
                <a:latin typeface="Arial MT"/>
                <a:cs typeface="Arial MT"/>
              </a:rPr>
              <a:t>-</a:t>
            </a:r>
            <a:r>
              <a:rPr sz="1800" spc="-37" baseline="30092" dirty="0">
                <a:solidFill>
                  <a:srgbClr val="595959"/>
                </a:solidFill>
                <a:latin typeface="Arial MT"/>
                <a:cs typeface="Arial MT"/>
              </a:rPr>
              <a:t>y</a:t>
            </a:r>
            <a:r>
              <a:rPr sz="1800" spc="-25" dirty="0">
                <a:solidFill>
                  <a:srgbClr val="595959"/>
                </a:solidFill>
                <a:latin typeface="Arial MT"/>
                <a:cs typeface="Arial MT"/>
              </a:rPr>
              <a:t>)</a:t>
            </a:r>
            <a:endParaRPr sz="1800">
              <a:latin typeface="Arial MT"/>
              <a:cs typeface="Arial MT"/>
            </a:endParaRPr>
          </a:p>
          <a:p>
            <a:pPr marL="887094" marR="374650" lvl="1" indent="-336550">
              <a:lnSpc>
                <a:spcPct val="114999"/>
              </a:lnSpc>
              <a:spcBef>
                <a:spcPts val="85"/>
              </a:spcBef>
              <a:buChar char="○"/>
              <a:tabLst>
                <a:tab pos="887094" algn="l"/>
              </a:tabLst>
            </a:pPr>
            <a:r>
              <a:rPr sz="1400" dirty="0">
                <a:solidFill>
                  <a:srgbClr val="595959"/>
                </a:solidFill>
                <a:latin typeface="Arial MT"/>
                <a:cs typeface="Arial MT"/>
              </a:rPr>
              <a:t>The</a:t>
            </a:r>
            <a:r>
              <a:rPr sz="1400" spc="-15" dirty="0">
                <a:solidFill>
                  <a:srgbClr val="595959"/>
                </a:solidFill>
                <a:latin typeface="Arial MT"/>
                <a:cs typeface="Arial MT"/>
              </a:rPr>
              <a:t> </a:t>
            </a:r>
            <a:r>
              <a:rPr sz="1400" dirty="0">
                <a:solidFill>
                  <a:srgbClr val="595959"/>
                </a:solidFill>
                <a:latin typeface="Arial MT"/>
                <a:cs typeface="Arial MT"/>
              </a:rPr>
              <a:t>value</a:t>
            </a:r>
            <a:r>
              <a:rPr sz="1400" spc="-15" dirty="0">
                <a:solidFill>
                  <a:srgbClr val="595959"/>
                </a:solidFill>
                <a:latin typeface="Arial MT"/>
                <a:cs typeface="Arial MT"/>
              </a:rPr>
              <a:t> </a:t>
            </a:r>
            <a:r>
              <a:rPr sz="1400" dirty="0">
                <a:solidFill>
                  <a:srgbClr val="595959"/>
                </a:solidFill>
                <a:latin typeface="Arial MT"/>
                <a:cs typeface="Arial MT"/>
              </a:rPr>
              <a:t>of</a:t>
            </a:r>
            <a:r>
              <a:rPr sz="1400" spc="-15" dirty="0">
                <a:solidFill>
                  <a:srgbClr val="595959"/>
                </a:solidFill>
                <a:latin typeface="Arial MT"/>
                <a:cs typeface="Arial MT"/>
              </a:rPr>
              <a:t> </a:t>
            </a:r>
            <a:r>
              <a:rPr sz="1400" dirty="0">
                <a:solidFill>
                  <a:srgbClr val="595959"/>
                </a:solidFill>
                <a:latin typeface="Arial MT"/>
                <a:cs typeface="Arial MT"/>
              </a:rPr>
              <a:t>P(y=1)</a:t>
            </a:r>
            <a:r>
              <a:rPr sz="1400" spc="-15" dirty="0">
                <a:solidFill>
                  <a:srgbClr val="595959"/>
                </a:solidFill>
                <a:latin typeface="Arial MT"/>
                <a:cs typeface="Arial MT"/>
              </a:rPr>
              <a:t> </a:t>
            </a:r>
            <a:r>
              <a:rPr sz="1400" dirty="0">
                <a:solidFill>
                  <a:srgbClr val="595959"/>
                </a:solidFill>
                <a:latin typeface="Arial MT"/>
                <a:cs typeface="Arial MT"/>
              </a:rPr>
              <a:t>is</a:t>
            </a:r>
            <a:r>
              <a:rPr sz="1400" spc="-15" dirty="0">
                <a:solidFill>
                  <a:srgbClr val="595959"/>
                </a:solidFill>
                <a:latin typeface="Arial MT"/>
                <a:cs typeface="Arial MT"/>
              </a:rPr>
              <a:t> </a:t>
            </a:r>
            <a:r>
              <a:rPr sz="1400" dirty="0">
                <a:solidFill>
                  <a:srgbClr val="595959"/>
                </a:solidFill>
                <a:latin typeface="Arial MT"/>
                <a:cs typeface="Arial MT"/>
              </a:rPr>
              <a:t>the</a:t>
            </a:r>
            <a:r>
              <a:rPr sz="1400" spc="-20" dirty="0">
                <a:solidFill>
                  <a:srgbClr val="595959"/>
                </a:solidFill>
                <a:latin typeface="Arial MT"/>
                <a:cs typeface="Arial MT"/>
              </a:rPr>
              <a:t> </a:t>
            </a:r>
            <a:r>
              <a:rPr sz="1400" dirty="0">
                <a:solidFill>
                  <a:srgbClr val="595959"/>
                </a:solidFill>
                <a:latin typeface="Arial MT"/>
                <a:cs typeface="Arial MT"/>
              </a:rPr>
              <a:t>probability</a:t>
            </a:r>
            <a:r>
              <a:rPr sz="1400" spc="-15" dirty="0">
                <a:solidFill>
                  <a:srgbClr val="595959"/>
                </a:solidFill>
                <a:latin typeface="Arial MT"/>
                <a:cs typeface="Arial MT"/>
              </a:rPr>
              <a:t> </a:t>
            </a:r>
            <a:r>
              <a:rPr sz="1400" dirty="0">
                <a:solidFill>
                  <a:srgbClr val="595959"/>
                </a:solidFill>
                <a:latin typeface="Arial MT"/>
                <a:cs typeface="Arial MT"/>
              </a:rPr>
              <a:t>value</a:t>
            </a:r>
            <a:r>
              <a:rPr sz="1400" spc="-15" dirty="0">
                <a:solidFill>
                  <a:srgbClr val="595959"/>
                </a:solidFill>
                <a:latin typeface="Arial MT"/>
                <a:cs typeface="Arial MT"/>
              </a:rPr>
              <a:t> </a:t>
            </a:r>
            <a:r>
              <a:rPr sz="1400" dirty="0">
                <a:solidFill>
                  <a:srgbClr val="595959"/>
                </a:solidFill>
                <a:latin typeface="Arial MT"/>
                <a:cs typeface="Arial MT"/>
              </a:rPr>
              <a:t>of</a:t>
            </a:r>
            <a:r>
              <a:rPr sz="1400" spc="-15" dirty="0">
                <a:solidFill>
                  <a:srgbClr val="595959"/>
                </a:solidFill>
                <a:latin typeface="Arial MT"/>
                <a:cs typeface="Arial MT"/>
              </a:rPr>
              <a:t> </a:t>
            </a:r>
            <a:r>
              <a:rPr sz="1400" dirty="0">
                <a:solidFill>
                  <a:srgbClr val="595959"/>
                </a:solidFill>
                <a:latin typeface="Arial MT"/>
                <a:cs typeface="Arial MT"/>
              </a:rPr>
              <a:t>y</a:t>
            </a:r>
            <a:r>
              <a:rPr sz="1400" spc="-15" dirty="0">
                <a:solidFill>
                  <a:srgbClr val="595959"/>
                </a:solidFill>
                <a:latin typeface="Arial MT"/>
                <a:cs typeface="Arial MT"/>
              </a:rPr>
              <a:t> </a:t>
            </a:r>
            <a:r>
              <a:rPr sz="1400" dirty="0">
                <a:solidFill>
                  <a:srgbClr val="595959"/>
                </a:solidFill>
                <a:latin typeface="Arial MT"/>
                <a:cs typeface="Arial MT"/>
              </a:rPr>
              <a:t>becoming</a:t>
            </a:r>
            <a:r>
              <a:rPr sz="1400" spc="-15" dirty="0">
                <a:solidFill>
                  <a:srgbClr val="595959"/>
                </a:solidFill>
                <a:latin typeface="Arial MT"/>
                <a:cs typeface="Arial MT"/>
              </a:rPr>
              <a:t> </a:t>
            </a:r>
            <a:r>
              <a:rPr sz="1400" dirty="0">
                <a:solidFill>
                  <a:srgbClr val="595959"/>
                </a:solidFill>
                <a:latin typeface="Arial MT"/>
                <a:cs typeface="Arial MT"/>
              </a:rPr>
              <a:t>1,</a:t>
            </a:r>
            <a:r>
              <a:rPr sz="1400" spc="-15" dirty="0">
                <a:solidFill>
                  <a:srgbClr val="595959"/>
                </a:solidFill>
                <a:latin typeface="Arial MT"/>
                <a:cs typeface="Arial MT"/>
              </a:rPr>
              <a:t> </a:t>
            </a:r>
            <a:r>
              <a:rPr sz="1400" dirty="0">
                <a:solidFill>
                  <a:srgbClr val="595959"/>
                </a:solidFill>
                <a:latin typeface="Arial MT"/>
                <a:cs typeface="Arial MT"/>
              </a:rPr>
              <a:t>ranging</a:t>
            </a:r>
            <a:r>
              <a:rPr sz="1400" spc="-15" dirty="0">
                <a:solidFill>
                  <a:srgbClr val="595959"/>
                </a:solidFill>
                <a:latin typeface="Arial MT"/>
                <a:cs typeface="Arial MT"/>
              </a:rPr>
              <a:t> </a:t>
            </a:r>
            <a:r>
              <a:rPr sz="1400" dirty="0">
                <a:solidFill>
                  <a:srgbClr val="595959"/>
                </a:solidFill>
                <a:latin typeface="Arial MT"/>
                <a:cs typeface="Arial MT"/>
              </a:rPr>
              <a:t>from</a:t>
            </a:r>
            <a:r>
              <a:rPr sz="1400" spc="-15" dirty="0">
                <a:solidFill>
                  <a:srgbClr val="595959"/>
                </a:solidFill>
                <a:latin typeface="Arial MT"/>
                <a:cs typeface="Arial MT"/>
              </a:rPr>
              <a:t> </a:t>
            </a:r>
            <a:r>
              <a:rPr sz="1400" dirty="0">
                <a:solidFill>
                  <a:srgbClr val="595959"/>
                </a:solidFill>
                <a:latin typeface="Arial MT"/>
                <a:cs typeface="Arial MT"/>
              </a:rPr>
              <a:t>0(exclusive)</a:t>
            </a:r>
            <a:r>
              <a:rPr sz="1400" spc="-15" dirty="0">
                <a:solidFill>
                  <a:srgbClr val="595959"/>
                </a:solidFill>
                <a:latin typeface="Arial MT"/>
                <a:cs typeface="Arial MT"/>
              </a:rPr>
              <a:t> </a:t>
            </a:r>
            <a:r>
              <a:rPr sz="1400" spc="-25" dirty="0">
                <a:solidFill>
                  <a:srgbClr val="595959"/>
                </a:solidFill>
                <a:latin typeface="Arial MT"/>
                <a:cs typeface="Arial MT"/>
              </a:rPr>
              <a:t>to </a:t>
            </a:r>
            <a:r>
              <a:rPr sz="1400" spc="-10" dirty="0">
                <a:solidFill>
                  <a:srgbClr val="595959"/>
                </a:solidFill>
                <a:latin typeface="Arial MT"/>
                <a:cs typeface="Arial MT"/>
              </a:rPr>
              <a:t>1(exclusive).</a:t>
            </a:r>
            <a:endParaRPr sz="1400" dirty="0">
              <a:latin typeface="Arial MT"/>
              <a:cs typeface="Arial MT"/>
            </a:endParaRPr>
          </a:p>
          <a:p>
            <a:pPr marL="887094" lvl="1" indent="-335915">
              <a:lnSpc>
                <a:spcPct val="100000"/>
              </a:lnSpc>
              <a:spcBef>
                <a:spcPts val="254"/>
              </a:spcBef>
              <a:buChar char="○"/>
              <a:tabLst>
                <a:tab pos="887094" algn="l"/>
              </a:tabLst>
            </a:pPr>
            <a:r>
              <a:rPr sz="1400" dirty="0">
                <a:solidFill>
                  <a:srgbClr val="595959"/>
                </a:solidFill>
                <a:latin typeface="Arial MT"/>
                <a:cs typeface="Arial MT"/>
              </a:rPr>
              <a:t>The</a:t>
            </a:r>
            <a:r>
              <a:rPr sz="1400" spc="-25" dirty="0">
                <a:solidFill>
                  <a:srgbClr val="595959"/>
                </a:solidFill>
                <a:latin typeface="Arial MT"/>
                <a:cs typeface="Arial MT"/>
              </a:rPr>
              <a:t> </a:t>
            </a:r>
            <a:r>
              <a:rPr sz="1400" dirty="0">
                <a:solidFill>
                  <a:srgbClr val="595959"/>
                </a:solidFill>
                <a:latin typeface="Arial MT"/>
                <a:cs typeface="Arial MT"/>
              </a:rPr>
              <a:t>value</a:t>
            </a:r>
            <a:r>
              <a:rPr sz="1400" spc="-15" dirty="0">
                <a:solidFill>
                  <a:srgbClr val="595959"/>
                </a:solidFill>
                <a:latin typeface="Arial MT"/>
                <a:cs typeface="Arial MT"/>
              </a:rPr>
              <a:t> </a:t>
            </a:r>
            <a:r>
              <a:rPr sz="1400" dirty="0">
                <a:solidFill>
                  <a:srgbClr val="595959"/>
                </a:solidFill>
                <a:latin typeface="Arial MT"/>
                <a:cs typeface="Arial MT"/>
              </a:rPr>
              <a:t>denotes</a:t>
            </a:r>
            <a:r>
              <a:rPr sz="1400" spc="-15" dirty="0">
                <a:solidFill>
                  <a:srgbClr val="595959"/>
                </a:solidFill>
                <a:latin typeface="Arial MT"/>
                <a:cs typeface="Arial MT"/>
              </a:rPr>
              <a:t> </a:t>
            </a:r>
            <a:r>
              <a:rPr sz="1400" dirty="0">
                <a:solidFill>
                  <a:srgbClr val="595959"/>
                </a:solidFill>
                <a:latin typeface="Arial MT"/>
                <a:cs typeface="Arial MT"/>
              </a:rPr>
              <a:t>the</a:t>
            </a:r>
            <a:r>
              <a:rPr sz="1400" spc="-15" dirty="0">
                <a:solidFill>
                  <a:srgbClr val="595959"/>
                </a:solidFill>
                <a:latin typeface="Arial MT"/>
                <a:cs typeface="Arial MT"/>
              </a:rPr>
              <a:t> </a:t>
            </a:r>
            <a:r>
              <a:rPr sz="1400" dirty="0">
                <a:solidFill>
                  <a:srgbClr val="595959"/>
                </a:solidFill>
                <a:latin typeface="Arial MT"/>
                <a:cs typeface="Arial MT"/>
              </a:rPr>
              <a:t>probability</a:t>
            </a:r>
            <a:r>
              <a:rPr sz="1400" spc="-15" dirty="0">
                <a:solidFill>
                  <a:srgbClr val="595959"/>
                </a:solidFill>
                <a:latin typeface="Arial MT"/>
                <a:cs typeface="Arial MT"/>
              </a:rPr>
              <a:t> </a:t>
            </a:r>
            <a:r>
              <a:rPr sz="1400" dirty="0">
                <a:solidFill>
                  <a:srgbClr val="595959"/>
                </a:solidFill>
                <a:latin typeface="Arial MT"/>
                <a:cs typeface="Arial MT"/>
              </a:rPr>
              <a:t>of</a:t>
            </a:r>
            <a:r>
              <a:rPr sz="1400" spc="-15" dirty="0">
                <a:solidFill>
                  <a:srgbClr val="595959"/>
                </a:solidFill>
                <a:latin typeface="Arial MT"/>
                <a:cs typeface="Arial MT"/>
              </a:rPr>
              <a:t> </a:t>
            </a:r>
            <a:r>
              <a:rPr sz="1400" dirty="0">
                <a:solidFill>
                  <a:srgbClr val="595959"/>
                </a:solidFill>
                <a:latin typeface="Arial MT"/>
                <a:cs typeface="Arial MT"/>
              </a:rPr>
              <a:t>any</a:t>
            </a:r>
            <a:r>
              <a:rPr sz="1400" spc="-15" dirty="0">
                <a:solidFill>
                  <a:srgbClr val="595959"/>
                </a:solidFill>
                <a:latin typeface="Arial MT"/>
                <a:cs typeface="Arial MT"/>
              </a:rPr>
              <a:t> </a:t>
            </a:r>
            <a:r>
              <a:rPr sz="1400" dirty="0">
                <a:solidFill>
                  <a:srgbClr val="595959"/>
                </a:solidFill>
                <a:latin typeface="Arial MT"/>
                <a:cs typeface="Arial MT"/>
              </a:rPr>
              <a:t>data</a:t>
            </a:r>
            <a:r>
              <a:rPr sz="1400" spc="-15" dirty="0">
                <a:solidFill>
                  <a:srgbClr val="595959"/>
                </a:solidFill>
                <a:latin typeface="Arial MT"/>
                <a:cs typeface="Arial MT"/>
              </a:rPr>
              <a:t> </a:t>
            </a:r>
            <a:r>
              <a:rPr sz="1400" dirty="0">
                <a:solidFill>
                  <a:srgbClr val="595959"/>
                </a:solidFill>
                <a:latin typeface="Arial MT"/>
                <a:cs typeface="Arial MT"/>
              </a:rPr>
              <a:t>belonging</a:t>
            </a:r>
            <a:r>
              <a:rPr sz="1400" spc="-15" dirty="0">
                <a:solidFill>
                  <a:srgbClr val="595959"/>
                </a:solidFill>
                <a:latin typeface="Arial MT"/>
                <a:cs typeface="Arial MT"/>
              </a:rPr>
              <a:t> </a:t>
            </a:r>
            <a:r>
              <a:rPr sz="1400" dirty="0">
                <a:solidFill>
                  <a:srgbClr val="595959"/>
                </a:solidFill>
                <a:latin typeface="Arial MT"/>
                <a:cs typeface="Arial MT"/>
              </a:rPr>
              <a:t>to</a:t>
            </a:r>
            <a:r>
              <a:rPr sz="1400" spc="-15" dirty="0">
                <a:solidFill>
                  <a:srgbClr val="595959"/>
                </a:solidFill>
                <a:latin typeface="Arial MT"/>
                <a:cs typeface="Arial MT"/>
              </a:rPr>
              <a:t> </a:t>
            </a:r>
            <a:r>
              <a:rPr sz="1400" dirty="0">
                <a:solidFill>
                  <a:srgbClr val="595959"/>
                </a:solidFill>
                <a:latin typeface="Arial MT"/>
                <a:cs typeface="Arial MT"/>
              </a:rPr>
              <a:t>class</a:t>
            </a:r>
            <a:r>
              <a:rPr sz="1400" spc="-10" dirty="0">
                <a:solidFill>
                  <a:srgbClr val="595959"/>
                </a:solidFill>
                <a:latin typeface="Arial MT"/>
                <a:cs typeface="Arial MT"/>
              </a:rPr>
              <a:t> </a:t>
            </a:r>
            <a:r>
              <a:rPr sz="1400" spc="-50" dirty="0">
                <a:solidFill>
                  <a:srgbClr val="595959"/>
                </a:solidFill>
                <a:latin typeface="Arial MT"/>
                <a:cs typeface="Arial MT"/>
              </a:rPr>
              <a:t>1</a:t>
            </a:r>
            <a:endParaRPr sz="1400" dirty="0">
              <a:latin typeface="Arial MT"/>
              <a:cs typeface="Arial MT"/>
            </a:endParaRPr>
          </a:p>
          <a:p>
            <a:pPr marL="887094" lvl="1" indent="-335915">
              <a:lnSpc>
                <a:spcPct val="100000"/>
              </a:lnSpc>
              <a:spcBef>
                <a:spcPts val="250"/>
              </a:spcBef>
              <a:buChar char="○"/>
              <a:tabLst>
                <a:tab pos="887094" algn="l"/>
              </a:tabLst>
            </a:pPr>
            <a:r>
              <a:rPr sz="1400" dirty="0">
                <a:solidFill>
                  <a:srgbClr val="595959"/>
                </a:solidFill>
                <a:latin typeface="Arial MT"/>
                <a:cs typeface="Arial MT"/>
              </a:rPr>
              <a:t>If</a:t>
            </a:r>
            <a:r>
              <a:rPr sz="1400" spc="-15" dirty="0">
                <a:solidFill>
                  <a:srgbClr val="595959"/>
                </a:solidFill>
                <a:latin typeface="Arial MT"/>
                <a:cs typeface="Arial MT"/>
              </a:rPr>
              <a:t> </a:t>
            </a:r>
            <a:r>
              <a:rPr sz="1400" dirty="0">
                <a:solidFill>
                  <a:srgbClr val="595959"/>
                </a:solidFill>
                <a:latin typeface="Arial MT"/>
                <a:cs typeface="Arial MT"/>
              </a:rPr>
              <a:t>P</a:t>
            </a:r>
            <a:r>
              <a:rPr sz="1400" spc="-40" dirty="0">
                <a:solidFill>
                  <a:srgbClr val="595959"/>
                </a:solidFill>
                <a:latin typeface="Arial MT"/>
                <a:cs typeface="Arial MT"/>
              </a:rPr>
              <a:t> </a:t>
            </a:r>
            <a:r>
              <a:rPr sz="1400" dirty="0">
                <a:solidFill>
                  <a:srgbClr val="595959"/>
                </a:solidFill>
                <a:latin typeface="Arial MT"/>
                <a:cs typeface="Arial MT"/>
              </a:rPr>
              <a:t>&gt;=</a:t>
            </a:r>
            <a:r>
              <a:rPr sz="1400" spc="-15" dirty="0">
                <a:solidFill>
                  <a:srgbClr val="595959"/>
                </a:solidFill>
                <a:latin typeface="Arial MT"/>
                <a:cs typeface="Arial MT"/>
              </a:rPr>
              <a:t> </a:t>
            </a:r>
            <a:r>
              <a:rPr sz="1400" dirty="0">
                <a:solidFill>
                  <a:srgbClr val="595959"/>
                </a:solidFill>
                <a:latin typeface="Arial MT"/>
                <a:cs typeface="Arial MT"/>
              </a:rPr>
              <a:t>.5,</a:t>
            </a:r>
            <a:r>
              <a:rPr sz="1400" spc="-10" dirty="0">
                <a:solidFill>
                  <a:srgbClr val="595959"/>
                </a:solidFill>
                <a:latin typeface="Arial MT"/>
                <a:cs typeface="Arial MT"/>
              </a:rPr>
              <a:t> </a:t>
            </a:r>
            <a:r>
              <a:rPr sz="1400" dirty="0">
                <a:solidFill>
                  <a:srgbClr val="595959"/>
                </a:solidFill>
                <a:latin typeface="Arial MT"/>
                <a:cs typeface="Arial MT"/>
              </a:rPr>
              <a:t>then</a:t>
            </a:r>
            <a:r>
              <a:rPr sz="1400" spc="-15" dirty="0">
                <a:solidFill>
                  <a:srgbClr val="595959"/>
                </a:solidFill>
                <a:latin typeface="Arial MT"/>
                <a:cs typeface="Arial MT"/>
              </a:rPr>
              <a:t> </a:t>
            </a:r>
            <a:r>
              <a:rPr sz="1400" dirty="0">
                <a:solidFill>
                  <a:srgbClr val="595959"/>
                </a:solidFill>
                <a:latin typeface="Arial MT"/>
                <a:cs typeface="Arial MT"/>
              </a:rPr>
              <a:t>the</a:t>
            </a:r>
            <a:r>
              <a:rPr sz="1400" spc="-15" dirty="0">
                <a:solidFill>
                  <a:srgbClr val="595959"/>
                </a:solidFill>
                <a:latin typeface="Arial MT"/>
                <a:cs typeface="Arial MT"/>
              </a:rPr>
              <a:t> </a:t>
            </a:r>
            <a:r>
              <a:rPr sz="1400" dirty="0">
                <a:solidFill>
                  <a:srgbClr val="595959"/>
                </a:solidFill>
                <a:latin typeface="Arial MT"/>
                <a:cs typeface="Arial MT"/>
              </a:rPr>
              <a:t>instance</a:t>
            </a:r>
            <a:r>
              <a:rPr sz="1400" spc="-15" dirty="0">
                <a:solidFill>
                  <a:srgbClr val="595959"/>
                </a:solidFill>
                <a:latin typeface="Arial MT"/>
                <a:cs typeface="Arial MT"/>
              </a:rPr>
              <a:t> </a:t>
            </a:r>
            <a:r>
              <a:rPr sz="1400" dirty="0">
                <a:solidFill>
                  <a:srgbClr val="595959"/>
                </a:solidFill>
                <a:latin typeface="Arial MT"/>
                <a:cs typeface="Arial MT"/>
              </a:rPr>
              <a:t>belongs</a:t>
            </a:r>
            <a:r>
              <a:rPr sz="1400" spc="-15" dirty="0">
                <a:solidFill>
                  <a:srgbClr val="595959"/>
                </a:solidFill>
                <a:latin typeface="Arial MT"/>
                <a:cs typeface="Arial MT"/>
              </a:rPr>
              <a:t> </a:t>
            </a:r>
            <a:r>
              <a:rPr sz="1400" dirty="0">
                <a:solidFill>
                  <a:srgbClr val="595959"/>
                </a:solidFill>
                <a:latin typeface="Arial MT"/>
                <a:cs typeface="Arial MT"/>
              </a:rPr>
              <a:t>to</a:t>
            </a:r>
            <a:r>
              <a:rPr sz="1400" spc="-10" dirty="0">
                <a:solidFill>
                  <a:srgbClr val="595959"/>
                </a:solidFill>
                <a:latin typeface="Arial MT"/>
                <a:cs typeface="Arial MT"/>
              </a:rPr>
              <a:t> </a:t>
            </a:r>
            <a:r>
              <a:rPr sz="1400" dirty="0">
                <a:solidFill>
                  <a:srgbClr val="595959"/>
                </a:solidFill>
                <a:latin typeface="Arial MT"/>
                <a:cs typeface="Arial MT"/>
              </a:rPr>
              <a:t>class</a:t>
            </a:r>
            <a:r>
              <a:rPr sz="1400" spc="-15" dirty="0">
                <a:solidFill>
                  <a:srgbClr val="595959"/>
                </a:solidFill>
                <a:latin typeface="Arial MT"/>
                <a:cs typeface="Arial MT"/>
              </a:rPr>
              <a:t> </a:t>
            </a:r>
            <a:r>
              <a:rPr sz="1400" dirty="0">
                <a:solidFill>
                  <a:srgbClr val="595959"/>
                </a:solidFill>
                <a:latin typeface="Arial MT"/>
                <a:cs typeface="Arial MT"/>
              </a:rPr>
              <a:t>1,</a:t>
            </a:r>
            <a:r>
              <a:rPr sz="1400" spc="-15" dirty="0">
                <a:solidFill>
                  <a:srgbClr val="595959"/>
                </a:solidFill>
                <a:latin typeface="Arial MT"/>
                <a:cs typeface="Arial MT"/>
              </a:rPr>
              <a:t> </a:t>
            </a:r>
            <a:r>
              <a:rPr sz="1400" dirty="0">
                <a:solidFill>
                  <a:srgbClr val="595959"/>
                </a:solidFill>
                <a:latin typeface="Arial MT"/>
                <a:cs typeface="Arial MT"/>
              </a:rPr>
              <a:t>else</a:t>
            </a:r>
            <a:r>
              <a:rPr sz="1400" spc="-15" dirty="0">
                <a:solidFill>
                  <a:srgbClr val="595959"/>
                </a:solidFill>
                <a:latin typeface="Arial MT"/>
                <a:cs typeface="Arial MT"/>
              </a:rPr>
              <a:t> </a:t>
            </a:r>
            <a:r>
              <a:rPr sz="1400" dirty="0">
                <a:solidFill>
                  <a:srgbClr val="595959"/>
                </a:solidFill>
                <a:latin typeface="Arial MT"/>
                <a:cs typeface="Arial MT"/>
              </a:rPr>
              <a:t>class</a:t>
            </a:r>
            <a:r>
              <a:rPr sz="1400" spc="-10" dirty="0">
                <a:solidFill>
                  <a:srgbClr val="595959"/>
                </a:solidFill>
                <a:latin typeface="Arial MT"/>
                <a:cs typeface="Arial MT"/>
              </a:rPr>
              <a:t> </a:t>
            </a:r>
            <a:r>
              <a:rPr sz="1400" spc="-25" dirty="0">
                <a:solidFill>
                  <a:srgbClr val="595959"/>
                </a:solidFill>
                <a:latin typeface="Arial MT"/>
                <a:cs typeface="Arial MT"/>
              </a:rPr>
              <a:t>2.</a:t>
            </a:r>
            <a:endParaRPr sz="1400" dirty="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1690" rIns="0" bIns="0" rtlCol="0">
            <a:spAutoFit/>
          </a:bodyPr>
          <a:lstStyle/>
          <a:p>
            <a:pPr marL="12700">
              <a:lnSpc>
                <a:spcPct val="100000"/>
              </a:lnSpc>
              <a:spcBef>
                <a:spcPts val="120"/>
              </a:spcBef>
            </a:pPr>
            <a:r>
              <a:rPr dirty="0"/>
              <a:t>Sigmoid</a:t>
            </a:r>
            <a:r>
              <a:rPr spc="60" dirty="0"/>
              <a:t> </a:t>
            </a:r>
            <a:r>
              <a:rPr spc="-10" dirty="0"/>
              <a:t>Function</a:t>
            </a:r>
          </a:p>
        </p:txBody>
      </p:sp>
      <p:sp>
        <p:nvSpPr>
          <p:cNvPr id="3" name="object 3"/>
          <p:cNvSpPr txBox="1"/>
          <p:nvPr/>
        </p:nvSpPr>
        <p:spPr>
          <a:xfrm>
            <a:off x="384725" y="1175208"/>
            <a:ext cx="8365490" cy="2549525"/>
          </a:xfrm>
          <a:prstGeom prst="rect">
            <a:avLst/>
          </a:prstGeom>
        </p:spPr>
        <p:txBody>
          <a:bodyPr vert="horz" wrap="square" lIns="0" tIns="12700" rIns="0" bIns="0" rtlCol="0">
            <a:spAutoFit/>
          </a:bodyPr>
          <a:lstStyle/>
          <a:p>
            <a:pPr marL="12700" marR="357505">
              <a:lnSpc>
                <a:spcPct val="114999"/>
              </a:lnSpc>
              <a:spcBef>
                <a:spcPts val="100"/>
              </a:spcBef>
            </a:pPr>
            <a:r>
              <a:rPr sz="1800" dirty="0">
                <a:solidFill>
                  <a:srgbClr val="595959"/>
                </a:solidFill>
                <a:latin typeface="Arial MT"/>
                <a:cs typeface="Arial MT"/>
              </a:rPr>
              <a:t>Sigmoid</a:t>
            </a:r>
            <a:r>
              <a:rPr sz="1800" spc="-20" dirty="0">
                <a:solidFill>
                  <a:srgbClr val="595959"/>
                </a:solidFill>
                <a:latin typeface="Arial MT"/>
                <a:cs typeface="Arial MT"/>
              </a:rPr>
              <a:t> </a:t>
            </a:r>
            <a:r>
              <a:rPr sz="1800" dirty="0">
                <a:solidFill>
                  <a:srgbClr val="595959"/>
                </a:solidFill>
                <a:latin typeface="Arial MT"/>
                <a:cs typeface="Arial MT"/>
              </a:rPr>
              <a:t>is</a:t>
            </a:r>
            <a:r>
              <a:rPr sz="1800" spc="-15" dirty="0">
                <a:solidFill>
                  <a:srgbClr val="595959"/>
                </a:solidFill>
                <a:latin typeface="Arial MT"/>
                <a:cs typeface="Arial MT"/>
              </a:rPr>
              <a:t> </a:t>
            </a:r>
            <a:r>
              <a:rPr sz="1800" dirty="0">
                <a:solidFill>
                  <a:srgbClr val="595959"/>
                </a:solidFill>
                <a:latin typeface="Arial MT"/>
                <a:cs typeface="Arial MT"/>
              </a:rPr>
              <a:t>a</a:t>
            </a:r>
            <a:r>
              <a:rPr sz="1800" spc="-20" dirty="0">
                <a:solidFill>
                  <a:srgbClr val="595959"/>
                </a:solidFill>
                <a:latin typeface="Arial MT"/>
                <a:cs typeface="Arial MT"/>
              </a:rPr>
              <a:t> </a:t>
            </a:r>
            <a:r>
              <a:rPr sz="1800" dirty="0">
                <a:solidFill>
                  <a:srgbClr val="595959"/>
                </a:solidFill>
                <a:latin typeface="Arial MT"/>
                <a:cs typeface="Arial MT"/>
              </a:rPr>
              <a:t>mathematical</a:t>
            </a:r>
            <a:r>
              <a:rPr sz="1800" spc="-15" dirty="0">
                <a:solidFill>
                  <a:srgbClr val="595959"/>
                </a:solidFill>
                <a:latin typeface="Arial MT"/>
                <a:cs typeface="Arial MT"/>
              </a:rPr>
              <a:t> </a:t>
            </a:r>
            <a:r>
              <a:rPr sz="1800" dirty="0">
                <a:solidFill>
                  <a:srgbClr val="595959"/>
                </a:solidFill>
                <a:latin typeface="Arial MT"/>
                <a:cs typeface="Arial MT"/>
              </a:rPr>
              <a:t>function</a:t>
            </a:r>
            <a:r>
              <a:rPr sz="1800" spc="-20" dirty="0">
                <a:solidFill>
                  <a:srgbClr val="595959"/>
                </a:solidFill>
                <a:latin typeface="Arial MT"/>
                <a:cs typeface="Arial MT"/>
              </a:rPr>
              <a:t> </a:t>
            </a:r>
            <a:r>
              <a:rPr sz="1800" dirty="0">
                <a:solidFill>
                  <a:srgbClr val="595959"/>
                </a:solidFill>
                <a:latin typeface="Arial MT"/>
                <a:cs typeface="Arial MT"/>
              </a:rPr>
              <a:t>that</a:t>
            </a:r>
            <a:r>
              <a:rPr sz="1800" spc="-15" dirty="0">
                <a:solidFill>
                  <a:srgbClr val="595959"/>
                </a:solidFill>
                <a:latin typeface="Arial MT"/>
                <a:cs typeface="Arial MT"/>
              </a:rPr>
              <a:t> </a:t>
            </a:r>
            <a:r>
              <a:rPr sz="1800" dirty="0">
                <a:solidFill>
                  <a:srgbClr val="595959"/>
                </a:solidFill>
                <a:latin typeface="Arial MT"/>
                <a:cs typeface="Arial MT"/>
              </a:rPr>
              <a:t>takes</a:t>
            </a:r>
            <a:r>
              <a:rPr sz="1800" spc="-15" dirty="0">
                <a:solidFill>
                  <a:srgbClr val="595959"/>
                </a:solidFill>
                <a:latin typeface="Arial MT"/>
                <a:cs typeface="Arial MT"/>
              </a:rPr>
              <a:t> </a:t>
            </a:r>
            <a:r>
              <a:rPr sz="1800" dirty="0">
                <a:solidFill>
                  <a:srgbClr val="595959"/>
                </a:solidFill>
                <a:latin typeface="Arial MT"/>
                <a:cs typeface="Arial MT"/>
              </a:rPr>
              <a:t>any</a:t>
            </a:r>
            <a:r>
              <a:rPr sz="1800" spc="-20" dirty="0">
                <a:solidFill>
                  <a:srgbClr val="595959"/>
                </a:solidFill>
                <a:latin typeface="Arial MT"/>
                <a:cs typeface="Arial MT"/>
              </a:rPr>
              <a:t> </a:t>
            </a:r>
            <a:r>
              <a:rPr sz="1800" dirty="0">
                <a:solidFill>
                  <a:srgbClr val="595959"/>
                </a:solidFill>
                <a:latin typeface="Arial MT"/>
                <a:cs typeface="Arial MT"/>
              </a:rPr>
              <a:t>real</a:t>
            </a:r>
            <a:r>
              <a:rPr sz="1800" spc="-15" dirty="0">
                <a:solidFill>
                  <a:srgbClr val="595959"/>
                </a:solidFill>
                <a:latin typeface="Arial MT"/>
                <a:cs typeface="Arial MT"/>
              </a:rPr>
              <a:t> </a:t>
            </a:r>
            <a:r>
              <a:rPr sz="1800" dirty="0">
                <a:solidFill>
                  <a:srgbClr val="595959"/>
                </a:solidFill>
                <a:latin typeface="Arial MT"/>
                <a:cs typeface="Arial MT"/>
              </a:rPr>
              <a:t>number</a:t>
            </a:r>
            <a:r>
              <a:rPr sz="1800" spc="-20" dirty="0">
                <a:solidFill>
                  <a:srgbClr val="595959"/>
                </a:solidFill>
                <a:latin typeface="Arial MT"/>
                <a:cs typeface="Arial MT"/>
              </a:rPr>
              <a:t> </a:t>
            </a:r>
            <a:r>
              <a:rPr sz="1800" dirty="0">
                <a:solidFill>
                  <a:srgbClr val="595959"/>
                </a:solidFill>
                <a:latin typeface="Arial MT"/>
                <a:cs typeface="Arial MT"/>
              </a:rPr>
              <a:t>and</a:t>
            </a:r>
            <a:r>
              <a:rPr sz="1800" spc="-15" dirty="0">
                <a:solidFill>
                  <a:srgbClr val="595959"/>
                </a:solidFill>
                <a:latin typeface="Arial MT"/>
                <a:cs typeface="Arial MT"/>
              </a:rPr>
              <a:t> </a:t>
            </a:r>
            <a:r>
              <a:rPr sz="1800" dirty="0">
                <a:solidFill>
                  <a:srgbClr val="595959"/>
                </a:solidFill>
                <a:latin typeface="Arial MT"/>
                <a:cs typeface="Arial MT"/>
              </a:rPr>
              <a:t>maps</a:t>
            </a:r>
            <a:r>
              <a:rPr sz="1800" spc="-20" dirty="0">
                <a:solidFill>
                  <a:srgbClr val="595959"/>
                </a:solidFill>
                <a:latin typeface="Arial MT"/>
                <a:cs typeface="Arial MT"/>
              </a:rPr>
              <a:t> </a:t>
            </a:r>
            <a:r>
              <a:rPr sz="1800" dirty="0">
                <a:solidFill>
                  <a:srgbClr val="595959"/>
                </a:solidFill>
                <a:latin typeface="Arial MT"/>
                <a:cs typeface="Arial MT"/>
              </a:rPr>
              <a:t>it</a:t>
            </a:r>
            <a:r>
              <a:rPr sz="1800" spc="-15" dirty="0">
                <a:solidFill>
                  <a:srgbClr val="595959"/>
                </a:solidFill>
                <a:latin typeface="Arial MT"/>
                <a:cs typeface="Arial MT"/>
              </a:rPr>
              <a:t> </a:t>
            </a:r>
            <a:r>
              <a:rPr sz="1800" dirty="0">
                <a:solidFill>
                  <a:srgbClr val="595959"/>
                </a:solidFill>
                <a:latin typeface="Arial MT"/>
                <a:cs typeface="Arial MT"/>
              </a:rPr>
              <a:t>to</a:t>
            </a:r>
            <a:r>
              <a:rPr sz="1800" spc="-15" dirty="0">
                <a:solidFill>
                  <a:srgbClr val="595959"/>
                </a:solidFill>
                <a:latin typeface="Arial MT"/>
                <a:cs typeface="Arial MT"/>
              </a:rPr>
              <a:t> </a:t>
            </a:r>
            <a:r>
              <a:rPr sz="1800" spc="-50" dirty="0">
                <a:solidFill>
                  <a:srgbClr val="595959"/>
                </a:solidFill>
                <a:latin typeface="Arial MT"/>
                <a:cs typeface="Arial MT"/>
              </a:rPr>
              <a:t>a </a:t>
            </a:r>
            <a:r>
              <a:rPr sz="1800" dirty="0">
                <a:solidFill>
                  <a:srgbClr val="595959"/>
                </a:solidFill>
                <a:latin typeface="Arial MT"/>
                <a:cs typeface="Arial MT"/>
              </a:rPr>
              <a:t>probability</a:t>
            </a:r>
            <a:r>
              <a:rPr sz="1800" spc="-30" dirty="0">
                <a:solidFill>
                  <a:srgbClr val="595959"/>
                </a:solidFill>
                <a:latin typeface="Arial MT"/>
                <a:cs typeface="Arial MT"/>
              </a:rPr>
              <a:t> </a:t>
            </a:r>
            <a:r>
              <a:rPr sz="1800" dirty="0">
                <a:solidFill>
                  <a:srgbClr val="595959"/>
                </a:solidFill>
                <a:latin typeface="Arial MT"/>
                <a:cs typeface="Arial MT"/>
              </a:rPr>
              <a:t>between</a:t>
            </a:r>
            <a:r>
              <a:rPr sz="1800" spc="-20" dirty="0">
                <a:solidFill>
                  <a:srgbClr val="595959"/>
                </a:solidFill>
                <a:latin typeface="Arial MT"/>
                <a:cs typeface="Arial MT"/>
              </a:rPr>
              <a:t> </a:t>
            </a:r>
            <a:r>
              <a:rPr sz="1800" dirty="0">
                <a:solidFill>
                  <a:srgbClr val="595959"/>
                </a:solidFill>
                <a:latin typeface="Arial MT"/>
                <a:cs typeface="Arial MT"/>
              </a:rPr>
              <a:t>1</a:t>
            </a:r>
            <a:r>
              <a:rPr sz="1800" spc="-15" dirty="0">
                <a:solidFill>
                  <a:srgbClr val="595959"/>
                </a:solidFill>
                <a:latin typeface="Arial MT"/>
                <a:cs typeface="Arial MT"/>
              </a:rPr>
              <a:t> </a:t>
            </a:r>
            <a:r>
              <a:rPr sz="1800" dirty="0">
                <a:solidFill>
                  <a:srgbClr val="595959"/>
                </a:solidFill>
                <a:latin typeface="Arial MT"/>
                <a:cs typeface="Arial MT"/>
              </a:rPr>
              <a:t>and</a:t>
            </a:r>
            <a:r>
              <a:rPr sz="1800" spc="-20" dirty="0">
                <a:solidFill>
                  <a:srgbClr val="595959"/>
                </a:solidFill>
                <a:latin typeface="Arial MT"/>
                <a:cs typeface="Arial MT"/>
              </a:rPr>
              <a:t> </a:t>
            </a:r>
            <a:r>
              <a:rPr sz="1800" dirty="0">
                <a:solidFill>
                  <a:srgbClr val="595959"/>
                </a:solidFill>
                <a:latin typeface="Arial MT"/>
                <a:cs typeface="Arial MT"/>
              </a:rPr>
              <a:t>0.</a:t>
            </a:r>
            <a:r>
              <a:rPr sz="1800" spc="-50" dirty="0">
                <a:solidFill>
                  <a:srgbClr val="595959"/>
                </a:solidFill>
                <a:latin typeface="Arial MT"/>
                <a:cs typeface="Arial MT"/>
              </a:rPr>
              <a:t> </a:t>
            </a:r>
            <a:r>
              <a:rPr sz="1800" dirty="0">
                <a:solidFill>
                  <a:srgbClr val="595959"/>
                </a:solidFill>
                <a:latin typeface="Arial MT"/>
                <a:cs typeface="Arial MT"/>
              </a:rPr>
              <a:t>The</a:t>
            </a:r>
            <a:r>
              <a:rPr sz="1800" spc="-15" dirty="0">
                <a:solidFill>
                  <a:srgbClr val="595959"/>
                </a:solidFill>
                <a:latin typeface="Arial MT"/>
                <a:cs typeface="Arial MT"/>
              </a:rPr>
              <a:t> </a:t>
            </a:r>
            <a:r>
              <a:rPr sz="1800" dirty="0">
                <a:solidFill>
                  <a:srgbClr val="595959"/>
                </a:solidFill>
                <a:latin typeface="Arial MT"/>
                <a:cs typeface="Arial MT"/>
              </a:rPr>
              <a:t>sigmoid</a:t>
            </a:r>
            <a:r>
              <a:rPr sz="1800" spc="-20" dirty="0">
                <a:solidFill>
                  <a:srgbClr val="595959"/>
                </a:solidFill>
                <a:latin typeface="Arial MT"/>
                <a:cs typeface="Arial MT"/>
              </a:rPr>
              <a:t> </a:t>
            </a:r>
            <a:r>
              <a:rPr sz="1800" dirty="0">
                <a:solidFill>
                  <a:srgbClr val="595959"/>
                </a:solidFill>
                <a:latin typeface="Arial MT"/>
                <a:cs typeface="Arial MT"/>
              </a:rPr>
              <a:t>function</a:t>
            </a:r>
            <a:r>
              <a:rPr sz="1800" spc="-15" dirty="0">
                <a:solidFill>
                  <a:srgbClr val="595959"/>
                </a:solidFill>
                <a:latin typeface="Arial MT"/>
                <a:cs typeface="Arial MT"/>
              </a:rPr>
              <a:t> </a:t>
            </a:r>
            <a:r>
              <a:rPr sz="1800" dirty="0">
                <a:solidFill>
                  <a:srgbClr val="595959"/>
                </a:solidFill>
                <a:latin typeface="Arial MT"/>
                <a:cs typeface="Arial MT"/>
              </a:rPr>
              <a:t>forms</a:t>
            </a:r>
            <a:r>
              <a:rPr sz="1800" spc="-20" dirty="0">
                <a:solidFill>
                  <a:srgbClr val="595959"/>
                </a:solidFill>
                <a:latin typeface="Arial MT"/>
                <a:cs typeface="Arial MT"/>
              </a:rPr>
              <a:t> </a:t>
            </a:r>
            <a:r>
              <a:rPr sz="1800" dirty="0">
                <a:solidFill>
                  <a:srgbClr val="595959"/>
                </a:solidFill>
                <a:latin typeface="Arial MT"/>
                <a:cs typeface="Arial MT"/>
              </a:rPr>
              <a:t>an</a:t>
            </a:r>
            <a:r>
              <a:rPr sz="1800" spc="-15" dirty="0">
                <a:solidFill>
                  <a:srgbClr val="595959"/>
                </a:solidFill>
                <a:latin typeface="Arial MT"/>
                <a:cs typeface="Arial MT"/>
              </a:rPr>
              <a:t> </a:t>
            </a:r>
            <a:r>
              <a:rPr sz="1800" dirty="0">
                <a:solidFill>
                  <a:srgbClr val="595959"/>
                </a:solidFill>
                <a:latin typeface="Arial MT"/>
                <a:cs typeface="Arial MT"/>
              </a:rPr>
              <a:t>S</a:t>
            </a:r>
            <a:r>
              <a:rPr sz="1800" spc="-20" dirty="0">
                <a:solidFill>
                  <a:srgbClr val="595959"/>
                </a:solidFill>
                <a:latin typeface="Arial MT"/>
                <a:cs typeface="Arial MT"/>
              </a:rPr>
              <a:t> </a:t>
            </a:r>
            <a:r>
              <a:rPr sz="1800" dirty="0">
                <a:solidFill>
                  <a:srgbClr val="595959"/>
                </a:solidFill>
                <a:latin typeface="Arial MT"/>
                <a:cs typeface="Arial MT"/>
              </a:rPr>
              <a:t>shaped</a:t>
            </a:r>
            <a:r>
              <a:rPr sz="1800" spc="-15" dirty="0">
                <a:solidFill>
                  <a:srgbClr val="595959"/>
                </a:solidFill>
                <a:latin typeface="Arial MT"/>
                <a:cs typeface="Arial MT"/>
              </a:rPr>
              <a:t> </a:t>
            </a:r>
            <a:r>
              <a:rPr sz="1800" spc="-10" dirty="0">
                <a:solidFill>
                  <a:srgbClr val="595959"/>
                </a:solidFill>
                <a:latin typeface="Arial MT"/>
                <a:cs typeface="Arial MT"/>
              </a:rPr>
              <a:t>graph, </a:t>
            </a:r>
            <a:r>
              <a:rPr sz="1800" dirty="0">
                <a:solidFill>
                  <a:srgbClr val="595959"/>
                </a:solidFill>
                <a:latin typeface="Arial MT"/>
                <a:cs typeface="Arial MT"/>
              </a:rPr>
              <a:t>which</a:t>
            </a:r>
            <a:r>
              <a:rPr sz="1800" spc="-15" dirty="0">
                <a:solidFill>
                  <a:srgbClr val="595959"/>
                </a:solidFill>
                <a:latin typeface="Arial MT"/>
                <a:cs typeface="Arial MT"/>
              </a:rPr>
              <a:t> </a:t>
            </a:r>
            <a:r>
              <a:rPr sz="1800" dirty="0">
                <a:solidFill>
                  <a:srgbClr val="595959"/>
                </a:solidFill>
                <a:latin typeface="Arial MT"/>
                <a:cs typeface="Arial MT"/>
              </a:rPr>
              <a:t>means</a:t>
            </a:r>
            <a:r>
              <a:rPr sz="1800" spc="-10" dirty="0">
                <a:solidFill>
                  <a:srgbClr val="595959"/>
                </a:solidFill>
                <a:latin typeface="Arial MT"/>
                <a:cs typeface="Arial MT"/>
              </a:rPr>
              <a:t> </a:t>
            </a:r>
            <a:r>
              <a:rPr sz="1800" dirty="0">
                <a:solidFill>
                  <a:srgbClr val="595959"/>
                </a:solidFill>
                <a:latin typeface="Arial MT"/>
                <a:cs typeface="Arial MT"/>
              </a:rPr>
              <a:t>as</a:t>
            </a:r>
            <a:r>
              <a:rPr sz="1800" spc="-15" dirty="0">
                <a:solidFill>
                  <a:srgbClr val="595959"/>
                </a:solidFill>
                <a:latin typeface="Arial MT"/>
                <a:cs typeface="Arial MT"/>
              </a:rPr>
              <a:t> </a:t>
            </a:r>
            <a:r>
              <a:rPr sz="1800" dirty="0">
                <a:solidFill>
                  <a:srgbClr val="595959"/>
                </a:solidFill>
                <a:latin typeface="Arial MT"/>
                <a:cs typeface="Arial MT"/>
              </a:rPr>
              <a:t>x</a:t>
            </a:r>
            <a:r>
              <a:rPr sz="1800" spc="-10" dirty="0">
                <a:solidFill>
                  <a:srgbClr val="595959"/>
                </a:solidFill>
                <a:latin typeface="Arial MT"/>
                <a:cs typeface="Arial MT"/>
              </a:rPr>
              <a:t> </a:t>
            </a:r>
            <a:r>
              <a:rPr sz="1800" dirty="0">
                <a:solidFill>
                  <a:srgbClr val="595959"/>
                </a:solidFill>
                <a:latin typeface="Arial MT"/>
                <a:cs typeface="Arial MT"/>
              </a:rPr>
              <a:t>approaches</a:t>
            </a:r>
            <a:r>
              <a:rPr sz="1800" spc="-15" dirty="0">
                <a:solidFill>
                  <a:srgbClr val="595959"/>
                </a:solidFill>
                <a:latin typeface="Arial MT"/>
                <a:cs typeface="Arial MT"/>
              </a:rPr>
              <a:t> </a:t>
            </a:r>
            <a:r>
              <a:rPr sz="1800" spc="-10" dirty="0">
                <a:solidFill>
                  <a:srgbClr val="595959"/>
                </a:solidFill>
                <a:latin typeface="Arial MT"/>
                <a:cs typeface="Arial MT"/>
              </a:rPr>
              <a:t>infinity, </a:t>
            </a:r>
            <a:r>
              <a:rPr sz="1800" dirty="0">
                <a:solidFill>
                  <a:srgbClr val="595959"/>
                </a:solidFill>
                <a:latin typeface="Arial MT"/>
                <a:cs typeface="Arial MT"/>
              </a:rPr>
              <a:t>the</a:t>
            </a:r>
            <a:r>
              <a:rPr sz="1800" spc="-15" dirty="0">
                <a:solidFill>
                  <a:srgbClr val="595959"/>
                </a:solidFill>
                <a:latin typeface="Arial MT"/>
                <a:cs typeface="Arial MT"/>
              </a:rPr>
              <a:t> </a:t>
            </a:r>
            <a:r>
              <a:rPr sz="1800" dirty="0">
                <a:solidFill>
                  <a:srgbClr val="595959"/>
                </a:solidFill>
                <a:latin typeface="Arial MT"/>
                <a:cs typeface="Arial MT"/>
              </a:rPr>
              <a:t>probability</a:t>
            </a:r>
            <a:r>
              <a:rPr sz="1800" spc="-10" dirty="0">
                <a:solidFill>
                  <a:srgbClr val="595959"/>
                </a:solidFill>
                <a:latin typeface="Arial MT"/>
                <a:cs typeface="Arial MT"/>
              </a:rPr>
              <a:t> </a:t>
            </a:r>
            <a:r>
              <a:rPr sz="1800" dirty="0">
                <a:solidFill>
                  <a:srgbClr val="595959"/>
                </a:solidFill>
                <a:latin typeface="Arial MT"/>
                <a:cs typeface="Arial MT"/>
              </a:rPr>
              <a:t>becomes</a:t>
            </a:r>
            <a:r>
              <a:rPr sz="1800" spc="-15" dirty="0">
                <a:solidFill>
                  <a:srgbClr val="595959"/>
                </a:solidFill>
                <a:latin typeface="Arial MT"/>
                <a:cs typeface="Arial MT"/>
              </a:rPr>
              <a:t> </a:t>
            </a:r>
            <a:r>
              <a:rPr sz="1800" dirty="0">
                <a:solidFill>
                  <a:srgbClr val="595959"/>
                </a:solidFill>
                <a:latin typeface="Arial MT"/>
                <a:cs typeface="Arial MT"/>
              </a:rPr>
              <a:t>1,</a:t>
            </a:r>
            <a:r>
              <a:rPr sz="1800" spc="-10" dirty="0">
                <a:solidFill>
                  <a:srgbClr val="595959"/>
                </a:solidFill>
                <a:latin typeface="Arial MT"/>
                <a:cs typeface="Arial MT"/>
              </a:rPr>
              <a:t> </a:t>
            </a:r>
            <a:r>
              <a:rPr sz="1800" dirty="0">
                <a:solidFill>
                  <a:srgbClr val="595959"/>
                </a:solidFill>
                <a:latin typeface="Arial MT"/>
                <a:cs typeface="Arial MT"/>
              </a:rPr>
              <a:t>and</a:t>
            </a:r>
            <a:r>
              <a:rPr sz="1800" spc="-15" dirty="0">
                <a:solidFill>
                  <a:srgbClr val="595959"/>
                </a:solidFill>
                <a:latin typeface="Arial MT"/>
                <a:cs typeface="Arial MT"/>
              </a:rPr>
              <a:t> </a:t>
            </a:r>
            <a:r>
              <a:rPr sz="1800" dirty="0">
                <a:solidFill>
                  <a:srgbClr val="595959"/>
                </a:solidFill>
                <a:latin typeface="Arial MT"/>
                <a:cs typeface="Arial MT"/>
              </a:rPr>
              <a:t>as</a:t>
            </a:r>
            <a:r>
              <a:rPr sz="1800" spc="-10" dirty="0">
                <a:solidFill>
                  <a:srgbClr val="595959"/>
                </a:solidFill>
                <a:latin typeface="Arial MT"/>
                <a:cs typeface="Arial MT"/>
              </a:rPr>
              <a:t> </a:t>
            </a:r>
            <a:r>
              <a:rPr sz="1800" spc="-50" dirty="0">
                <a:solidFill>
                  <a:srgbClr val="595959"/>
                </a:solidFill>
                <a:latin typeface="Arial MT"/>
                <a:cs typeface="Arial MT"/>
              </a:rPr>
              <a:t>x </a:t>
            </a:r>
            <a:r>
              <a:rPr sz="1800" dirty="0">
                <a:solidFill>
                  <a:srgbClr val="595959"/>
                </a:solidFill>
                <a:latin typeface="Arial MT"/>
                <a:cs typeface="Arial MT"/>
              </a:rPr>
              <a:t>approaches</a:t>
            </a:r>
            <a:r>
              <a:rPr sz="1800" spc="-30" dirty="0">
                <a:solidFill>
                  <a:srgbClr val="595959"/>
                </a:solidFill>
                <a:latin typeface="Arial MT"/>
                <a:cs typeface="Arial MT"/>
              </a:rPr>
              <a:t> </a:t>
            </a:r>
            <a:r>
              <a:rPr sz="1800" dirty="0">
                <a:solidFill>
                  <a:srgbClr val="595959"/>
                </a:solidFill>
                <a:latin typeface="Arial MT"/>
                <a:cs typeface="Arial MT"/>
              </a:rPr>
              <a:t>negative</a:t>
            </a:r>
            <a:r>
              <a:rPr sz="1800" spc="-20" dirty="0">
                <a:solidFill>
                  <a:srgbClr val="595959"/>
                </a:solidFill>
                <a:latin typeface="Arial MT"/>
                <a:cs typeface="Arial MT"/>
              </a:rPr>
              <a:t> </a:t>
            </a:r>
            <a:r>
              <a:rPr sz="1800" spc="-10" dirty="0">
                <a:solidFill>
                  <a:srgbClr val="595959"/>
                </a:solidFill>
                <a:latin typeface="Arial MT"/>
                <a:cs typeface="Arial MT"/>
              </a:rPr>
              <a:t>infinity,</a:t>
            </a:r>
            <a:r>
              <a:rPr sz="1800" spc="-20" dirty="0">
                <a:solidFill>
                  <a:srgbClr val="595959"/>
                </a:solidFill>
                <a:latin typeface="Arial MT"/>
                <a:cs typeface="Arial MT"/>
              </a:rPr>
              <a:t> </a:t>
            </a:r>
            <a:r>
              <a:rPr sz="1800" dirty="0">
                <a:solidFill>
                  <a:srgbClr val="595959"/>
                </a:solidFill>
                <a:latin typeface="Arial MT"/>
                <a:cs typeface="Arial MT"/>
              </a:rPr>
              <a:t>the</a:t>
            </a:r>
            <a:r>
              <a:rPr sz="1800" spc="-20" dirty="0">
                <a:solidFill>
                  <a:srgbClr val="595959"/>
                </a:solidFill>
                <a:latin typeface="Arial MT"/>
                <a:cs typeface="Arial MT"/>
              </a:rPr>
              <a:t> </a:t>
            </a:r>
            <a:r>
              <a:rPr sz="1800" dirty="0">
                <a:solidFill>
                  <a:srgbClr val="595959"/>
                </a:solidFill>
                <a:latin typeface="Arial MT"/>
                <a:cs typeface="Arial MT"/>
              </a:rPr>
              <a:t>probability</a:t>
            </a:r>
            <a:r>
              <a:rPr sz="1800" spc="-20" dirty="0">
                <a:solidFill>
                  <a:srgbClr val="595959"/>
                </a:solidFill>
                <a:latin typeface="Arial MT"/>
                <a:cs typeface="Arial MT"/>
              </a:rPr>
              <a:t> </a:t>
            </a:r>
            <a:r>
              <a:rPr sz="1800" dirty="0">
                <a:solidFill>
                  <a:srgbClr val="595959"/>
                </a:solidFill>
                <a:latin typeface="Arial MT"/>
                <a:cs typeface="Arial MT"/>
              </a:rPr>
              <a:t>becomes</a:t>
            </a:r>
            <a:r>
              <a:rPr sz="1800" spc="-20" dirty="0">
                <a:solidFill>
                  <a:srgbClr val="595959"/>
                </a:solidFill>
                <a:latin typeface="Arial MT"/>
                <a:cs typeface="Arial MT"/>
              </a:rPr>
              <a:t> </a:t>
            </a:r>
            <a:r>
              <a:rPr sz="1800" spc="-25" dirty="0">
                <a:solidFill>
                  <a:srgbClr val="595959"/>
                </a:solidFill>
                <a:latin typeface="Arial MT"/>
                <a:cs typeface="Arial MT"/>
              </a:rPr>
              <a:t>0.</a:t>
            </a:r>
            <a:endParaRPr sz="1800">
              <a:latin typeface="Arial MT"/>
              <a:cs typeface="Arial MT"/>
            </a:endParaRPr>
          </a:p>
          <a:p>
            <a:pPr>
              <a:lnSpc>
                <a:spcPct val="100000"/>
              </a:lnSpc>
              <a:spcBef>
                <a:spcPts val="409"/>
              </a:spcBef>
            </a:pPr>
            <a:endParaRPr sz="1800">
              <a:latin typeface="Arial MT"/>
              <a:cs typeface="Arial MT"/>
            </a:endParaRPr>
          </a:p>
          <a:p>
            <a:pPr marL="12700" marR="5080" algn="just">
              <a:lnSpc>
                <a:spcPct val="114999"/>
              </a:lnSpc>
              <a:spcBef>
                <a:spcPts val="5"/>
              </a:spcBef>
            </a:pPr>
            <a:r>
              <a:rPr sz="1800" dirty="0">
                <a:solidFill>
                  <a:srgbClr val="595959"/>
                </a:solidFill>
                <a:latin typeface="Arial MT"/>
                <a:cs typeface="Arial MT"/>
              </a:rPr>
              <a:t>The</a:t>
            </a:r>
            <a:r>
              <a:rPr sz="1800" spc="25" dirty="0">
                <a:solidFill>
                  <a:srgbClr val="595959"/>
                </a:solidFill>
                <a:latin typeface="Arial MT"/>
                <a:cs typeface="Arial MT"/>
              </a:rPr>
              <a:t> </a:t>
            </a:r>
            <a:r>
              <a:rPr sz="1800" dirty="0">
                <a:solidFill>
                  <a:srgbClr val="595959"/>
                </a:solidFill>
                <a:latin typeface="Arial MT"/>
                <a:cs typeface="Arial MT"/>
              </a:rPr>
              <a:t>sigmoid</a:t>
            </a:r>
            <a:r>
              <a:rPr sz="1800" spc="35" dirty="0">
                <a:solidFill>
                  <a:srgbClr val="595959"/>
                </a:solidFill>
                <a:latin typeface="Arial MT"/>
                <a:cs typeface="Arial MT"/>
              </a:rPr>
              <a:t> </a:t>
            </a:r>
            <a:r>
              <a:rPr sz="1800" dirty="0">
                <a:solidFill>
                  <a:srgbClr val="595959"/>
                </a:solidFill>
                <a:latin typeface="Arial MT"/>
                <a:cs typeface="Arial MT"/>
              </a:rPr>
              <a:t>function</a:t>
            </a:r>
            <a:r>
              <a:rPr sz="1800" spc="40" dirty="0">
                <a:solidFill>
                  <a:srgbClr val="595959"/>
                </a:solidFill>
                <a:latin typeface="Arial MT"/>
                <a:cs typeface="Arial MT"/>
              </a:rPr>
              <a:t> </a:t>
            </a:r>
            <a:r>
              <a:rPr sz="1800" dirty="0">
                <a:solidFill>
                  <a:srgbClr val="595959"/>
                </a:solidFill>
                <a:latin typeface="Arial MT"/>
                <a:cs typeface="Arial MT"/>
              </a:rPr>
              <a:t>is</a:t>
            </a:r>
            <a:r>
              <a:rPr sz="1800" spc="35" dirty="0">
                <a:solidFill>
                  <a:srgbClr val="595959"/>
                </a:solidFill>
                <a:latin typeface="Arial MT"/>
                <a:cs typeface="Arial MT"/>
              </a:rPr>
              <a:t> </a:t>
            </a:r>
            <a:r>
              <a:rPr sz="1800" dirty="0">
                <a:solidFill>
                  <a:srgbClr val="595959"/>
                </a:solidFill>
                <a:latin typeface="Arial MT"/>
                <a:cs typeface="Arial MT"/>
              </a:rPr>
              <a:t>a</a:t>
            </a:r>
            <a:r>
              <a:rPr sz="1800" spc="40" dirty="0">
                <a:solidFill>
                  <a:srgbClr val="595959"/>
                </a:solidFill>
                <a:latin typeface="Arial MT"/>
                <a:cs typeface="Arial MT"/>
              </a:rPr>
              <a:t> </a:t>
            </a:r>
            <a:r>
              <a:rPr sz="1800" dirty="0">
                <a:solidFill>
                  <a:srgbClr val="595959"/>
                </a:solidFill>
                <a:latin typeface="Arial MT"/>
                <a:cs typeface="Arial MT"/>
              </a:rPr>
              <a:t>nonlinear</a:t>
            </a:r>
            <a:r>
              <a:rPr sz="1800" spc="35" dirty="0">
                <a:solidFill>
                  <a:srgbClr val="595959"/>
                </a:solidFill>
                <a:latin typeface="Arial MT"/>
                <a:cs typeface="Arial MT"/>
              </a:rPr>
              <a:t> </a:t>
            </a:r>
            <a:r>
              <a:rPr sz="1800" dirty="0">
                <a:solidFill>
                  <a:srgbClr val="595959"/>
                </a:solidFill>
                <a:latin typeface="Arial MT"/>
                <a:cs typeface="Arial MT"/>
              </a:rPr>
              <a:t>function</a:t>
            </a:r>
            <a:r>
              <a:rPr sz="1800" spc="40" dirty="0">
                <a:solidFill>
                  <a:srgbClr val="595959"/>
                </a:solidFill>
                <a:latin typeface="Arial MT"/>
                <a:cs typeface="Arial MT"/>
              </a:rPr>
              <a:t> </a:t>
            </a:r>
            <a:r>
              <a:rPr sz="1800" dirty="0">
                <a:solidFill>
                  <a:srgbClr val="595959"/>
                </a:solidFill>
                <a:latin typeface="Arial MT"/>
                <a:cs typeface="Arial MT"/>
              </a:rPr>
              <a:t>that</a:t>
            </a:r>
            <a:r>
              <a:rPr sz="1800" spc="35" dirty="0">
                <a:solidFill>
                  <a:srgbClr val="595959"/>
                </a:solidFill>
                <a:latin typeface="Arial MT"/>
                <a:cs typeface="Arial MT"/>
              </a:rPr>
              <a:t> </a:t>
            </a:r>
            <a:r>
              <a:rPr sz="1800" dirty="0">
                <a:solidFill>
                  <a:srgbClr val="595959"/>
                </a:solidFill>
                <a:latin typeface="Arial MT"/>
                <a:cs typeface="Arial MT"/>
              </a:rPr>
              <a:t>is</a:t>
            </a:r>
            <a:r>
              <a:rPr sz="1800" spc="35" dirty="0">
                <a:solidFill>
                  <a:srgbClr val="595959"/>
                </a:solidFill>
                <a:latin typeface="Arial MT"/>
                <a:cs typeface="Arial MT"/>
              </a:rPr>
              <a:t> </a:t>
            </a:r>
            <a:r>
              <a:rPr sz="1800" dirty="0">
                <a:solidFill>
                  <a:srgbClr val="595959"/>
                </a:solidFill>
                <a:latin typeface="Arial MT"/>
                <a:cs typeface="Arial MT"/>
              </a:rPr>
              <a:t>used</a:t>
            </a:r>
            <a:r>
              <a:rPr sz="1800" spc="40" dirty="0">
                <a:solidFill>
                  <a:srgbClr val="595959"/>
                </a:solidFill>
                <a:latin typeface="Arial MT"/>
                <a:cs typeface="Arial MT"/>
              </a:rPr>
              <a:t> </a:t>
            </a:r>
            <a:r>
              <a:rPr sz="1800" dirty="0">
                <a:solidFill>
                  <a:srgbClr val="595959"/>
                </a:solidFill>
                <a:latin typeface="Arial MT"/>
                <a:cs typeface="Arial MT"/>
              </a:rPr>
              <a:t>to</a:t>
            </a:r>
            <a:r>
              <a:rPr sz="1800" spc="35" dirty="0">
                <a:solidFill>
                  <a:srgbClr val="595959"/>
                </a:solidFill>
                <a:latin typeface="Arial MT"/>
                <a:cs typeface="Arial MT"/>
              </a:rPr>
              <a:t> </a:t>
            </a:r>
            <a:r>
              <a:rPr sz="1800" dirty="0">
                <a:solidFill>
                  <a:srgbClr val="595959"/>
                </a:solidFill>
                <a:latin typeface="Arial MT"/>
                <a:cs typeface="Arial MT"/>
              </a:rPr>
              <a:t>transform</a:t>
            </a:r>
            <a:r>
              <a:rPr sz="1800" spc="40" dirty="0">
                <a:solidFill>
                  <a:srgbClr val="595959"/>
                </a:solidFill>
                <a:latin typeface="Arial MT"/>
                <a:cs typeface="Arial MT"/>
              </a:rPr>
              <a:t> </a:t>
            </a:r>
            <a:r>
              <a:rPr sz="1800" dirty="0">
                <a:solidFill>
                  <a:srgbClr val="595959"/>
                </a:solidFill>
                <a:latin typeface="Arial MT"/>
                <a:cs typeface="Arial MT"/>
              </a:rPr>
              <a:t>the</a:t>
            </a:r>
            <a:r>
              <a:rPr sz="1800" spc="35" dirty="0">
                <a:solidFill>
                  <a:srgbClr val="595959"/>
                </a:solidFill>
                <a:latin typeface="Arial MT"/>
                <a:cs typeface="Arial MT"/>
              </a:rPr>
              <a:t> </a:t>
            </a:r>
            <a:r>
              <a:rPr sz="1800" dirty="0">
                <a:solidFill>
                  <a:srgbClr val="595959"/>
                </a:solidFill>
                <a:latin typeface="Arial MT"/>
                <a:cs typeface="Arial MT"/>
              </a:rPr>
              <a:t>output</a:t>
            </a:r>
            <a:r>
              <a:rPr sz="1800" spc="40" dirty="0">
                <a:solidFill>
                  <a:srgbClr val="595959"/>
                </a:solidFill>
                <a:latin typeface="Arial MT"/>
                <a:cs typeface="Arial MT"/>
              </a:rPr>
              <a:t> </a:t>
            </a:r>
            <a:r>
              <a:rPr sz="1800" spc="-25" dirty="0">
                <a:solidFill>
                  <a:srgbClr val="595959"/>
                </a:solidFill>
                <a:latin typeface="Arial MT"/>
                <a:cs typeface="Arial MT"/>
              </a:rPr>
              <a:t>of </a:t>
            </a:r>
            <a:r>
              <a:rPr sz="1800" dirty="0">
                <a:solidFill>
                  <a:srgbClr val="595959"/>
                </a:solidFill>
                <a:latin typeface="Arial MT"/>
                <a:cs typeface="Arial MT"/>
              </a:rPr>
              <a:t>the</a:t>
            </a:r>
            <a:r>
              <a:rPr sz="1800" spc="-20" dirty="0">
                <a:solidFill>
                  <a:srgbClr val="595959"/>
                </a:solidFill>
                <a:latin typeface="Arial MT"/>
                <a:cs typeface="Arial MT"/>
              </a:rPr>
              <a:t> </a:t>
            </a:r>
            <a:r>
              <a:rPr sz="1800" dirty="0">
                <a:solidFill>
                  <a:srgbClr val="595959"/>
                </a:solidFill>
                <a:latin typeface="Arial MT"/>
                <a:cs typeface="Arial MT"/>
              </a:rPr>
              <a:t>logistic</a:t>
            </a:r>
            <a:r>
              <a:rPr sz="1800" spc="-10" dirty="0">
                <a:solidFill>
                  <a:srgbClr val="595959"/>
                </a:solidFill>
                <a:latin typeface="Arial MT"/>
                <a:cs typeface="Arial MT"/>
              </a:rPr>
              <a:t> </a:t>
            </a:r>
            <a:r>
              <a:rPr sz="1800" dirty="0">
                <a:solidFill>
                  <a:srgbClr val="595959"/>
                </a:solidFill>
                <a:latin typeface="Arial MT"/>
                <a:cs typeface="Arial MT"/>
              </a:rPr>
              <a:t>regression</a:t>
            </a:r>
            <a:r>
              <a:rPr sz="1800" spc="-15" dirty="0">
                <a:solidFill>
                  <a:srgbClr val="595959"/>
                </a:solidFill>
                <a:latin typeface="Arial MT"/>
                <a:cs typeface="Arial MT"/>
              </a:rPr>
              <a:t> </a:t>
            </a:r>
            <a:r>
              <a:rPr sz="1800" dirty="0">
                <a:solidFill>
                  <a:srgbClr val="595959"/>
                </a:solidFill>
                <a:latin typeface="Arial MT"/>
                <a:cs typeface="Arial MT"/>
              </a:rPr>
              <a:t>model</a:t>
            </a:r>
            <a:r>
              <a:rPr sz="1800" spc="-10" dirty="0">
                <a:solidFill>
                  <a:srgbClr val="595959"/>
                </a:solidFill>
                <a:latin typeface="Arial MT"/>
                <a:cs typeface="Arial MT"/>
              </a:rPr>
              <a:t> </a:t>
            </a:r>
            <a:r>
              <a:rPr sz="1800" dirty="0">
                <a:solidFill>
                  <a:srgbClr val="595959"/>
                </a:solidFill>
                <a:latin typeface="Arial MT"/>
                <a:cs typeface="Arial MT"/>
              </a:rPr>
              <a:t>into</a:t>
            </a:r>
            <a:r>
              <a:rPr sz="1800" spc="-15" dirty="0">
                <a:solidFill>
                  <a:srgbClr val="595959"/>
                </a:solidFill>
                <a:latin typeface="Arial MT"/>
                <a:cs typeface="Arial MT"/>
              </a:rPr>
              <a:t> </a:t>
            </a:r>
            <a:r>
              <a:rPr sz="1800" dirty="0">
                <a:solidFill>
                  <a:srgbClr val="595959"/>
                </a:solidFill>
                <a:latin typeface="Arial MT"/>
                <a:cs typeface="Arial MT"/>
              </a:rPr>
              <a:t>a</a:t>
            </a:r>
            <a:r>
              <a:rPr sz="1800" spc="-10" dirty="0">
                <a:solidFill>
                  <a:srgbClr val="595959"/>
                </a:solidFill>
                <a:latin typeface="Arial MT"/>
                <a:cs typeface="Arial MT"/>
              </a:rPr>
              <a:t> </a:t>
            </a:r>
            <a:r>
              <a:rPr sz="1800" spc="-20" dirty="0">
                <a:solidFill>
                  <a:srgbClr val="595959"/>
                </a:solidFill>
                <a:latin typeface="Arial MT"/>
                <a:cs typeface="Arial MT"/>
              </a:rPr>
              <a:t>probability.</a:t>
            </a:r>
            <a:r>
              <a:rPr sz="1800" spc="-105" dirty="0">
                <a:solidFill>
                  <a:srgbClr val="595959"/>
                </a:solidFill>
                <a:latin typeface="Arial MT"/>
                <a:cs typeface="Arial MT"/>
              </a:rPr>
              <a:t> </a:t>
            </a:r>
            <a:r>
              <a:rPr sz="1800" dirty="0">
                <a:solidFill>
                  <a:srgbClr val="595959"/>
                </a:solidFill>
                <a:latin typeface="Arial MT"/>
                <a:cs typeface="Arial MT"/>
              </a:rPr>
              <a:t>An</a:t>
            </a:r>
            <a:r>
              <a:rPr sz="1800" spc="-10" dirty="0">
                <a:solidFill>
                  <a:srgbClr val="595959"/>
                </a:solidFill>
                <a:latin typeface="Arial MT"/>
                <a:cs typeface="Arial MT"/>
              </a:rPr>
              <a:t> </a:t>
            </a:r>
            <a:r>
              <a:rPr sz="1800" dirty="0">
                <a:solidFill>
                  <a:srgbClr val="595959"/>
                </a:solidFill>
                <a:latin typeface="Arial MT"/>
                <a:cs typeface="Arial MT"/>
              </a:rPr>
              <a:t>example</a:t>
            </a:r>
            <a:r>
              <a:rPr sz="1800" spc="-15" dirty="0">
                <a:solidFill>
                  <a:srgbClr val="595959"/>
                </a:solidFill>
                <a:latin typeface="Arial MT"/>
                <a:cs typeface="Arial MT"/>
              </a:rPr>
              <a:t> </a:t>
            </a:r>
            <a:r>
              <a:rPr sz="1800" dirty="0">
                <a:solidFill>
                  <a:srgbClr val="595959"/>
                </a:solidFill>
                <a:latin typeface="Arial MT"/>
                <a:cs typeface="Arial MT"/>
              </a:rPr>
              <a:t>of</a:t>
            </a:r>
            <a:r>
              <a:rPr sz="1800" spc="-10" dirty="0">
                <a:solidFill>
                  <a:srgbClr val="595959"/>
                </a:solidFill>
                <a:latin typeface="Arial MT"/>
                <a:cs typeface="Arial MT"/>
              </a:rPr>
              <a:t> </a:t>
            </a:r>
            <a:r>
              <a:rPr sz="1800" dirty="0">
                <a:solidFill>
                  <a:srgbClr val="595959"/>
                </a:solidFill>
                <a:latin typeface="Arial MT"/>
                <a:cs typeface="Arial MT"/>
              </a:rPr>
              <a:t>a</a:t>
            </a:r>
            <a:r>
              <a:rPr sz="1800" spc="-15" dirty="0">
                <a:solidFill>
                  <a:srgbClr val="595959"/>
                </a:solidFill>
                <a:latin typeface="Arial MT"/>
                <a:cs typeface="Arial MT"/>
              </a:rPr>
              <a:t> </a:t>
            </a:r>
            <a:r>
              <a:rPr sz="1800" dirty="0">
                <a:solidFill>
                  <a:srgbClr val="595959"/>
                </a:solidFill>
                <a:latin typeface="Arial MT"/>
                <a:cs typeface="Arial MT"/>
              </a:rPr>
              <a:t>sigmoid</a:t>
            </a:r>
            <a:r>
              <a:rPr sz="1800" spc="-10" dirty="0">
                <a:solidFill>
                  <a:srgbClr val="595959"/>
                </a:solidFill>
                <a:latin typeface="Arial MT"/>
                <a:cs typeface="Arial MT"/>
              </a:rPr>
              <a:t> </a:t>
            </a:r>
            <a:r>
              <a:rPr sz="1800" dirty="0">
                <a:solidFill>
                  <a:srgbClr val="595959"/>
                </a:solidFill>
                <a:latin typeface="Arial MT"/>
                <a:cs typeface="Arial MT"/>
              </a:rPr>
              <a:t>function</a:t>
            </a:r>
            <a:r>
              <a:rPr sz="1800" spc="-10" dirty="0">
                <a:solidFill>
                  <a:srgbClr val="595959"/>
                </a:solidFill>
                <a:latin typeface="Arial MT"/>
                <a:cs typeface="Arial MT"/>
              </a:rPr>
              <a:t> </a:t>
            </a:r>
            <a:r>
              <a:rPr sz="1800" spc="-25" dirty="0">
                <a:solidFill>
                  <a:srgbClr val="595959"/>
                </a:solidFill>
                <a:latin typeface="Arial MT"/>
                <a:cs typeface="Arial MT"/>
              </a:rPr>
              <a:t>is </a:t>
            </a:r>
            <a:r>
              <a:rPr sz="1800" dirty="0">
                <a:solidFill>
                  <a:srgbClr val="595959"/>
                </a:solidFill>
                <a:latin typeface="Arial MT"/>
                <a:cs typeface="Arial MT"/>
              </a:rPr>
              <a:t>the</a:t>
            </a:r>
            <a:r>
              <a:rPr sz="1800" spc="-20" dirty="0">
                <a:solidFill>
                  <a:srgbClr val="595959"/>
                </a:solidFill>
                <a:latin typeface="Arial MT"/>
                <a:cs typeface="Arial MT"/>
              </a:rPr>
              <a:t> </a:t>
            </a:r>
            <a:r>
              <a:rPr sz="1800" dirty="0">
                <a:solidFill>
                  <a:srgbClr val="595959"/>
                </a:solidFill>
                <a:latin typeface="Arial MT"/>
                <a:cs typeface="Arial MT"/>
              </a:rPr>
              <a:t>logistic</a:t>
            </a:r>
            <a:r>
              <a:rPr sz="1800" spc="-10" dirty="0">
                <a:solidFill>
                  <a:srgbClr val="595959"/>
                </a:solidFill>
                <a:latin typeface="Arial MT"/>
                <a:cs typeface="Arial MT"/>
              </a:rPr>
              <a:t> function,</a:t>
            </a:r>
            <a:endParaRPr sz="1800">
              <a:latin typeface="Arial MT"/>
              <a:cs typeface="Arial MT"/>
            </a:endParaRPr>
          </a:p>
        </p:txBody>
      </p:sp>
      <p:pic>
        <p:nvPicPr>
          <p:cNvPr id="4" name="object 4"/>
          <p:cNvPicPr/>
          <p:nvPr/>
        </p:nvPicPr>
        <p:blipFill>
          <a:blip r:embed="rId2" cstate="print"/>
          <a:stretch>
            <a:fillRect/>
          </a:stretch>
        </p:blipFill>
        <p:spPr>
          <a:xfrm>
            <a:off x="2803269" y="3803167"/>
            <a:ext cx="3608061" cy="7465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1690" rIns="0" bIns="0" rtlCol="0">
            <a:spAutoFit/>
          </a:bodyPr>
          <a:lstStyle/>
          <a:p>
            <a:pPr marL="12700">
              <a:lnSpc>
                <a:spcPct val="100000"/>
              </a:lnSpc>
              <a:spcBef>
                <a:spcPts val="120"/>
              </a:spcBef>
            </a:pPr>
            <a:r>
              <a:rPr dirty="0"/>
              <a:t>Sigmoid</a:t>
            </a:r>
            <a:r>
              <a:rPr spc="10" dirty="0"/>
              <a:t> </a:t>
            </a:r>
            <a:r>
              <a:rPr dirty="0"/>
              <a:t>Function</a:t>
            </a:r>
            <a:r>
              <a:rPr spc="15" dirty="0"/>
              <a:t> </a:t>
            </a:r>
            <a:r>
              <a:rPr spc="-10" dirty="0"/>
              <a:t>graph</a:t>
            </a:r>
          </a:p>
        </p:txBody>
      </p:sp>
      <p:pic>
        <p:nvPicPr>
          <p:cNvPr id="3" name="object 3"/>
          <p:cNvPicPr/>
          <p:nvPr/>
        </p:nvPicPr>
        <p:blipFill>
          <a:blip r:embed="rId2" cstate="print"/>
          <a:stretch>
            <a:fillRect/>
          </a:stretch>
        </p:blipFill>
        <p:spPr>
          <a:xfrm>
            <a:off x="4572000" y="1439400"/>
            <a:ext cx="3581399" cy="2438399"/>
          </a:xfrm>
          <a:prstGeom prst="rect">
            <a:avLst/>
          </a:prstGeom>
        </p:spPr>
      </p:pic>
      <p:pic>
        <p:nvPicPr>
          <p:cNvPr id="4" name="object 4"/>
          <p:cNvPicPr/>
          <p:nvPr/>
        </p:nvPicPr>
        <p:blipFill>
          <a:blip r:embed="rId3" cstate="print"/>
          <a:stretch>
            <a:fillRect/>
          </a:stretch>
        </p:blipFill>
        <p:spPr>
          <a:xfrm>
            <a:off x="579193" y="2241567"/>
            <a:ext cx="3608062" cy="7465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dirty="0"/>
              <a:t>Logistic</a:t>
            </a:r>
            <a:r>
              <a:rPr spc="-25" dirty="0"/>
              <a:t> </a:t>
            </a:r>
            <a:r>
              <a:rPr dirty="0"/>
              <a:t>Regression</a:t>
            </a:r>
            <a:r>
              <a:rPr spc="-20" dirty="0"/>
              <a:t> </a:t>
            </a:r>
            <a:r>
              <a:rPr spc="-10" dirty="0"/>
              <a:t>example</a:t>
            </a:r>
          </a:p>
        </p:txBody>
      </p:sp>
      <p:sp>
        <p:nvSpPr>
          <p:cNvPr id="3" name="object 3"/>
          <p:cNvSpPr txBox="1"/>
          <p:nvPr/>
        </p:nvSpPr>
        <p:spPr>
          <a:xfrm>
            <a:off x="384725" y="1015058"/>
            <a:ext cx="8314690" cy="671195"/>
          </a:xfrm>
          <a:prstGeom prst="rect">
            <a:avLst/>
          </a:prstGeom>
        </p:spPr>
        <p:txBody>
          <a:bodyPr vert="horz" wrap="square" lIns="0" tIns="29209" rIns="0" bIns="0" rtlCol="0">
            <a:spAutoFit/>
          </a:bodyPr>
          <a:lstStyle/>
          <a:p>
            <a:pPr marL="12700" marR="5080">
              <a:lnSpc>
                <a:spcPts val="1660"/>
              </a:lnSpc>
              <a:spcBef>
                <a:spcPts val="229"/>
              </a:spcBef>
            </a:pPr>
            <a:r>
              <a:rPr sz="1450" dirty="0">
                <a:solidFill>
                  <a:srgbClr val="595959"/>
                </a:solidFill>
                <a:latin typeface="Arial MT"/>
                <a:cs typeface="Arial MT"/>
              </a:rPr>
              <a:t>Binary</a:t>
            </a:r>
            <a:r>
              <a:rPr sz="1450" spc="-20" dirty="0">
                <a:solidFill>
                  <a:srgbClr val="595959"/>
                </a:solidFill>
                <a:latin typeface="Arial MT"/>
                <a:cs typeface="Arial MT"/>
              </a:rPr>
              <a:t> </a:t>
            </a:r>
            <a:r>
              <a:rPr sz="1450" dirty="0">
                <a:solidFill>
                  <a:srgbClr val="595959"/>
                </a:solidFill>
                <a:latin typeface="Arial MT"/>
                <a:cs typeface="Arial MT"/>
              </a:rPr>
              <a:t>classification</a:t>
            </a:r>
            <a:r>
              <a:rPr sz="1450" spc="-20" dirty="0">
                <a:solidFill>
                  <a:srgbClr val="595959"/>
                </a:solidFill>
                <a:latin typeface="Arial MT"/>
                <a:cs typeface="Arial MT"/>
              </a:rPr>
              <a:t> </a:t>
            </a:r>
            <a:r>
              <a:rPr sz="1450" dirty="0">
                <a:solidFill>
                  <a:srgbClr val="595959"/>
                </a:solidFill>
                <a:latin typeface="Arial MT"/>
                <a:cs typeface="Arial MT"/>
              </a:rPr>
              <a:t>task</a:t>
            </a:r>
            <a:r>
              <a:rPr sz="1450" spc="-15" dirty="0">
                <a:solidFill>
                  <a:srgbClr val="595959"/>
                </a:solidFill>
                <a:latin typeface="Arial MT"/>
                <a:cs typeface="Arial MT"/>
              </a:rPr>
              <a:t> </a:t>
            </a:r>
            <a:r>
              <a:rPr sz="1450" dirty="0">
                <a:solidFill>
                  <a:srgbClr val="595959"/>
                </a:solidFill>
                <a:latin typeface="Arial MT"/>
                <a:cs typeface="Arial MT"/>
              </a:rPr>
              <a:t>for</a:t>
            </a:r>
            <a:r>
              <a:rPr sz="1450" spc="-20" dirty="0">
                <a:solidFill>
                  <a:srgbClr val="595959"/>
                </a:solidFill>
                <a:latin typeface="Arial MT"/>
                <a:cs typeface="Arial MT"/>
              </a:rPr>
              <a:t> </a:t>
            </a:r>
            <a:r>
              <a:rPr sz="1450" dirty="0">
                <a:solidFill>
                  <a:srgbClr val="595959"/>
                </a:solidFill>
                <a:latin typeface="Arial MT"/>
                <a:cs typeface="Arial MT"/>
              </a:rPr>
              <a:t>a</a:t>
            </a:r>
            <a:r>
              <a:rPr sz="1450" spc="-20" dirty="0">
                <a:solidFill>
                  <a:srgbClr val="595959"/>
                </a:solidFill>
                <a:latin typeface="Arial MT"/>
                <a:cs typeface="Arial MT"/>
              </a:rPr>
              <a:t> </a:t>
            </a:r>
            <a:r>
              <a:rPr sz="1450" dirty="0">
                <a:solidFill>
                  <a:srgbClr val="595959"/>
                </a:solidFill>
                <a:latin typeface="Arial MT"/>
                <a:cs typeface="Arial MT"/>
              </a:rPr>
              <a:t>single</a:t>
            </a:r>
            <a:r>
              <a:rPr sz="1450" spc="-15" dirty="0">
                <a:solidFill>
                  <a:srgbClr val="595959"/>
                </a:solidFill>
                <a:latin typeface="Arial MT"/>
                <a:cs typeface="Arial MT"/>
              </a:rPr>
              <a:t> </a:t>
            </a:r>
            <a:r>
              <a:rPr sz="1450" dirty="0">
                <a:solidFill>
                  <a:srgbClr val="595959"/>
                </a:solidFill>
                <a:latin typeface="Arial MT"/>
                <a:cs typeface="Arial MT"/>
              </a:rPr>
              <a:t>input</a:t>
            </a:r>
            <a:r>
              <a:rPr sz="1450" spc="-20" dirty="0">
                <a:solidFill>
                  <a:srgbClr val="595959"/>
                </a:solidFill>
                <a:latin typeface="Arial MT"/>
                <a:cs typeface="Arial MT"/>
              </a:rPr>
              <a:t> </a:t>
            </a:r>
            <a:r>
              <a:rPr sz="1450" dirty="0">
                <a:solidFill>
                  <a:srgbClr val="595959"/>
                </a:solidFill>
                <a:latin typeface="Arial MT"/>
                <a:cs typeface="Arial MT"/>
              </a:rPr>
              <a:t>variable(x)</a:t>
            </a:r>
            <a:r>
              <a:rPr sz="1450" spc="-15" dirty="0">
                <a:solidFill>
                  <a:srgbClr val="595959"/>
                </a:solidFill>
                <a:latin typeface="Arial MT"/>
                <a:cs typeface="Arial MT"/>
              </a:rPr>
              <a:t> </a:t>
            </a:r>
            <a:r>
              <a:rPr sz="1450" dirty="0">
                <a:solidFill>
                  <a:srgbClr val="595959"/>
                </a:solidFill>
                <a:latin typeface="Arial MT"/>
                <a:cs typeface="Arial MT"/>
              </a:rPr>
              <a:t>and</a:t>
            </a:r>
            <a:r>
              <a:rPr sz="1450" spc="-20" dirty="0">
                <a:solidFill>
                  <a:srgbClr val="595959"/>
                </a:solidFill>
                <a:latin typeface="Arial MT"/>
                <a:cs typeface="Arial MT"/>
              </a:rPr>
              <a:t> </a:t>
            </a:r>
            <a:r>
              <a:rPr sz="1450" dirty="0">
                <a:solidFill>
                  <a:srgbClr val="595959"/>
                </a:solidFill>
                <a:latin typeface="Arial MT"/>
                <a:cs typeface="Arial MT"/>
              </a:rPr>
              <a:t>an</a:t>
            </a:r>
            <a:r>
              <a:rPr sz="1450" spc="-20" dirty="0">
                <a:solidFill>
                  <a:srgbClr val="595959"/>
                </a:solidFill>
                <a:latin typeface="Arial MT"/>
                <a:cs typeface="Arial MT"/>
              </a:rPr>
              <a:t> </a:t>
            </a:r>
            <a:r>
              <a:rPr sz="1450" dirty="0">
                <a:solidFill>
                  <a:srgbClr val="595959"/>
                </a:solidFill>
                <a:latin typeface="Arial MT"/>
                <a:cs typeface="Arial MT"/>
              </a:rPr>
              <a:t>output</a:t>
            </a:r>
            <a:r>
              <a:rPr sz="1450" spc="-15" dirty="0">
                <a:solidFill>
                  <a:srgbClr val="595959"/>
                </a:solidFill>
                <a:latin typeface="Arial MT"/>
                <a:cs typeface="Arial MT"/>
              </a:rPr>
              <a:t> </a:t>
            </a:r>
            <a:r>
              <a:rPr sz="1450" dirty="0">
                <a:solidFill>
                  <a:srgbClr val="595959"/>
                </a:solidFill>
                <a:latin typeface="Arial MT"/>
                <a:cs typeface="Arial MT"/>
              </a:rPr>
              <a:t>variable</a:t>
            </a:r>
            <a:r>
              <a:rPr sz="1450" spc="-20" dirty="0">
                <a:solidFill>
                  <a:srgbClr val="595959"/>
                </a:solidFill>
                <a:latin typeface="Arial MT"/>
                <a:cs typeface="Arial MT"/>
              </a:rPr>
              <a:t> </a:t>
            </a:r>
            <a:r>
              <a:rPr sz="1450" dirty="0">
                <a:solidFill>
                  <a:srgbClr val="595959"/>
                </a:solidFill>
                <a:latin typeface="Arial MT"/>
                <a:cs typeface="Arial MT"/>
              </a:rPr>
              <a:t>(y).</a:t>
            </a:r>
            <a:r>
              <a:rPr sz="1450" spc="-15" dirty="0">
                <a:solidFill>
                  <a:srgbClr val="595959"/>
                </a:solidFill>
                <a:latin typeface="Arial MT"/>
                <a:cs typeface="Arial MT"/>
              </a:rPr>
              <a:t> </a:t>
            </a:r>
            <a:r>
              <a:rPr sz="1450" dirty="0">
                <a:solidFill>
                  <a:srgbClr val="595959"/>
                </a:solidFill>
                <a:latin typeface="Arial MT"/>
                <a:cs typeface="Arial MT"/>
              </a:rPr>
              <a:t>For</a:t>
            </a:r>
            <a:r>
              <a:rPr sz="1450" spc="-20" dirty="0">
                <a:solidFill>
                  <a:srgbClr val="595959"/>
                </a:solidFill>
                <a:latin typeface="Arial MT"/>
                <a:cs typeface="Arial MT"/>
              </a:rPr>
              <a:t> </a:t>
            </a:r>
            <a:r>
              <a:rPr sz="1450" dirty="0">
                <a:solidFill>
                  <a:srgbClr val="595959"/>
                </a:solidFill>
                <a:latin typeface="Arial MT"/>
                <a:cs typeface="Arial MT"/>
              </a:rPr>
              <a:t>example,</a:t>
            </a:r>
            <a:r>
              <a:rPr sz="1450" spc="-20" dirty="0">
                <a:solidFill>
                  <a:srgbClr val="595959"/>
                </a:solidFill>
                <a:latin typeface="Arial MT"/>
                <a:cs typeface="Arial MT"/>
              </a:rPr>
              <a:t> </a:t>
            </a:r>
            <a:r>
              <a:rPr sz="1450" dirty="0">
                <a:solidFill>
                  <a:srgbClr val="595959"/>
                </a:solidFill>
                <a:latin typeface="Arial MT"/>
                <a:cs typeface="Arial MT"/>
              </a:rPr>
              <a:t>we</a:t>
            </a:r>
            <a:r>
              <a:rPr sz="1450" spc="-15" dirty="0">
                <a:solidFill>
                  <a:srgbClr val="595959"/>
                </a:solidFill>
                <a:latin typeface="Arial MT"/>
                <a:cs typeface="Arial MT"/>
              </a:rPr>
              <a:t> </a:t>
            </a:r>
            <a:r>
              <a:rPr sz="1450" spc="-25" dirty="0">
                <a:solidFill>
                  <a:srgbClr val="595959"/>
                </a:solidFill>
                <a:latin typeface="Arial MT"/>
                <a:cs typeface="Arial MT"/>
              </a:rPr>
              <a:t>are </a:t>
            </a:r>
            <a:r>
              <a:rPr sz="1450" dirty="0">
                <a:solidFill>
                  <a:srgbClr val="595959"/>
                </a:solidFill>
                <a:latin typeface="Arial MT"/>
                <a:cs typeface="Arial MT"/>
              </a:rPr>
              <a:t>taking</a:t>
            </a:r>
            <a:r>
              <a:rPr sz="1450" spc="-20" dirty="0">
                <a:solidFill>
                  <a:srgbClr val="595959"/>
                </a:solidFill>
                <a:latin typeface="Arial MT"/>
                <a:cs typeface="Arial MT"/>
              </a:rPr>
              <a:t> </a:t>
            </a:r>
            <a:r>
              <a:rPr sz="1450" dirty="0">
                <a:solidFill>
                  <a:srgbClr val="595959"/>
                </a:solidFill>
                <a:latin typeface="Arial MT"/>
                <a:cs typeface="Arial MT"/>
              </a:rPr>
              <a:t>the</a:t>
            </a:r>
            <a:r>
              <a:rPr sz="1450" spc="-15" dirty="0">
                <a:solidFill>
                  <a:srgbClr val="595959"/>
                </a:solidFill>
                <a:latin typeface="Arial MT"/>
                <a:cs typeface="Arial MT"/>
              </a:rPr>
              <a:t> </a:t>
            </a:r>
            <a:r>
              <a:rPr sz="1450" dirty="0">
                <a:solidFill>
                  <a:srgbClr val="595959"/>
                </a:solidFill>
                <a:latin typeface="Arial MT"/>
                <a:cs typeface="Arial MT"/>
              </a:rPr>
              <a:t>humidity</a:t>
            </a:r>
            <a:r>
              <a:rPr sz="1450" spc="-15" dirty="0">
                <a:solidFill>
                  <a:srgbClr val="595959"/>
                </a:solidFill>
                <a:latin typeface="Arial MT"/>
                <a:cs typeface="Arial MT"/>
              </a:rPr>
              <a:t> </a:t>
            </a:r>
            <a:r>
              <a:rPr sz="1450" dirty="0">
                <a:solidFill>
                  <a:srgbClr val="595959"/>
                </a:solidFill>
                <a:latin typeface="Arial MT"/>
                <a:cs typeface="Arial MT"/>
              </a:rPr>
              <a:t>as</a:t>
            </a:r>
            <a:r>
              <a:rPr sz="1450" spc="-15" dirty="0">
                <a:solidFill>
                  <a:srgbClr val="595959"/>
                </a:solidFill>
                <a:latin typeface="Arial MT"/>
                <a:cs typeface="Arial MT"/>
              </a:rPr>
              <a:t> </a:t>
            </a:r>
            <a:r>
              <a:rPr sz="1450" dirty="0">
                <a:solidFill>
                  <a:srgbClr val="595959"/>
                </a:solidFill>
                <a:latin typeface="Arial MT"/>
                <a:cs typeface="Arial MT"/>
              </a:rPr>
              <a:t>input</a:t>
            </a:r>
            <a:r>
              <a:rPr sz="1450" spc="-15" dirty="0">
                <a:solidFill>
                  <a:srgbClr val="595959"/>
                </a:solidFill>
                <a:latin typeface="Arial MT"/>
                <a:cs typeface="Arial MT"/>
              </a:rPr>
              <a:t> </a:t>
            </a:r>
            <a:r>
              <a:rPr sz="1450" dirty="0">
                <a:solidFill>
                  <a:srgbClr val="595959"/>
                </a:solidFill>
                <a:latin typeface="Arial MT"/>
                <a:cs typeface="Arial MT"/>
              </a:rPr>
              <a:t>and</a:t>
            </a:r>
            <a:r>
              <a:rPr sz="1450" spc="-20" dirty="0">
                <a:solidFill>
                  <a:srgbClr val="595959"/>
                </a:solidFill>
                <a:latin typeface="Arial MT"/>
                <a:cs typeface="Arial MT"/>
              </a:rPr>
              <a:t> </a:t>
            </a:r>
            <a:r>
              <a:rPr sz="1450" dirty="0">
                <a:solidFill>
                  <a:srgbClr val="595959"/>
                </a:solidFill>
                <a:latin typeface="Arial MT"/>
                <a:cs typeface="Arial MT"/>
              </a:rPr>
              <a:t>trying</a:t>
            </a:r>
            <a:r>
              <a:rPr sz="1450" spc="-15" dirty="0">
                <a:solidFill>
                  <a:srgbClr val="595959"/>
                </a:solidFill>
                <a:latin typeface="Arial MT"/>
                <a:cs typeface="Arial MT"/>
              </a:rPr>
              <a:t> </a:t>
            </a:r>
            <a:r>
              <a:rPr sz="1450" dirty="0">
                <a:solidFill>
                  <a:srgbClr val="595959"/>
                </a:solidFill>
                <a:latin typeface="Arial MT"/>
                <a:cs typeface="Arial MT"/>
              </a:rPr>
              <a:t>to</a:t>
            </a:r>
            <a:r>
              <a:rPr sz="1450" spc="-15" dirty="0">
                <a:solidFill>
                  <a:srgbClr val="595959"/>
                </a:solidFill>
                <a:latin typeface="Arial MT"/>
                <a:cs typeface="Arial MT"/>
              </a:rPr>
              <a:t> </a:t>
            </a:r>
            <a:r>
              <a:rPr sz="1450" dirty="0">
                <a:solidFill>
                  <a:srgbClr val="595959"/>
                </a:solidFill>
                <a:latin typeface="Arial MT"/>
                <a:cs typeface="Arial MT"/>
              </a:rPr>
              <a:t>predict</a:t>
            </a:r>
            <a:r>
              <a:rPr sz="1450" spc="-15" dirty="0">
                <a:solidFill>
                  <a:srgbClr val="595959"/>
                </a:solidFill>
                <a:latin typeface="Arial MT"/>
                <a:cs typeface="Arial MT"/>
              </a:rPr>
              <a:t> </a:t>
            </a:r>
            <a:r>
              <a:rPr sz="1450" dirty="0">
                <a:solidFill>
                  <a:srgbClr val="595959"/>
                </a:solidFill>
                <a:latin typeface="Arial MT"/>
                <a:cs typeface="Arial MT"/>
              </a:rPr>
              <a:t>the</a:t>
            </a:r>
            <a:r>
              <a:rPr sz="1450" spc="-15" dirty="0">
                <a:solidFill>
                  <a:srgbClr val="595959"/>
                </a:solidFill>
                <a:latin typeface="Arial MT"/>
                <a:cs typeface="Arial MT"/>
              </a:rPr>
              <a:t> </a:t>
            </a:r>
            <a:r>
              <a:rPr sz="1450" dirty="0">
                <a:solidFill>
                  <a:srgbClr val="595959"/>
                </a:solidFill>
                <a:latin typeface="Arial MT"/>
                <a:cs typeface="Arial MT"/>
              </a:rPr>
              <a:t>weather</a:t>
            </a:r>
            <a:r>
              <a:rPr sz="1450" spc="-15" dirty="0">
                <a:solidFill>
                  <a:srgbClr val="595959"/>
                </a:solidFill>
                <a:latin typeface="Arial MT"/>
                <a:cs typeface="Arial MT"/>
              </a:rPr>
              <a:t> </a:t>
            </a:r>
            <a:r>
              <a:rPr sz="1450" dirty="0">
                <a:solidFill>
                  <a:srgbClr val="595959"/>
                </a:solidFill>
                <a:latin typeface="Arial MT"/>
                <a:cs typeface="Arial MT"/>
              </a:rPr>
              <a:t>condition.</a:t>
            </a:r>
            <a:r>
              <a:rPr sz="1450" spc="-20" dirty="0">
                <a:solidFill>
                  <a:srgbClr val="595959"/>
                </a:solidFill>
                <a:latin typeface="Arial MT"/>
                <a:cs typeface="Arial MT"/>
              </a:rPr>
              <a:t> </a:t>
            </a:r>
            <a:r>
              <a:rPr sz="1450" dirty="0">
                <a:solidFill>
                  <a:srgbClr val="595959"/>
                </a:solidFill>
                <a:latin typeface="Arial MT"/>
                <a:cs typeface="Arial MT"/>
              </a:rPr>
              <a:t>Suppose</a:t>
            </a:r>
            <a:r>
              <a:rPr sz="1450" spc="-15" dirty="0">
                <a:solidFill>
                  <a:srgbClr val="595959"/>
                </a:solidFill>
                <a:latin typeface="Arial MT"/>
                <a:cs typeface="Arial MT"/>
              </a:rPr>
              <a:t> </a:t>
            </a:r>
            <a:r>
              <a:rPr sz="1450" dirty="0">
                <a:solidFill>
                  <a:srgbClr val="595959"/>
                </a:solidFill>
                <a:latin typeface="Arial MT"/>
                <a:cs typeface="Arial MT"/>
              </a:rPr>
              <a:t>we</a:t>
            </a:r>
            <a:r>
              <a:rPr sz="1450" spc="-15" dirty="0">
                <a:solidFill>
                  <a:srgbClr val="595959"/>
                </a:solidFill>
                <a:latin typeface="Arial MT"/>
                <a:cs typeface="Arial MT"/>
              </a:rPr>
              <a:t> </a:t>
            </a:r>
            <a:r>
              <a:rPr sz="1450" dirty="0">
                <a:solidFill>
                  <a:srgbClr val="595959"/>
                </a:solidFill>
                <a:latin typeface="Arial MT"/>
                <a:cs typeface="Arial MT"/>
              </a:rPr>
              <a:t>have</a:t>
            </a:r>
            <a:r>
              <a:rPr sz="1450" spc="-15" dirty="0">
                <a:solidFill>
                  <a:srgbClr val="595959"/>
                </a:solidFill>
                <a:latin typeface="Arial MT"/>
                <a:cs typeface="Arial MT"/>
              </a:rPr>
              <a:t> </a:t>
            </a:r>
            <a:r>
              <a:rPr sz="1450" dirty="0">
                <a:solidFill>
                  <a:srgbClr val="595959"/>
                </a:solidFill>
                <a:latin typeface="Arial MT"/>
                <a:cs typeface="Arial MT"/>
              </a:rPr>
              <a:t>only</a:t>
            </a:r>
            <a:r>
              <a:rPr sz="1450" spc="-15" dirty="0">
                <a:solidFill>
                  <a:srgbClr val="595959"/>
                </a:solidFill>
                <a:latin typeface="Arial MT"/>
                <a:cs typeface="Arial MT"/>
              </a:rPr>
              <a:t> </a:t>
            </a:r>
            <a:r>
              <a:rPr sz="1450" spc="-25" dirty="0">
                <a:solidFill>
                  <a:srgbClr val="595959"/>
                </a:solidFill>
                <a:latin typeface="Arial MT"/>
                <a:cs typeface="Arial MT"/>
              </a:rPr>
              <a:t>two </a:t>
            </a:r>
            <a:r>
              <a:rPr sz="1450" dirty="0">
                <a:solidFill>
                  <a:srgbClr val="595959"/>
                </a:solidFill>
                <a:latin typeface="Arial MT"/>
                <a:cs typeface="Arial MT"/>
              </a:rPr>
              <a:t>weather</a:t>
            </a:r>
            <a:r>
              <a:rPr sz="1450" spc="-5" dirty="0">
                <a:solidFill>
                  <a:srgbClr val="595959"/>
                </a:solidFill>
                <a:latin typeface="Arial MT"/>
                <a:cs typeface="Arial MT"/>
              </a:rPr>
              <a:t> </a:t>
            </a:r>
            <a:r>
              <a:rPr sz="1450" dirty="0">
                <a:solidFill>
                  <a:srgbClr val="595959"/>
                </a:solidFill>
                <a:latin typeface="Arial MT"/>
                <a:cs typeface="Arial MT"/>
              </a:rPr>
              <a:t>conditions</a:t>
            </a:r>
            <a:r>
              <a:rPr sz="1450" spc="-5" dirty="0">
                <a:solidFill>
                  <a:srgbClr val="595959"/>
                </a:solidFill>
                <a:latin typeface="Arial MT"/>
                <a:cs typeface="Arial MT"/>
              </a:rPr>
              <a:t> </a:t>
            </a:r>
            <a:r>
              <a:rPr sz="1450" dirty="0">
                <a:solidFill>
                  <a:srgbClr val="595959"/>
                </a:solidFill>
                <a:latin typeface="Arial MT"/>
                <a:cs typeface="Arial MT"/>
              </a:rPr>
              <a:t>as rainy</a:t>
            </a:r>
            <a:r>
              <a:rPr sz="1450" spc="-5" dirty="0">
                <a:solidFill>
                  <a:srgbClr val="595959"/>
                </a:solidFill>
                <a:latin typeface="Arial MT"/>
                <a:cs typeface="Arial MT"/>
              </a:rPr>
              <a:t> </a:t>
            </a:r>
            <a:r>
              <a:rPr sz="1450" dirty="0">
                <a:solidFill>
                  <a:srgbClr val="595959"/>
                </a:solidFill>
                <a:latin typeface="Arial MT"/>
                <a:cs typeface="Arial MT"/>
              </a:rPr>
              <a:t>or </a:t>
            </a:r>
            <a:r>
              <a:rPr sz="1450" spc="-10" dirty="0">
                <a:solidFill>
                  <a:srgbClr val="595959"/>
                </a:solidFill>
                <a:latin typeface="Arial MT"/>
                <a:cs typeface="Arial MT"/>
              </a:rPr>
              <a:t>sunny.</a:t>
            </a:r>
            <a:endParaRPr sz="1450">
              <a:latin typeface="Arial MT"/>
              <a:cs typeface="Arial MT"/>
            </a:endParaRPr>
          </a:p>
        </p:txBody>
      </p:sp>
      <p:sp>
        <p:nvSpPr>
          <p:cNvPr id="4" name="object 4"/>
          <p:cNvSpPr txBox="1"/>
          <p:nvPr/>
        </p:nvSpPr>
        <p:spPr>
          <a:xfrm>
            <a:off x="501408" y="4348046"/>
            <a:ext cx="8207375" cy="459740"/>
          </a:xfrm>
          <a:prstGeom prst="rect">
            <a:avLst/>
          </a:prstGeom>
        </p:spPr>
        <p:txBody>
          <a:bodyPr vert="horz" wrap="square" lIns="0" tIns="13970" rIns="0" bIns="0" rtlCol="0">
            <a:spAutoFit/>
          </a:bodyPr>
          <a:lstStyle/>
          <a:p>
            <a:pPr marL="353060" indent="-340360">
              <a:lnSpc>
                <a:spcPts val="1700"/>
              </a:lnSpc>
              <a:spcBef>
                <a:spcPts val="110"/>
              </a:spcBef>
              <a:buChar char="●"/>
              <a:tabLst>
                <a:tab pos="353060" algn="l"/>
              </a:tabLst>
            </a:pPr>
            <a:r>
              <a:rPr sz="1450" dirty="0">
                <a:solidFill>
                  <a:srgbClr val="595959"/>
                </a:solidFill>
                <a:latin typeface="Arial MT"/>
                <a:cs typeface="Arial MT"/>
              </a:rPr>
              <a:t>In</a:t>
            </a:r>
            <a:r>
              <a:rPr sz="1450" spc="-15" dirty="0">
                <a:solidFill>
                  <a:srgbClr val="595959"/>
                </a:solidFill>
                <a:latin typeface="Arial MT"/>
                <a:cs typeface="Arial MT"/>
              </a:rPr>
              <a:t> </a:t>
            </a:r>
            <a:r>
              <a:rPr sz="1450" dirty="0">
                <a:solidFill>
                  <a:srgbClr val="595959"/>
                </a:solidFill>
                <a:latin typeface="Arial MT"/>
                <a:cs typeface="Arial MT"/>
              </a:rPr>
              <a:t>order</a:t>
            </a:r>
            <a:r>
              <a:rPr sz="1450" spc="-15" dirty="0">
                <a:solidFill>
                  <a:srgbClr val="595959"/>
                </a:solidFill>
                <a:latin typeface="Arial MT"/>
                <a:cs typeface="Arial MT"/>
              </a:rPr>
              <a:t> </a:t>
            </a:r>
            <a:r>
              <a:rPr sz="1450" dirty="0">
                <a:solidFill>
                  <a:srgbClr val="595959"/>
                </a:solidFill>
                <a:latin typeface="Arial MT"/>
                <a:cs typeface="Arial MT"/>
              </a:rPr>
              <a:t>to</a:t>
            </a:r>
            <a:r>
              <a:rPr sz="1450" spc="-15" dirty="0">
                <a:solidFill>
                  <a:srgbClr val="595959"/>
                </a:solidFill>
                <a:latin typeface="Arial MT"/>
                <a:cs typeface="Arial MT"/>
              </a:rPr>
              <a:t> </a:t>
            </a:r>
            <a:r>
              <a:rPr sz="1450" dirty="0">
                <a:solidFill>
                  <a:srgbClr val="595959"/>
                </a:solidFill>
                <a:latin typeface="Arial MT"/>
                <a:cs typeface="Arial MT"/>
              </a:rPr>
              <a:t>generate</a:t>
            </a:r>
            <a:r>
              <a:rPr sz="1450" spc="-15" dirty="0">
                <a:solidFill>
                  <a:srgbClr val="595959"/>
                </a:solidFill>
                <a:latin typeface="Arial MT"/>
                <a:cs typeface="Arial MT"/>
              </a:rPr>
              <a:t> </a:t>
            </a:r>
            <a:r>
              <a:rPr sz="1450" dirty="0">
                <a:solidFill>
                  <a:srgbClr val="595959"/>
                </a:solidFill>
                <a:latin typeface="Arial MT"/>
                <a:cs typeface="Arial MT"/>
              </a:rPr>
              <a:t>the</a:t>
            </a:r>
            <a:r>
              <a:rPr sz="1450" spc="-15" dirty="0">
                <a:solidFill>
                  <a:srgbClr val="595959"/>
                </a:solidFill>
                <a:latin typeface="Arial MT"/>
                <a:cs typeface="Arial MT"/>
              </a:rPr>
              <a:t> </a:t>
            </a:r>
            <a:r>
              <a:rPr sz="1450" dirty="0">
                <a:solidFill>
                  <a:srgbClr val="595959"/>
                </a:solidFill>
                <a:latin typeface="Arial MT"/>
                <a:cs typeface="Arial MT"/>
              </a:rPr>
              <a:t>prediction</a:t>
            </a:r>
            <a:r>
              <a:rPr sz="1450" spc="-15" dirty="0">
                <a:solidFill>
                  <a:srgbClr val="595959"/>
                </a:solidFill>
                <a:latin typeface="Arial MT"/>
                <a:cs typeface="Arial MT"/>
              </a:rPr>
              <a:t> </a:t>
            </a:r>
            <a:r>
              <a:rPr sz="1450" dirty="0">
                <a:solidFill>
                  <a:srgbClr val="595959"/>
                </a:solidFill>
                <a:latin typeface="Arial MT"/>
                <a:cs typeface="Arial MT"/>
              </a:rPr>
              <a:t>process</a:t>
            </a:r>
            <a:r>
              <a:rPr sz="1450" spc="-15" dirty="0">
                <a:solidFill>
                  <a:srgbClr val="595959"/>
                </a:solidFill>
                <a:latin typeface="Arial MT"/>
                <a:cs typeface="Arial MT"/>
              </a:rPr>
              <a:t> </a:t>
            </a:r>
            <a:r>
              <a:rPr sz="1450" dirty="0">
                <a:solidFill>
                  <a:srgbClr val="595959"/>
                </a:solidFill>
                <a:latin typeface="Arial MT"/>
                <a:cs typeface="Arial MT"/>
              </a:rPr>
              <a:t>for</a:t>
            </a:r>
            <a:r>
              <a:rPr sz="1450" spc="-15" dirty="0">
                <a:solidFill>
                  <a:srgbClr val="595959"/>
                </a:solidFill>
                <a:latin typeface="Arial MT"/>
                <a:cs typeface="Arial MT"/>
              </a:rPr>
              <a:t> </a:t>
            </a:r>
            <a:r>
              <a:rPr sz="1450" dirty="0">
                <a:solidFill>
                  <a:srgbClr val="595959"/>
                </a:solidFill>
                <a:latin typeface="Arial MT"/>
                <a:cs typeface="Arial MT"/>
              </a:rPr>
              <a:t>next</a:t>
            </a:r>
            <a:r>
              <a:rPr sz="1450" spc="-15" dirty="0">
                <a:solidFill>
                  <a:srgbClr val="595959"/>
                </a:solidFill>
                <a:latin typeface="Arial MT"/>
                <a:cs typeface="Arial MT"/>
              </a:rPr>
              <a:t> </a:t>
            </a:r>
            <a:r>
              <a:rPr sz="1450" dirty="0">
                <a:solidFill>
                  <a:srgbClr val="595959"/>
                </a:solidFill>
                <a:latin typeface="Arial MT"/>
                <a:cs typeface="Arial MT"/>
              </a:rPr>
              <a:t>humidity</a:t>
            </a:r>
            <a:r>
              <a:rPr sz="1450" spc="-10" dirty="0">
                <a:solidFill>
                  <a:srgbClr val="595959"/>
                </a:solidFill>
                <a:latin typeface="Arial MT"/>
                <a:cs typeface="Arial MT"/>
              </a:rPr>
              <a:t> </a:t>
            </a:r>
            <a:r>
              <a:rPr sz="1450" dirty="0">
                <a:solidFill>
                  <a:srgbClr val="595959"/>
                </a:solidFill>
                <a:latin typeface="Arial MT"/>
                <a:cs typeface="Arial MT"/>
              </a:rPr>
              <a:t>values,</a:t>
            </a:r>
            <a:r>
              <a:rPr sz="1450" spc="-15" dirty="0">
                <a:solidFill>
                  <a:srgbClr val="595959"/>
                </a:solidFill>
                <a:latin typeface="Arial MT"/>
                <a:cs typeface="Arial MT"/>
              </a:rPr>
              <a:t> </a:t>
            </a:r>
            <a:r>
              <a:rPr sz="1450" dirty="0">
                <a:solidFill>
                  <a:srgbClr val="595959"/>
                </a:solidFill>
                <a:latin typeface="Arial MT"/>
                <a:cs typeface="Arial MT"/>
              </a:rPr>
              <a:t>we</a:t>
            </a:r>
            <a:r>
              <a:rPr sz="1450" spc="-15" dirty="0">
                <a:solidFill>
                  <a:srgbClr val="595959"/>
                </a:solidFill>
                <a:latin typeface="Arial MT"/>
                <a:cs typeface="Arial MT"/>
              </a:rPr>
              <a:t> </a:t>
            </a:r>
            <a:r>
              <a:rPr sz="1450" dirty="0">
                <a:solidFill>
                  <a:srgbClr val="595959"/>
                </a:solidFill>
                <a:latin typeface="Arial MT"/>
                <a:cs typeface="Arial MT"/>
              </a:rPr>
              <a:t>need</a:t>
            </a:r>
            <a:r>
              <a:rPr sz="1450" spc="-15" dirty="0">
                <a:solidFill>
                  <a:srgbClr val="595959"/>
                </a:solidFill>
                <a:latin typeface="Arial MT"/>
                <a:cs typeface="Arial MT"/>
              </a:rPr>
              <a:t> </a:t>
            </a:r>
            <a:r>
              <a:rPr sz="1450" dirty="0">
                <a:solidFill>
                  <a:srgbClr val="595959"/>
                </a:solidFill>
                <a:latin typeface="Arial MT"/>
                <a:cs typeface="Arial MT"/>
              </a:rPr>
              <a:t>to</a:t>
            </a:r>
            <a:r>
              <a:rPr sz="1450" spc="-15" dirty="0">
                <a:solidFill>
                  <a:srgbClr val="595959"/>
                </a:solidFill>
                <a:latin typeface="Arial MT"/>
                <a:cs typeface="Arial MT"/>
              </a:rPr>
              <a:t> </a:t>
            </a:r>
            <a:r>
              <a:rPr sz="1450" dirty="0">
                <a:solidFill>
                  <a:srgbClr val="595959"/>
                </a:solidFill>
                <a:latin typeface="Arial MT"/>
                <a:cs typeface="Arial MT"/>
              </a:rPr>
              <a:t>fit</a:t>
            </a:r>
            <a:r>
              <a:rPr sz="1450" spc="-15" dirty="0">
                <a:solidFill>
                  <a:srgbClr val="595959"/>
                </a:solidFill>
                <a:latin typeface="Arial MT"/>
                <a:cs typeface="Arial MT"/>
              </a:rPr>
              <a:t> </a:t>
            </a:r>
            <a:r>
              <a:rPr sz="1450" dirty="0">
                <a:solidFill>
                  <a:srgbClr val="595959"/>
                </a:solidFill>
                <a:latin typeface="Arial MT"/>
                <a:cs typeface="Arial MT"/>
              </a:rPr>
              <a:t>a</a:t>
            </a:r>
            <a:r>
              <a:rPr sz="1450" spc="-15" dirty="0">
                <a:solidFill>
                  <a:srgbClr val="595959"/>
                </a:solidFill>
                <a:latin typeface="Arial MT"/>
                <a:cs typeface="Arial MT"/>
              </a:rPr>
              <a:t> </a:t>
            </a:r>
            <a:r>
              <a:rPr sz="1450" dirty="0">
                <a:solidFill>
                  <a:srgbClr val="595959"/>
                </a:solidFill>
                <a:latin typeface="Arial MT"/>
                <a:cs typeface="Arial MT"/>
              </a:rPr>
              <a:t>line,</a:t>
            </a:r>
            <a:r>
              <a:rPr sz="1450" spc="-15" dirty="0">
                <a:solidFill>
                  <a:srgbClr val="595959"/>
                </a:solidFill>
                <a:latin typeface="Arial MT"/>
                <a:cs typeface="Arial MT"/>
              </a:rPr>
              <a:t> </a:t>
            </a:r>
            <a:r>
              <a:rPr sz="1450" dirty="0">
                <a:solidFill>
                  <a:srgbClr val="595959"/>
                </a:solidFill>
                <a:latin typeface="Arial MT"/>
                <a:cs typeface="Arial MT"/>
              </a:rPr>
              <a:t>y</a:t>
            </a:r>
            <a:r>
              <a:rPr sz="1450" spc="-15" dirty="0">
                <a:solidFill>
                  <a:srgbClr val="595959"/>
                </a:solidFill>
                <a:latin typeface="Arial MT"/>
                <a:cs typeface="Arial MT"/>
              </a:rPr>
              <a:t> </a:t>
            </a:r>
            <a:r>
              <a:rPr sz="1450" dirty="0">
                <a:solidFill>
                  <a:srgbClr val="595959"/>
                </a:solidFill>
                <a:latin typeface="Arial MT"/>
                <a:cs typeface="Arial MT"/>
              </a:rPr>
              <a:t>=</a:t>
            </a:r>
            <a:r>
              <a:rPr sz="1450" spc="-10" dirty="0">
                <a:solidFill>
                  <a:srgbClr val="595959"/>
                </a:solidFill>
                <a:latin typeface="Arial MT"/>
                <a:cs typeface="Arial MT"/>
              </a:rPr>
              <a:t> </a:t>
            </a:r>
            <a:r>
              <a:rPr sz="1450" spc="-25" dirty="0">
                <a:solidFill>
                  <a:srgbClr val="595959"/>
                </a:solidFill>
                <a:latin typeface="Arial MT"/>
                <a:cs typeface="Arial MT"/>
              </a:rPr>
              <a:t>mx</a:t>
            </a:r>
            <a:endParaRPr sz="1450">
              <a:latin typeface="Arial MT"/>
              <a:cs typeface="Arial MT"/>
            </a:endParaRPr>
          </a:p>
          <a:p>
            <a:pPr marL="353060">
              <a:lnSpc>
                <a:spcPts val="1700"/>
              </a:lnSpc>
            </a:pPr>
            <a:r>
              <a:rPr sz="1450" dirty="0">
                <a:solidFill>
                  <a:srgbClr val="595959"/>
                </a:solidFill>
                <a:latin typeface="Arial MT"/>
                <a:cs typeface="Arial MT"/>
              </a:rPr>
              <a:t>+</a:t>
            </a:r>
            <a:r>
              <a:rPr sz="1450" spc="-15" dirty="0">
                <a:solidFill>
                  <a:srgbClr val="595959"/>
                </a:solidFill>
                <a:latin typeface="Arial MT"/>
                <a:cs typeface="Arial MT"/>
              </a:rPr>
              <a:t> </a:t>
            </a:r>
            <a:r>
              <a:rPr sz="1450" dirty="0">
                <a:solidFill>
                  <a:srgbClr val="595959"/>
                </a:solidFill>
                <a:latin typeface="Arial MT"/>
                <a:cs typeface="Arial MT"/>
              </a:rPr>
              <a:t>c,</a:t>
            </a:r>
            <a:r>
              <a:rPr sz="1450" spc="-15" dirty="0">
                <a:solidFill>
                  <a:srgbClr val="595959"/>
                </a:solidFill>
                <a:latin typeface="Arial MT"/>
                <a:cs typeface="Arial MT"/>
              </a:rPr>
              <a:t> </a:t>
            </a:r>
            <a:r>
              <a:rPr sz="1450" dirty="0">
                <a:solidFill>
                  <a:srgbClr val="595959"/>
                </a:solidFill>
                <a:latin typeface="Arial MT"/>
                <a:cs typeface="Arial MT"/>
              </a:rPr>
              <a:t>where</a:t>
            </a:r>
            <a:r>
              <a:rPr sz="1450" spc="-15" dirty="0">
                <a:solidFill>
                  <a:srgbClr val="595959"/>
                </a:solidFill>
                <a:latin typeface="Arial MT"/>
                <a:cs typeface="Arial MT"/>
              </a:rPr>
              <a:t> </a:t>
            </a:r>
            <a:r>
              <a:rPr sz="1450" dirty="0">
                <a:solidFill>
                  <a:srgbClr val="595959"/>
                </a:solidFill>
                <a:latin typeface="Arial MT"/>
                <a:cs typeface="Arial MT"/>
              </a:rPr>
              <a:t>the</a:t>
            </a:r>
            <a:r>
              <a:rPr sz="1450" spc="-15" dirty="0">
                <a:solidFill>
                  <a:srgbClr val="595959"/>
                </a:solidFill>
                <a:latin typeface="Arial MT"/>
                <a:cs typeface="Arial MT"/>
              </a:rPr>
              <a:t> </a:t>
            </a:r>
            <a:r>
              <a:rPr sz="1450" dirty="0">
                <a:solidFill>
                  <a:srgbClr val="595959"/>
                </a:solidFill>
                <a:latin typeface="Arial MT"/>
                <a:cs typeface="Arial MT"/>
              </a:rPr>
              <a:t>value</a:t>
            </a:r>
            <a:r>
              <a:rPr sz="1450" spc="-15" dirty="0">
                <a:solidFill>
                  <a:srgbClr val="595959"/>
                </a:solidFill>
                <a:latin typeface="Arial MT"/>
                <a:cs typeface="Arial MT"/>
              </a:rPr>
              <a:t> </a:t>
            </a:r>
            <a:r>
              <a:rPr sz="1450" dirty="0">
                <a:solidFill>
                  <a:srgbClr val="595959"/>
                </a:solidFill>
                <a:latin typeface="Arial MT"/>
                <a:cs typeface="Arial MT"/>
              </a:rPr>
              <a:t>of</a:t>
            </a:r>
            <a:r>
              <a:rPr sz="1450" spc="-10" dirty="0">
                <a:solidFill>
                  <a:srgbClr val="595959"/>
                </a:solidFill>
                <a:latin typeface="Arial MT"/>
                <a:cs typeface="Arial MT"/>
              </a:rPr>
              <a:t> </a:t>
            </a:r>
            <a:r>
              <a:rPr sz="1450" dirty="0">
                <a:solidFill>
                  <a:srgbClr val="595959"/>
                </a:solidFill>
                <a:latin typeface="Arial MT"/>
                <a:cs typeface="Arial MT"/>
              </a:rPr>
              <a:t>m</a:t>
            </a:r>
            <a:r>
              <a:rPr sz="1450" spc="-15" dirty="0">
                <a:solidFill>
                  <a:srgbClr val="595959"/>
                </a:solidFill>
                <a:latin typeface="Arial MT"/>
                <a:cs typeface="Arial MT"/>
              </a:rPr>
              <a:t> </a:t>
            </a:r>
            <a:r>
              <a:rPr sz="1450" dirty="0">
                <a:solidFill>
                  <a:srgbClr val="595959"/>
                </a:solidFill>
                <a:latin typeface="Arial MT"/>
                <a:cs typeface="Arial MT"/>
              </a:rPr>
              <a:t>and</a:t>
            </a:r>
            <a:r>
              <a:rPr sz="1450" spc="-15" dirty="0">
                <a:solidFill>
                  <a:srgbClr val="595959"/>
                </a:solidFill>
                <a:latin typeface="Arial MT"/>
                <a:cs typeface="Arial MT"/>
              </a:rPr>
              <a:t> </a:t>
            </a:r>
            <a:r>
              <a:rPr sz="1450" dirty="0">
                <a:solidFill>
                  <a:srgbClr val="595959"/>
                </a:solidFill>
                <a:latin typeface="Arial MT"/>
                <a:cs typeface="Arial MT"/>
              </a:rPr>
              <a:t>c</a:t>
            </a:r>
            <a:r>
              <a:rPr sz="1450" spc="-15" dirty="0">
                <a:solidFill>
                  <a:srgbClr val="595959"/>
                </a:solidFill>
                <a:latin typeface="Arial MT"/>
                <a:cs typeface="Arial MT"/>
              </a:rPr>
              <a:t> </a:t>
            </a:r>
            <a:r>
              <a:rPr sz="1450" dirty="0">
                <a:solidFill>
                  <a:srgbClr val="595959"/>
                </a:solidFill>
                <a:latin typeface="Arial MT"/>
                <a:cs typeface="Arial MT"/>
              </a:rPr>
              <a:t>need</a:t>
            </a:r>
            <a:r>
              <a:rPr sz="1450" spc="-15" dirty="0">
                <a:solidFill>
                  <a:srgbClr val="595959"/>
                </a:solidFill>
                <a:latin typeface="Arial MT"/>
                <a:cs typeface="Arial MT"/>
              </a:rPr>
              <a:t> </a:t>
            </a:r>
            <a:r>
              <a:rPr sz="1450" dirty="0">
                <a:solidFill>
                  <a:srgbClr val="595959"/>
                </a:solidFill>
                <a:latin typeface="Arial MT"/>
                <a:cs typeface="Arial MT"/>
              </a:rPr>
              <a:t>to</a:t>
            </a:r>
            <a:r>
              <a:rPr sz="1450" spc="-10" dirty="0">
                <a:solidFill>
                  <a:srgbClr val="595959"/>
                </a:solidFill>
                <a:latin typeface="Arial MT"/>
                <a:cs typeface="Arial MT"/>
              </a:rPr>
              <a:t> </a:t>
            </a:r>
            <a:r>
              <a:rPr sz="1450" dirty="0">
                <a:solidFill>
                  <a:srgbClr val="595959"/>
                </a:solidFill>
                <a:latin typeface="Arial MT"/>
                <a:cs typeface="Arial MT"/>
              </a:rPr>
              <a:t>be</a:t>
            </a:r>
            <a:r>
              <a:rPr sz="1450" spc="-15" dirty="0">
                <a:solidFill>
                  <a:srgbClr val="595959"/>
                </a:solidFill>
                <a:latin typeface="Arial MT"/>
                <a:cs typeface="Arial MT"/>
              </a:rPr>
              <a:t> </a:t>
            </a:r>
            <a:r>
              <a:rPr sz="1450" spc="-10" dirty="0">
                <a:solidFill>
                  <a:srgbClr val="595959"/>
                </a:solidFill>
                <a:latin typeface="Arial MT"/>
                <a:cs typeface="Arial MT"/>
              </a:rPr>
              <a:t>estimated.</a:t>
            </a:r>
            <a:endParaRPr sz="1450">
              <a:latin typeface="Arial MT"/>
              <a:cs typeface="Arial MT"/>
            </a:endParaRPr>
          </a:p>
        </p:txBody>
      </p:sp>
      <p:graphicFrame>
        <p:nvGraphicFramePr>
          <p:cNvPr id="5" name="object 5"/>
          <p:cNvGraphicFramePr>
            <a:graphicFrameLocks noGrp="1"/>
          </p:cNvGraphicFramePr>
          <p:nvPr>
            <p:extLst>
              <p:ext uri="{D42A27DB-BD31-4B8C-83A1-F6EECF244321}">
                <p14:modId xmlns:p14="http://schemas.microsoft.com/office/powerpoint/2010/main" val="382862165"/>
              </p:ext>
            </p:extLst>
          </p:nvPr>
        </p:nvGraphicFramePr>
        <p:xfrm>
          <a:off x="947737" y="1804987"/>
          <a:ext cx="7239000" cy="2191385"/>
        </p:xfrm>
        <a:graphic>
          <a:graphicData uri="http://schemas.openxmlformats.org/drawingml/2006/table">
            <a:tbl>
              <a:tblPr firstRow="1" bandRow="1">
                <a:tableStyleId>{2D5ABB26-0587-4C30-8999-92F81FD0307C}</a:tableStyleId>
              </a:tblPr>
              <a:tblGrid>
                <a:gridCol w="2413000"/>
                <a:gridCol w="2413000"/>
                <a:gridCol w="2413000"/>
              </a:tblGrid>
              <a:tr h="608965">
                <a:tc>
                  <a:txBody>
                    <a:bodyPr/>
                    <a:lstStyle/>
                    <a:p>
                      <a:pPr marL="85725">
                        <a:lnSpc>
                          <a:spcPct val="100000"/>
                        </a:lnSpc>
                        <a:spcBef>
                          <a:spcPts val="620"/>
                        </a:spcBef>
                      </a:pPr>
                      <a:r>
                        <a:rPr sz="1400" b="1" spc="-10" dirty="0" smtClean="0">
                          <a:latin typeface="Arial"/>
                          <a:cs typeface="Arial"/>
                        </a:rPr>
                        <a:t>Humidity</a:t>
                      </a:r>
                      <a:r>
                        <a:rPr lang="en-US" sz="1400" b="1" spc="-10" dirty="0" smtClean="0">
                          <a:latin typeface="Arial"/>
                          <a:cs typeface="Arial"/>
                        </a:rPr>
                        <a:t>(X)</a:t>
                      </a:r>
                      <a:endParaRPr sz="1400" dirty="0">
                        <a:latin typeface="Arial"/>
                        <a:cs typeface="Arial"/>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nSpc>
                          <a:spcPct val="100000"/>
                        </a:lnSpc>
                        <a:spcBef>
                          <a:spcPts val="620"/>
                        </a:spcBef>
                      </a:pPr>
                      <a:r>
                        <a:rPr sz="1400" b="1" spc="-10" dirty="0" smtClean="0">
                          <a:latin typeface="Arial"/>
                          <a:cs typeface="Arial"/>
                        </a:rPr>
                        <a:t>Weather</a:t>
                      </a:r>
                      <a:r>
                        <a:rPr lang="en-US" sz="1400" b="1" spc="-10" dirty="0" smtClean="0">
                          <a:latin typeface="Arial"/>
                          <a:cs typeface="Arial"/>
                        </a:rPr>
                        <a:t>(Y)</a:t>
                      </a:r>
                      <a:endParaRPr sz="1400" dirty="0">
                        <a:latin typeface="Arial"/>
                        <a:cs typeface="Arial"/>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149225">
                        <a:lnSpc>
                          <a:spcPct val="100000"/>
                        </a:lnSpc>
                        <a:spcBef>
                          <a:spcPts val="620"/>
                        </a:spcBef>
                      </a:pPr>
                      <a:r>
                        <a:rPr sz="1400" b="1" dirty="0">
                          <a:latin typeface="Arial"/>
                          <a:cs typeface="Arial"/>
                        </a:rPr>
                        <a:t>Considering</a:t>
                      </a:r>
                      <a:r>
                        <a:rPr sz="1400" b="1" spc="-35" dirty="0">
                          <a:latin typeface="Arial"/>
                          <a:cs typeface="Arial"/>
                        </a:rPr>
                        <a:t> </a:t>
                      </a:r>
                      <a:r>
                        <a:rPr sz="1400" b="1" dirty="0">
                          <a:latin typeface="Arial"/>
                          <a:cs typeface="Arial"/>
                        </a:rPr>
                        <a:t>as</a:t>
                      </a:r>
                      <a:r>
                        <a:rPr sz="1400" b="1" spc="-30" dirty="0">
                          <a:latin typeface="Arial"/>
                          <a:cs typeface="Arial"/>
                        </a:rPr>
                        <a:t> </a:t>
                      </a:r>
                      <a:r>
                        <a:rPr sz="1400" b="1" spc="-10" dirty="0">
                          <a:latin typeface="Arial"/>
                          <a:cs typeface="Arial"/>
                        </a:rPr>
                        <a:t>numerical values</a:t>
                      </a:r>
                      <a:endParaRPr sz="1400">
                        <a:latin typeface="Arial"/>
                        <a:cs typeface="Arial"/>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r h="395605">
                <a:tc>
                  <a:txBody>
                    <a:bodyPr/>
                    <a:lstStyle/>
                    <a:p>
                      <a:pPr marL="85725">
                        <a:lnSpc>
                          <a:spcPct val="100000"/>
                        </a:lnSpc>
                        <a:spcBef>
                          <a:spcPts val="620"/>
                        </a:spcBef>
                      </a:pPr>
                      <a:r>
                        <a:rPr sz="1400" spc="-50" dirty="0">
                          <a:latin typeface="Arial MT"/>
                          <a:cs typeface="Arial MT"/>
                        </a:rPr>
                        <a:t>5</a:t>
                      </a:r>
                      <a:endParaRPr sz="14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nSpc>
                          <a:spcPct val="100000"/>
                        </a:lnSpc>
                        <a:spcBef>
                          <a:spcPts val="620"/>
                        </a:spcBef>
                      </a:pPr>
                      <a:r>
                        <a:rPr sz="1400" spc="-10" dirty="0">
                          <a:latin typeface="Arial MT"/>
                          <a:cs typeface="Arial MT"/>
                        </a:rPr>
                        <a:t>rainy</a:t>
                      </a:r>
                      <a:endParaRPr sz="14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nSpc>
                          <a:spcPct val="100000"/>
                        </a:lnSpc>
                        <a:spcBef>
                          <a:spcPts val="620"/>
                        </a:spcBef>
                      </a:pPr>
                      <a:r>
                        <a:rPr sz="1400" spc="-50" dirty="0">
                          <a:latin typeface="Arial MT"/>
                          <a:cs typeface="Arial MT"/>
                        </a:rPr>
                        <a:t>1</a:t>
                      </a:r>
                      <a:endParaRPr sz="14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r h="395605">
                <a:tc>
                  <a:txBody>
                    <a:bodyPr/>
                    <a:lstStyle/>
                    <a:p>
                      <a:pPr marL="85725">
                        <a:lnSpc>
                          <a:spcPct val="100000"/>
                        </a:lnSpc>
                        <a:spcBef>
                          <a:spcPts val="620"/>
                        </a:spcBef>
                      </a:pPr>
                      <a:r>
                        <a:rPr sz="1400" spc="-50" dirty="0">
                          <a:latin typeface="Arial MT"/>
                          <a:cs typeface="Arial MT"/>
                        </a:rPr>
                        <a:t>2</a:t>
                      </a:r>
                      <a:endParaRPr sz="14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nSpc>
                          <a:spcPct val="100000"/>
                        </a:lnSpc>
                        <a:spcBef>
                          <a:spcPts val="620"/>
                        </a:spcBef>
                      </a:pPr>
                      <a:r>
                        <a:rPr sz="1400" spc="-10" dirty="0">
                          <a:latin typeface="Arial MT"/>
                          <a:cs typeface="Arial MT"/>
                        </a:rPr>
                        <a:t>sunny</a:t>
                      </a:r>
                      <a:endParaRPr sz="14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nSpc>
                          <a:spcPct val="100000"/>
                        </a:lnSpc>
                        <a:spcBef>
                          <a:spcPts val="620"/>
                        </a:spcBef>
                      </a:pPr>
                      <a:r>
                        <a:rPr sz="1400" spc="-50" dirty="0">
                          <a:latin typeface="Arial MT"/>
                          <a:cs typeface="Arial MT"/>
                        </a:rPr>
                        <a:t>0</a:t>
                      </a:r>
                      <a:endParaRPr sz="14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r h="395605">
                <a:tc>
                  <a:txBody>
                    <a:bodyPr/>
                    <a:lstStyle/>
                    <a:p>
                      <a:pPr marL="85725">
                        <a:lnSpc>
                          <a:spcPct val="100000"/>
                        </a:lnSpc>
                        <a:spcBef>
                          <a:spcPts val="615"/>
                        </a:spcBef>
                      </a:pPr>
                      <a:r>
                        <a:rPr sz="1400" spc="-25" dirty="0">
                          <a:latin typeface="Arial MT"/>
                          <a:cs typeface="Arial MT"/>
                        </a:rPr>
                        <a:t>3.5</a:t>
                      </a:r>
                      <a:endParaRPr sz="1400">
                        <a:latin typeface="Arial MT"/>
                        <a:cs typeface="Arial MT"/>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nSpc>
                          <a:spcPct val="100000"/>
                        </a:lnSpc>
                        <a:spcBef>
                          <a:spcPts val="615"/>
                        </a:spcBef>
                      </a:pPr>
                      <a:r>
                        <a:rPr sz="1400" spc="-10" dirty="0">
                          <a:latin typeface="Arial MT"/>
                          <a:cs typeface="Arial MT"/>
                        </a:rPr>
                        <a:t>rainy</a:t>
                      </a:r>
                      <a:endParaRPr sz="1400">
                        <a:latin typeface="Arial MT"/>
                        <a:cs typeface="Arial MT"/>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nSpc>
                          <a:spcPct val="100000"/>
                        </a:lnSpc>
                        <a:spcBef>
                          <a:spcPts val="615"/>
                        </a:spcBef>
                      </a:pPr>
                      <a:r>
                        <a:rPr sz="1400" spc="-50" dirty="0">
                          <a:latin typeface="Arial MT"/>
                          <a:cs typeface="Arial MT"/>
                        </a:rPr>
                        <a:t>1</a:t>
                      </a:r>
                      <a:endParaRPr sz="1400">
                        <a:latin typeface="Arial MT"/>
                        <a:cs typeface="Arial MT"/>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r h="395605">
                <a:tc>
                  <a:txBody>
                    <a:bodyPr/>
                    <a:lstStyle/>
                    <a:p>
                      <a:pPr marL="85725">
                        <a:lnSpc>
                          <a:spcPct val="100000"/>
                        </a:lnSpc>
                        <a:spcBef>
                          <a:spcPts val="620"/>
                        </a:spcBef>
                      </a:pPr>
                      <a:r>
                        <a:rPr sz="1400" spc="-50" dirty="0">
                          <a:latin typeface="Arial MT"/>
                          <a:cs typeface="Arial MT"/>
                        </a:rPr>
                        <a:t>3</a:t>
                      </a:r>
                      <a:endParaRPr sz="14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nSpc>
                          <a:spcPct val="100000"/>
                        </a:lnSpc>
                        <a:spcBef>
                          <a:spcPts val="620"/>
                        </a:spcBef>
                      </a:pPr>
                      <a:r>
                        <a:rPr sz="1400" spc="-10" dirty="0">
                          <a:latin typeface="Arial MT"/>
                          <a:cs typeface="Arial MT"/>
                        </a:rPr>
                        <a:t>rainy</a:t>
                      </a:r>
                      <a:endParaRPr sz="14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nSpc>
                          <a:spcPct val="100000"/>
                        </a:lnSpc>
                        <a:spcBef>
                          <a:spcPts val="620"/>
                        </a:spcBef>
                      </a:pPr>
                      <a:r>
                        <a:rPr sz="1400" spc="-50" dirty="0">
                          <a:latin typeface="Arial MT"/>
                          <a:cs typeface="Arial MT"/>
                        </a:rPr>
                        <a:t>1</a:t>
                      </a:r>
                      <a:endParaRPr sz="1400">
                        <a:latin typeface="Arial MT"/>
                        <a:cs typeface="Arial MT"/>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dirty="0"/>
              <a:t>Logistic</a:t>
            </a:r>
            <a:r>
              <a:rPr spc="-25" dirty="0"/>
              <a:t> </a:t>
            </a:r>
            <a:r>
              <a:rPr dirty="0"/>
              <a:t>Regression</a:t>
            </a:r>
            <a:r>
              <a:rPr spc="-20" dirty="0"/>
              <a:t> </a:t>
            </a:r>
            <a:r>
              <a:rPr spc="-10" dirty="0"/>
              <a:t>example</a:t>
            </a:r>
          </a:p>
        </p:txBody>
      </p:sp>
      <p:sp>
        <p:nvSpPr>
          <p:cNvPr id="3" name="object 3"/>
          <p:cNvSpPr txBox="1"/>
          <p:nvPr/>
        </p:nvSpPr>
        <p:spPr>
          <a:xfrm>
            <a:off x="333925" y="1378836"/>
            <a:ext cx="8241030" cy="3186430"/>
          </a:xfrm>
          <a:prstGeom prst="rect">
            <a:avLst/>
          </a:prstGeom>
        </p:spPr>
        <p:txBody>
          <a:bodyPr vert="horz" wrap="square" lIns="0" tIns="13970" rIns="0" bIns="0" rtlCol="0">
            <a:spAutoFit/>
          </a:bodyPr>
          <a:lstStyle/>
          <a:p>
            <a:pPr marL="63500">
              <a:lnSpc>
                <a:spcPct val="100000"/>
              </a:lnSpc>
              <a:spcBef>
                <a:spcPts val="110"/>
              </a:spcBef>
            </a:pPr>
            <a:r>
              <a:rPr sz="1450" dirty="0">
                <a:solidFill>
                  <a:srgbClr val="595959"/>
                </a:solidFill>
                <a:latin typeface="Arial MT"/>
                <a:cs typeface="Arial MT"/>
              </a:rPr>
              <a:t>For</a:t>
            </a:r>
            <a:r>
              <a:rPr sz="1450" spc="-15" dirty="0">
                <a:solidFill>
                  <a:srgbClr val="595959"/>
                </a:solidFill>
                <a:latin typeface="Arial MT"/>
                <a:cs typeface="Arial MT"/>
              </a:rPr>
              <a:t> </a:t>
            </a:r>
            <a:r>
              <a:rPr sz="1450" dirty="0">
                <a:solidFill>
                  <a:srgbClr val="595959"/>
                </a:solidFill>
                <a:latin typeface="Arial MT"/>
                <a:cs typeface="Arial MT"/>
              </a:rPr>
              <a:t>example,</a:t>
            </a:r>
            <a:r>
              <a:rPr sz="1450" spc="-10" dirty="0">
                <a:solidFill>
                  <a:srgbClr val="595959"/>
                </a:solidFill>
                <a:latin typeface="Arial MT"/>
                <a:cs typeface="Arial MT"/>
              </a:rPr>
              <a:t> </a:t>
            </a:r>
            <a:r>
              <a:rPr sz="1450" dirty="0">
                <a:solidFill>
                  <a:srgbClr val="595959"/>
                </a:solidFill>
                <a:latin typeface="Arial MT"/>
                <a:cs typeface="Arial MT"/>
              </a:rPr>
              <a:t>after</a:t>
            </a:r>
            <a:r>
              <a:rPr sz="1450" spc="-10" dirty="0">
                <a:solidFill>
                  <a:srgbClr val="595959"/>
                </a:solidFill>
                <a:latin typeface="Arial MT"/>
                <a:cs typeface="Arial MT"/>
              </a:rPr>
              <a:t> </a:t>
            </a:r>
            <a:r>
              <a:rPr sz="1450" dirty="0">
                <a:solidFill>
                  <a:srgbClr val="595959"/>
                </a:solidFill>
                <a:latin typeface="Arial MT"/>
                <a:cs typeface="Arial MT"/>
              </a:rPr>
              <a:t>calculation</a:t>
            </a:r>
            <a:r>
              <a:rPr sz="1450" spc="-10" dirty="0">
                <a:solidFill>
                  <a:srgbClr val="595959"/>
                </a:solidFill>
                <a:latin typeface="Arial MT"/>
                <a:cs typeface="Arial MT"/>
              </a:rPr>
              <a:t> </a:t>
            </a:r>
            <a:r>
              <a:rPr sz="1450" dirty="0">
                <a:solidFill>
                  <a:srgbClr val="595959"/>
                </a:solidFill>
                <a:latin typeface="Arial MT"/>
                <a:cs typeface="Arial MT"/>
              </a:rPr>
              <a:t>we</a:t>
            </a:r>
            <a:r>
              <a:rPr sz="1450" spc="-10" dirty="0">
                <a:solidFill>
                  <a:srgbClr val="595959"/>
                </a:solidFill>
                <a:latin typeface="Arial MT"/>
                <a:cs typeface="Arial MT"/>
              </a:rPr>
              <a:t> </a:t>
            </a:r>
            <a:r>
              <a:rPr sz="1450" dirty="0">
                <a:solidFill>
                  <a:srgbClr val="595959"/>
                </a:solidFill>
                <a:latin typeface="Arial MT"/>
                <a:cs typeface="Arial MT"/>
              </a:rPr>
              <a:t>have</a:t>
            </a:r>
            <a:r>
              <a:rPr sz="1450" spc="-10" dirty="0">
                <a:solidFill>
                  <a:srgbClr val="595959"/>
                </a:solidFill>
                <a:latin typeface="Arial MT"/>
                <a:cs typeface="Arial MT"/>
              </a:rPr>
              <a:t> </a:t>
            </a:r>
            <a:r>
              <a:rPr sz="1450" dirty="0">
                <a:solidFill>
                  <a:srgbClr val="595959"/>
                </a:solidFill>
                <a:latin typeface="Arial MT"/>
                <a:cs typeface="Arial MT"/>
              </a:rPr>
              <a:t>found</a:t>
            </a:r>
            <a:r>
              <a:rPr sz="1450" spc="-10" dirty="0">
                <a:solidFill>
                  <a:srgbClr val="595959"/>
                </a:solidFill>
                <a:latin typeface="Arial MT"/>
                <a:cs typeface="Arial MT"/>
              </a:rPr>
              <a:t> </a:t>
            </a:r>
            <a:r>
              <a:rPr sz="1450" dirty="0">
                <a:solidFill>
                  <a:srgbClr val="595959"/>
                </a:solidFill>
                <a:latin typeface="Arial MT"/>
                <a:cs typeface="Arial MT"/>
              </a:rPr>
              <a:t>the</a:t>
            </a:r>
            <a:r>
              <a:rPr sz="1450" spc="-15" dirty="0">
                <a:solidFill>
                  <a:srgbClr val="595959"/>
                </a:solidFill>
                <a:latin typeface="Arial MT"/>
                <a:cs typeface="Arial MT"/>
              </a:rPr>
              <a:t> </a:t>
            </a:r>
            <a:r>
              <a:rPr sz="1450" dirty="0">
                <a:solidFill>
                  <a:srgbClr val="595959"/>
                </a:solidFill>
                <a:latin typeface="Arial MT"/>
                <a:cs typeface="Arial MT"/>
              </a:rPr>
              <a:t>value</a:t>
            </a:r>
            <a:r>
              <a:rPr sz="1450" spc="-10" dirty="0">
                <a:solidFill>
                  <a:srgbClr val="595959"/>
                </a:solidFill>
                <a:latin typeface="Arial MT"/>
                <a:cs typeface="Arial MT"/>
              </a:rPr>
              <a:t> </a:t>
            </a:r>
            <a:r>
              <a:rPr sz="1450" dirty="0">
                <a:solidFill>
                  <a:srgbClr val="595959"/>
                </a:solidFill>
                <a:latin typeface="Arial MT"/>
                <a:cs typeface="Arial MT"/>
              </a:rPr>
              <a:t>of</a:t>
            </a:r>
            <a:r>
              <a:rPr sz="1450" spc="-10" dirty="0">
                <a:solidFill>
                  <a:srgbClr val="595959"/>
                </a:solidFill>
                <a:latin typeface="Arial MT"/>
                <a:cs typeface="Arial MT"/>
              </a:rPr>
              <a:t> </a:t>
            </a:r>
            <a:r>
              <a:rPr sz="1450" dirty="0">
                <a:solidFill>
                  <a:srgbClr val="595959"/>
                </a:solidFill>
                <a:latin typeface="Arial MT"/>
                <a:cs typeface="Arial MT"/>
              </a:rPr>
              <a:t>m</a:t>
            </a:r>
            <a:r>
              <a:rPr sz="1450" spc="-10" dirty="0">
                <a:solidFill>
                  <a:srgbClr val="595959"/>
                </a:solidFill>
                <a:latin typeface="Arial MT"/>
                <a:cs typeface="Arial MT"/>
              </a:rPr>
              <a:t> </a:t>
            </a:r>
            <a:r>
              <a:rPr sz="1450" dirty="0">
                <a:solidFill>
                  <a:srgbClr val="595959"/>
                </a:solidFill>
                <a:latin typeface="Arial MT"/>
                <a:cs typeface="Arial MT"/>
              </a:rPr>
              <a:t>=</a:t>
            </a:r>
            <a:r>
              <a:rPr sz="1450" spc="-10" dirty="0">
                <a:solidFill>
                  <a:srgbClr val="595959"/>
                </a:solidFill>
                <a:latin typeface="Arial MT"/>
                <a:cs typeface="Arial MT"/>
              </a:rPr>
              <a:t> -</a:t>
            </a:r>
            <a:r>
              <a:rPr sz="1450" dirty="0">
                <a:solidFill>
                  <a:srgbClr val="595959"/>
                </a:solidFill>
                <a:latin typeface="Arial MT"/>
                <a:cs typeface="Arial MT"/>
              </a:rPr>
              <a:t>6,</a:t>
            </a:r>
            <a:r>
              <a:rPr sz="1450" spc="-10" dirty="0">
                <a:solidFill>
                  <a:srgbClr val="595959"/>
                </a:solidFill>
                <a:latin typeface="Arial MT"/>
                <a:cs typeface="Arial MT"/>
              </a:rPr>
              <a:t> </a:t>
            </a:r>
            <a:r>
              <a:rPr sz="1450" dirty="0">
                <a:solidFill>
                  <a:srgbClr val="595959"/>
                </a:solidFill>
                <a:latin typeface="Arial MT"/>
                <a:cs typeface="Arial MT"/>
              </a:rPr>
              <a:t>c</a:t>
            </a:r>
            <a:r>
              <a:rPr sz="1450" spc="-10" dirty="0">
                <a:solidFill>
                  <a:srgbClr val="595959"/>
                </a:solidFill>
                <a:latin typeface="Arial MT"/>
                <a:cs typeface="Arial MT"/>
              </a:rPr>
              <a:t> </a:t>
            </a:r>
            <a:r>
              <a:rPr sz="1450" dirty="0">
                <a:solidFill>
                  <a:srgbClr val="595959"/>
                </a:solidFill>
                <a:latin typeface="Arial MT"/>
                <a:cs typeface="Arial MT"/>
              </a:rPr>
              <a:t>=</a:t>
            </a:r>
            <a:r>
              <a:rPr sz="1450" spc="-10" dirty="0">
                <a:solidFill>
                  <a:srgbClr val="595959"/>
                </a:solidFill>
                <a:latin typeface="Arial MT"/>
                <a:cs typeface="Arial MT"/>
              </a:rPr>
              <a:t> </a:t>
            </a:r>
            <a:r>
              <a:rPr sz="1450" spc="-25" dirty="0">
                <a:solidFill>
                  <a:srgbClr val="595959"/>
                </a:solidFill>
                <a:latin typeface="Arial MT"/>
                <a:cs typeface="Arial MT"/>
              </a:rPr>
              <a:t>0.1</a:t>
            </a:r>
            <a:endParaRPr sz="1450">
              <a:latin typeface="Arial MT"/>
              <a:cs typeface="Arial MT"/>
            </a:endParaRPr>
          </a:p>
          <a:p>
            <a:pPr marL="1892300">
              <a:lnSpc>
                <a:spcPct val="100000"/>
              </a:lnSpc>
              <a:spcBef>
                <a:spcPts val="1125"/>
              </a:spcBef>
            </a:pPr>
            <a:r>
              <a:rPr sz="1450" dirty="0">
                <a:solidFill>
                  <a:srgbClr val="595959"/>
                </a:solidFill>
                <a:latin typeface="Arial MT"/>
                <a:cs typeface="Arial MT"/>
              </a:rPr>
              <a:t>Y</a:t>
            </a:r>
            <a:r>
              <a:rPr sz="1450" spc="-25" dirty="0">
                <a:solidFill>
                  <a:srgbClr val="595959"/>
                </a:solidFill>
                <a:latin typeface="Arial MT"/>
                <a:cs typeface="Arial MT"/>
              </a:rPr>
              <a:t> </a:t>
            </a:r>
            <a:r>
              <a:rPr sz="1450" dirty="0">
                <a:solidFill>
                  <a:srgbClr val="595959"/>
                </a:solidFill>
                <a:latin typeface="Arial MT"/>
                <a:cs typeface="Arial MT"/>
              </a:rPr>
              <a:t>=</a:t>
            </a:r>
            <a:r>
              <a:rPr sz="1450" spc="5" dirty="0">
                <a:solidFill>
                  <a:srgbClr val="595959"/>
                </a:solidFill>
                <a:latin typeface="Arial MT"/>
                <a:cs typeface="Arial MT"/>
              </a:rPr>
              <a:t> </a:t>
            </a:r>
            <a:r>
              <a:rPr sz="1450" spc="-10" dirty="0">
                <a:solidFill>
                  <a:srgbClr val="595959"/>
                </a:solidFill>
                <a:latin typeface="Arial MT"/>
                <a:cs typeface="Arial MT"/>
              </a:rPr>
              <a:t>-6x+0.1</a:t>
            </a:r>
            <a:endParaRPr sz="1450">
              <a:latin typeface="Arial MT"/>
              <a:cs typeface="Arial MT"/>
            </a:endParaRPr>
          </a:p>
          <a:p>
            <a:pPr>
              <a:lnSpc>
                <a:spcPct val="100000"/>
              </a:lnSpc>
            </a:pPr>
            <a:endParaRPr sz="1450">
              <a:latin typeface="Arial MT"/>
              <a:cs typeface="Arial MT"/>
            </a:endParaRPr>
          </a:p>
          <a:p>
            <a:pPr>
              <a:lnSpc>
                <a:spcPct val="100000"/>
              </a:lnSpc>
              <a:spcBef>
                <a:spcPts val="650"/>
              </a:spcBef>
            </a:pPr>
            <a:endParaRPr sz="1450">
              <a:latin typeface="Arial MT"/>
              <a:cs typeface="Arial MT"/>
            </a:endParaRPr>
          </a:p>
          <a:p>
            <a:pPr marL="520065" indent="-340360">
              <a:lnSpc>
                <a:spcPct val="100000"/>
              </a:lnSpc>
              <a:buChar char="●"/>
              <a:tabLst>
                <a:tab pos="520065" algn="l"/>
              </a:tabLst>
            </a:pPr>
            <a:r>
              <a:rPr sz="1450" dirty="0">
                <a:solidFill>
                  <a:srgbClr val="595959"/>
                </a:solidFill>
                <a:latin typeface="Arial MT"/>
                <a:cs typeface="Arial MT"/>
              </a:rPr>
              <a:t>Now,</a:t>
            </a:r>
            <a:r>
              <a:rPr sz="1450" spc="-20" dirty="0">
                <a:solidFill>
                  <a:srgbClr val="595959"/>
                </a:solidFill>
                <a:latin typeface="Arial MT"/>
                <a:cs typeface="Arial MT"/>
              </a:rPr>
              <a:t> </a:t>
            </a:r>
            <a:r>
              <a:rPr sz="1450" dirty="0">
                <a:solidFill>
                  <a:srgbClr val="595959"/>
                </a:solidFill>
                <a:latin typeface="Arial MT"/>
                <a:cs typeface="Arial MT"/>
              </a:rPr>
              <a:t>for</a:t>
            </a:r>
            <a:r>
              <a:rPr sz="1450" spc="-15" dirty="0">
                <a:solidFill>
                  <a:srgbClr val="595959"/>
                </a:solidFill>
                <a:latin typeface="Arial MT"/>
                <a:cs typeface="Arial MT"/>
              </a:rPr>
              <a:t> </a:t>
            </a:r>
            <a:r>
              <a:rPr sz="1450" dirty="0">
                <a:solidFill>
                  <a:srgbClr val="595959"/>
                </a:solidFill>
                <a:latin typeface="Arial MT"/>
                <a:cs typeface="Arial MT"/>
              </a:rPr>
              <a:t>a</a:t>
            </a:r>
            <a:r>
              <a:rPr sz="1450" spc="-15" dirty="0">
                <a:solidFill>
                  <a:srgbClr val="595959"/>
                </a:solidFill>
                <a:latin typeface="Arial MT"/>
                <a:cs typeface="Arial MT"/>
              </a:rPr>
              <a:t> </a:t>
            </a:r>
            <a:r>
              <a:rPr sz="1450" dirty="0">
                <a:solidFill>
                  <a:srgbClr val="595959"/>
                </a:solidFill>
                <a:latin typeface="Arial MT"/>
                <a:cs typeface="Arial MT"/>
              </a:rPr>
              <a:t>specific</a:t>
            </a:r>
            <a:r>
              <a:rPr sz="1450" spc="-15" dirty="0">
                <a:solidFill>
                  <a:srgbClr val="595959"/>
                </a:solidFill>
                <a:latin typeface="Arial MT"/>
                <a:cs typeface="Arial MT"/>
              </a:rPr>
              <a:t> </a:t>
            </a:r>
            <a:r>
              <a:rPr sz="1450" dirty="0">
                <a:solidFill>
                  <a:srgbClr val="595959"/>
                </a:solidFill>
                <a:latin typeface="Arial MT"/>
                <a:cs typeface="Arial MT"/>
              </a:rPr>
              <a:t>value</a:t>
            </a:r>
            <a:r>
              <a:rPr sz="1450" spc="-15" dirty="0">
                <a:solidFill>
                  <a:srgbClr val="595959"/>
                </a:solidFill>
                <a:latin typeface="Arial MT"/>
                <a:cs typeface="Arial MT"/>
              </a:rPr>
              <a:t> </a:t>
            </a:r>
            <a:r>
              <a:rPr sz="1450" dirty="0">
                <a:solidFill>
                  <a:srgbClr val="595959"/>
                </a:solidFill>
                <a:latin typeface="Arial MT"/>
                <a:cs typeface="Arial MT"/>
              </a:rPr>
              <a:t>of</a:t>
            </a:r>
            <a:r>
              <a:rPr sz="1450" spc="-15" dirty="0">
                <a:solidFill>
                  <a:srgbClr val="595959"/>
                </a:solidFill>
                <a:latin typeface="Arial MT"/>
                <a:cs typeface="Arial MT"/>
              </a:rPr>
              <a:t> </a:t>
            </a:r>
            <a:r>
              <a:rPr sz="1450" dirty="0">
                <a:solidFill>
                  <a:srgbClr val="595959"/>
                </a:solidFill>
                <a:latin typeface="Arial MT"/>
                <a:cs typeface="Arial MT"/>
              </a:rPr>
              <a:t>x</a:t>
            </a:r>
            <a:r>
              <a:rPr sz="1450" spc="-15" dirty="0">
                <a:solidFill>
                  <a:srgbClr val="595959"/>
                </a:solidFill>
                <a:latin typeface="Arial MT"/>
                <a:cs typeface="Arial MT"/>
              </a:rPr>
              <a:t> </a:t>
            </a:r>
            <a:r>
              <a:rPr sz="1450" dirty="0">
                <a:solidFill>
                  <a:srgbClr val="595959"/>
                </a:solidFill>
                <a:latin typeface="Arial MT"/>
                <a:cs typeface="Arial MT"/>
              </a:rPr>
              <a:t>=</a:t>
            </a:r>
            <a:r>
              <a:rPr sz="1450" spc="-15" dirty="0">
                <a:solidFill>
                  <a:srgbClr val="595959"/>
                </a:solidFill>
                <a:latin typeface="Arial MT"/>
                <a:cs typeface="Arial MT"/>
              </a:rPr>
              <a:t> </a:t>
            </a:r>
            <a:r>
              <a:rPr sz="1450" spc="-25" dirty="0">
                <a:solidFill>
                  <a:srgbClr val="595959"/>
                </a:solidFill>
                <a:latin typeface="Arial MT"/>
                <a:cs typeface="Arial MT"/>
              </a:rPr>
              <a:t>4,</a:t>
            </a:r>
            <a:endParaRPr sz="1450">
              <a:latin typeface="Arial MT"/>
              <a:cs typeface="Arial MT"/>
            </a:endParaRPr>
          </a:p>
          <a:p>
            <a:pPr marL="1892300">
              <a:lnSpc>
                <a:spcPct val="100000"/>
              </a:lnSpc>
              <a:spcBef>
                <a:spcPts val="1125"/>
              </a:spcBef>
            </a:pPr>
            <a:r>
              <a:rPr sz="1450" dirty="0">
                <a:solidFill>
                  <a:srgbClr val="595959"/>
                </a:solidFill>
                <a:latin typeface="Arial MT"/>
                <a:cs typeface="Arial MT"/>
              </a:rPr>
              <a:t>Y</a:t>
            </a:r>
            <a:r>
              <a:rPr sz="1450" spc="-35" dirty="0">
                <a:solidFill>
                  <a:srgbClr val="595959"/>
                </a:solidFill>
                <a:latin typeface="Arial MT"/>
                <a:cs typeface="Arial MT"/>
              </a:rPr>
              <a:t> </a:t>
            </a:r>
            <a:r>
              <a:rPr sz="1450" dirty="0">
                <a:solidFill>
                  <a:srgbClr val="595959"/>
                </a:solidFill>
                <a:latin typeface="Arial MT"/>
                <a:cs typeface="Arial MT"/>
              </a:rPr>
              <a:t>=</a:t>
            </a:r>
            <a:r>
              <a:rPr sz="1450" spc="400" dirty="0">
                <a:solidFill>
                  <a:srgbClr val="595959"/>
                </a:solidFill>
                <a:latin typeface="Arial MT"/>
                <a:cs typeface="Arial MT"/>
              </a:rPr>
              <a:t> </a:t>
            </a:r>
            <a:r>
              <a:rPr sz="1450" spc="-10" dirty="0">
                <a:solidFill>
                  <a:srgbClr val="595959"/>
                </a:solidFill>
                <a:latin typeface="Arial MT"/>
                <a:cs typeface="Arial MT"/>
              </a:rPr>
              <a:t>(-</a:t>
            </a:r>
            <a:r>
              <a:rPr sz="1450" dirty="0">
                <a:solidFill>
                  <a:srgbClr val="595959"/>
                </a:solidFill>
                <a:latin typeface="Arial MT"/>
                <a:cs typeface="Arial MT"/>
              </a:rPr>
              <a:t>6) * 4 + .1 = </a:t>
            </a:r>
            <a:r>
              <a:rPr sz="1450" spc="-50" dirty="0">
                <a:solidFill>
                  <a:srgbClr val="595959"/>
                </a:solidFill>
                <a:latin typeface="Arial MT"/>
                <a:cs typeface="Arial MT"/>
              </a:rPr>
              <a:t>1</a:t>
            </a:r>
            <a:endParaRPr sz="1450">
              <a:latin typeface="Arial MT"/>
              <a:cs typeface="Arial MT"/>
            </a:endParaRPr>
          </a:p>
          <a:p>
            <a:pPr marL="977900" marR="2512695" indent="-914400">
              <a:lnSpc>
                <a:spcPct val="164600"/>
              </a:lnSpc>
              <a:tabLst>
                <a:tab pos="3942715" algn="l"/>
              </a:tabLst>
            </a:pPr>
            <a:r>
              <a:rPr sz="1450" dirty="0">
                <a:solidFill>
                  <a:srgbClr val="595959"/>
                </a:solidFill>
                <a:latin typeface="Arial MT"/>
                <a:cs typeface="Arial MT"/>
              </a:rPr>
              <a:t>Passing</a:t>
            </a:r>
            <a:r>
              <a:rPr sz="1450" spc="-25" dirty="0">
                <a:solidFill>
                  <a:srgbClr val="595959"/>
                </a:solidFill>
                <a:latin typeface="Arial MT"/>
                <a:cs typeface="Arial MT"/>
              </a:rPr>
              <a:t> </a:t>
            </a:r>
            <a:r>
              <a:rPr sz="1450" dirty="0">
                <a:solidFill>
                  <a:srgbClr val="595959"/>
                </a:solidFill>
                <a:latin typeface="Arial MT"/>
                <a:cs typeface="Arial MT"/>
              </a:rPr>
              <a:t>the</a:t>
            </a:r>
            <a:r>
              <a:rPr sz="1450" spc="-20" dirty="0">
                <a:solidFill>
                  <a:srgbClr val="595959"/>
                </a:solidFill>
                <a:latin typeface="Arial MT"/>
                <a:cs typeface="Arial MT"/>
              </a:rPr>
              <a:t> </a:t>
            </a:r>
            <a:r>
              <a:rPr sz="1450" dirty="0">
                <a:solidFill>
                  <a:srgbClr val="595959"/>
                </a:solidFill>
                <a:latin typeface="Arial MT"/>
                <a:cs typeface="Arial MT"/>
              </a:rPr>
              <a:t>value</a:t>
            </a:r>
            <a:r>
              <a:rPr sz="1450" spc="-20" dirty="0">
                <a:solidFill>
                  <a:srgbClr val="595959"/>
                </a:solidFill>
                <a:latin typeface="Arial MT"/>
                <a:cs typeface="Arial MT"/>
              </a:rPr>
              <a:t> </a:t>
            </a:r>
            <a:r>
              <a:rPr sz="1450" dirty="0">
                <a:solidFill>
                  <a:srgbClr val="595959"/>
                </a:solidFill>
                <a:latin typeface="Arial MT"/>
                <a:cs typeface="Arial MT"/>
              </a:rPr>
              <a:t>to</a:t>
            </a:r>
            <a:r>
              <a:rPr sz="1450" spc="-20" dirty="0">
                <a:solidFill>
                  <a:srgbClr val="595959"/>
                </a:solidFill>
                <a:latin typeface="Arial MT"/>
                <a:cs typeface="Arial MT"/>
              </a:rPr>
              <a:t> </a:t>
            </a:r>
            <a:r>
              <a:rPr sz="1450" dirty="0">
                <a:solidFill>
                  <a:srgbClr val="595959"/>
                </a:solidFill>
                <a:latin typeface="Arial MT"/>
                <a:cs typeface="Arial MT"/>
              </a:rPr>
              <a:t>our</a:t>
            </a:r>
            <a:r>
              <a:rPr sz="1450" spc="-20" dirty="0">
                <a:solidFill>
                  <a:srgbClr val="595959"/>
                </a:solidFill>
                <a:latin typeface="Arial MT"/>
                <a:cs typeface="Arial MT"/>
              </a:rPr>
              <a:t> </a:t>
            </a:r>
            <a:r>
              <a:rPr sz="1450" dirty="0">
                <a:solidFill>
                  <a:srgbClr val="595959"/>
                </a:solidFill>
                <a:latin typeface="Arial MT"/>
                <a:cs typeface="Arial MT"/>
              </a:rPr>
              <a:t>logistic</a:t>
            </a:r>
            <a:r>
              <a:rPr sz="1450" spc="-20" dirty="0">
                <a:solidFill>
                  <a:srgbClr val="595959"/>
                </a:solidFill>
                <a:latin typeface="Arial MT"/>
                <a:cs typeface="Arial MT"/>
              </a:rPr>
              <a:t> </a:t>
            </a:r>
            <a:r>
              <a:rPr sz="1450" dirty="0">
                <a:solidFill>
                  <a:srgbClr val="595959"/>
                </a:solidFill>
                <a:latin typeface="Arial MT"/>
                <a:cs typeface="Arial MT"/>
              </a:rPr>
              <a:t>function</a:t>
            </a:r>
            <a:r>
              <a:rPr sz="1450" spc="-20" dirty="0">
                <a:solidFill>
                  <a:srgbClr val="595959"/>
                </a:solidFill>
                <a:latin typeface="Arial MT"/>
                <a:cs typeface="Arial MT"/>
              </a:rPr>
              <a:t> </a:t>
            </a:r>
            <a:r>
              <a:rPr sz="1450" dirty="0">
                <a:solidFill>
                  <a:srgbClr val="595959"/>
                </a:solidFill>
                <a:latin typeface="Arial MT"/>
                <a:cs typeface="Arial MT"/>
              </a:rPr>
              <a:t>and</a:t>
            </a:r>
            <a:r>
              <a:rPr sz="1450" spc="-20" dirty="0">
                <a:solidFill>
                  <a:srgbClr val="595959"/>
                </a:solidFill>
                <a:latin typeface="Arial MT"/>
                <a:cs typeface="Arial MT"/>
              </a:rPr>
              <a:t> </a:t>
            </a:r>
            <a:r>
              <a:rPr sz="1450" dirty="0">
                <a:solidFill>
                  <a:srgbClr val="595959"/>
                </a:solidFill>
                <a:latin typeface="Arial MT"/>
                <a:cs typeface="Arial MT"/>
              </a:rPr>
              <a:t>calculate</a:t>
            </a:r>
            <a:r>
              <a:rPr sz="1450" spc="-20" dirty="0">
                <a:solidFill>
                  <a:srgbClr val="595959"/>
                </a:solidFill>
                <a:latin typeface="Arial MT"/>
                <a:cs typeface="Arial MT"/>
              </a:rPr>
              <a:t> </a:t>
            </a:r>
            <a:r>
              <a:rPr sz="1450" dirty="0">
                <a:solidFill>
                  <a:srgbClr val="595959"/>
                </a:solidFill>
                <a:latin typeface="Arial MT"/>
                <a:cs typeface="Arial MT"/>
              </a:rPr>
              <a:t>the</a:t>
            </a:r>
            <a:r>
              <a:rPr sz="1450" spc="-25" dirty="0">
                <a:solidFill>
                  <a:srgbClr val="595959"/>
                </a:solidFill>
                <a:latin typeface="Arial MT"/>
                <a:cs typeface="Arial MT"/>
              </a:rPr>
              <a:t> </a:t>
            </a:r>
            <a:r>
              <a:rPr sz="1450" spc="-10" dirty="0">
                <a:solidFill>
                  <a:srgbClr val="595959"/>
                </a:solidFill>
                <a:latin typeface="Arial MT"/>
                <a:cs typeface="Arial MT"/>
              </a:rPr>
              <a:t>probability </a:t>
            </a:r>
            <a:r>
              <a:rPr sz="1450" dirty="0">
                <a:solidFill>
                  <a:srgbClr val="595959"/>
                </a:solidFill>
                <a:latin typeface="Arial MT"/>
                <a:cs typeface="Arial MT"/>
              </a:rPr>
              <a:t>P(Y</a:t>
            </a:r>
            <a:r>
              <a:rPr sz="1450" spc="-35" dirty="0">
                <a:solidFill>
                  <a:srgbClr val="595959"/>
                </a:solidFill>
                <a:latin typeface="Arial MT"/>
                <a:cs typeface="Arial MT"/>
              </a:rPr>
              <a:t> </a:t>
            </a:r>
            <a:r>
              <a:rPr sz="1450" dirty="0">
                <a:solidFill>
                  <a:srgbClr val="595959"/>
                </a:solidFill>
                <a:latin typeface="Arial MT"/>
                <a:cs typeface="Arial MT"/>
              </a:rPr>
              <a:t>=</a:t>
            </a:r>
            <a:r>
              <a:rPr sz="1450" spc="-5" dirty="0">
                <a:solidFill>
                  <a:srgbClr val="595959"/>
                </a:solidFill>
                <a:latin typeface="Arial MT"/>
                <a:cs typeface="Arial MT"/>
              </a:rPr>
              <a:t> </a:t>
            </a:r>
            <a:r>
              <a:rPr sz="1450" dirty="0">
                <a:solidFill>
                  <a:srgbClr val="595959"/>
                </a:solidFill>
                <a:latin typeface="Arial MT"/>
                <a:cs typeface="Arial MT"/>
              </a:rPr>
              <a:t>1) =</a:t>
            </a:r>
            <a:r>
              <a:rPr sz="1450" spc="-5" dirty="0">
                <a:solidFill>
                  <a:srgbClr val="595959"/>
                </a:solidFill>
                <a:latin typeface="Arial MT"/>
                <a:cs typeface="Arial MT"/>
              </a:rPr>
              <a:t> </a:t>
            </a:r>
            <a:r>
              <a:rPr sz="1450" dirty="0">
                <a:solidFill>
                  <a:srgbClr val="595959"/>
                </a:solidFill>
                <a:latin typeface="Arial MT"/>
                <a:cs typeface="Arial MT"/>
              </a:rPr>
              <a:t>1/(1 +</a:t>
            </a:r>
            <a:r>
              <a:rPr sz="1450" spc="-5" dirty="0">
                <a:solidFill>
                  <a:srgbClr val="595959"/>
                </a:solidFill>
                <a:latin typeface="Arial MT"/>
                <a:cs typeface="Arial MT"/>
              </a:rPr>
              <a:t> </a:t>
            </a:r>
            <a:r>
              <a:rPr sz="1450" dirty="0">
                <a:solidFill>
                  <a:srgbClr val="595959"/>
                </a:solidFill>
                <a:latin typeface="Arial MT"/>
                <a:cs typeface="Arial MT"/>
              </a:rPr>
              <a:t>e</a:t>
            </a:r>
            <a:r>
              <a:rPr sz="1425" baseline="32163" dirty="0">
                <a:solidFill>
                  <a:srgbClr val="595959"/>
                </a:solidFill>
                <a:latin typeface="Arial MT"/>
                <a:cs typeface="Arial MT"/>
              </a:rPr>
              <a:t>–1</a:t>
            </a:r>
            <a:r>
              <a:rPr sz="1450" dirty="0">
                <a:solidFill>
                  <a:srgbClr val="595959"/>
                </a:solidFill>
                <a:latin typeface="Arial MT"/>
                <a:cs typeface="Arial MT"/>
              </a:rPr>
              <a:t>) =</a:t>
            </a:r>
            <a:r>
              <a:rPr sz="1450" spc="395" dirty="0">
                <a:solidFill>
                  <a:srgbClr val="595959"/>
                </a:solidFill>
                <a:latin typeface="Arial MT"/>
                <a:cs typeface="Arial MT"/>
              </a:rPr>
              <a:t> </a:t>
            </a:r>
            <a:r>
              <a:rPr sz="1450" spc="-10" dirty="0">
                <a:solidFill>
                  <a:srgbClr val="595959"/>
                </a:solidFill>
                <a:latin typeface="Arial MT"/>
                <a:cs typeface="Arial MT"/>
              </a:rPr>
              <a:t>0.732</a:t>
            </a:r>
            <a:r>
              <a:rPr sz="1450" dirty="0">
                <a:solidFill>
                  <a:srgbClr val="595959"/>
                </a:solidFill>
                <a:latin typeface="Arial MT"/>
                <a:cs typeface="Arial MT"/>
              </a:rPr>
              <a:t>	which</a:t>
            </a:r>
            <a:r>
              <a:rPr sz="1450" spc="-10" dirty="0">
                <a:solidFill>
                  <a:srgbClr val="595959"/>
                </a:solidFill>
                <a:latin typeface="Arial MT"/>
                <a:cs typeface="Arial MT"/>
              </a:rPr>
              <a:t> </a:t>
            </a:r>
            <a:r>
              <a:rPr sz="1450" dirty="0">
                <a:solidFill>
                  <a:srgbClr val="595959"/>
                </a:solidFill>
                <a:latin typeface="Arial MT"/>
                <a:cs typeface="Arial MT"/>
              </a:rPr>
              <a:t>is</a:t>
            </a:r>
            <a:r>
              <a:rPr sz="1450" spc="-5" dirty="0">
                <a:solidFill>
                  <a:srgbClr val="595959"/>
                </a:solidFill>
                <a:latin typeface="Arial MT"/>
                <a:cs typeface="Arial MT"/>
              </a:rPr>
              <a:t> </a:t>
            </a:r>
            <a:r>
              <a:rPr sz="1450" dirty="0">
                <a:solidFill>
                  <a:srgbClr val="595959"/>
                </a:solidFill>
                <a:latin typeface="Arial MT"/>
                <a:cs typeface="Arial MT"/>
              </a:rPr>
              <a:t>&gt;</a:t>
            </a:r>
            <a:r>
              <a:rPr sz="1450" spc="-5" dirty="0">
                <a:solidFill>
                  <a:srgbClr val="595959"/>
                </a:solidFill>
                <a:latin typeface="Arial MT"/>
                <a:cs typeface="Arial MT"/>
              </a:rPr>
              <a:t> </a:t>
            </a:r>
            <a:r>
              <a:rPr sz="1450" spc="-25" dirty="0">
                <a:solidFill>
                  <a:srgbClr val="595959"/>
                </a:solidFill>
                <a:latin typeface="Arial MT"/>
                <a:cs typeface="Arial MT"/>
              </a:rPr>
              <a:t>0.5</a:t>
            </a:r>
            <a:endParaRPr sz="1450">
              <a:latin typeface="Arial MT"/>
              <a:cs typeface="Arial MT"/>
            </a:endParaRPr>
          </a:p>
          <a:p>
            <a:pPr>
              <a:lnSpc>
                <a:spcPct val="100000"/>
              </a:lnSpc>
            </a:pPr>
            <a:endParaRPr sz="1450">
              <a:latin typeface="Arial MT"/>
              <a:cs typeface="Arial MT"/>
            </a:endParaRPr>
          </a:p>
          <a:p>
            <a:pPr>
              <a:lnSpc>
                <a:spcPct val="100000"/>
              </a:lnSpc>
              <a:spcBef>
                <a:spcPts val="635"/>
              </a:spcBef>
            </a:pPr>
            <a:endParaRPr sz="1450">
              <a:latin typeface="Arial MT"/>
              <a:cs typeface="Arial MT"/>
            </a:endParaRPr>
          </a:p>
          <a:p>
            <a:pPr marL="63500">
              <a:lnSpc>
                <a:spcPct val="100000"/>
              </a:lnSpc>
              <a:spcBef>
                <a:spcPts val="5"/>
              </a:spcBef>
            </a:pPr>
            <a:r>
              <a:rPr sz="1650" dirty="0">
                <a:solidFill>
                  <a:srgbClr val="595959"/>
                </a:solidFill>
                <a:latin typeface="Arial MT"/>
                <a:cs typeface="Arial MT"/>
              </a:rPr>
              <a:t>It belongs</a:t>
            </a:r>
            <a:r>
              <a:rPr sz="1650" spc="5" dirty="0">
                <a:solidFill>
                  <a:srgbClr val="595959"/>
                </a:solidFill>
                <a:latin typeface="Arial MT"/>
                <a:cs typeface="Arial MT"/>
              </a:rPr>
              <a:t> </a:t>
            </a:r>
            <a:r>
              <a:rPr sz="1650" dirty="0">
                <a:solidFill>
                  <a:srgbClr val="595959"/>
                </a:solidFill>
                <a:latin typeface="Arial MT"/>
                <a:cs typeface="Arial MT"/>
              </a:rPr>
              <a:t>to 1</a:t>
            </a:r>
            <a:r>
              <a:rPr sz="1650" spc="5" dirty="0">
                <a:solidFill>
                  <a:srgbClr val="595959"/>
                </a:solidFill>
                <a:latin typeface="Arial MT"/>
                <a:cs typeface="Arial MT"/>
              </a:rPr>
              <a:t> </a:t>
            </a:r>
            <a:r>
              <a:rPr sz="1650" dirty="0">
                <a:solidFill>
                  <a:srgbClr val="595959"/>
                </a:solidFill>
                <a:latin typeface="Arial MT"/>
                <a:cs typeface="Arial MT"/>
              </a:rPr>
              <a:t>class</a:t>
            </a:r>
            <a:r>
              <a:rPr sz="1650" spc="5" dirty="0">
                <a:solidFill>
                  <a:srgbClr val="595959"/>
                </a:solidFill>
                <a:latin typeface="Arial MT"/>
                <a:cs typeface="Arial MT"/>
              </a:rPr>
              <a:t> </a:t>
            </a:r>
            <a:r>
              <a:rPr sz="1650" dirty="0">
                <a:solidFill>
                  <a:srgbClr val="595959"/>
                </a:solidFill>
                <a:latin typeface="Arial MT"/>
                <a:cs typeface="Arial MT"/>
              </a:rPr>
              <a:t>which reflects</a:t>
            </a:r>
            <a:r>
              <a:rPr sz="1650" spc="5" dirty="0">
                <a:solidFill>
                  <a:srgbClr val="595959"/>
                </a:solidFill>
                <a:latin typeface="Arial MT"/>
                <a:cs typeface="Arial MT"/>
              </a:rPr>
              <a:t> </a:t>
            </a:r>
            <a:r>
              <a:rPr sz="1650" dirty="0">
                <a:solidFill>
                  <a:srgbClr val="595959"/>
                </a:solidFill>
                <a:latin typeface="Arial MT"/>
                <a:cs typeface="Arial MT"/>
              </a:rPr>
              <a:t>there</a:t>
            </a:r>
            <a:r>
              <a:rPr sz="1650" spc="5" dirty="0">
                <a:solidFill>
                  <a:srgbClr val="595959"/>
                </a:solidFill>
                <a:latin typeface="Arial MT"/>
                <a:cs typeface="Arial MT"/>
              </a:rPr>
              <a:t> </a:t>
            </a:r>
            <a:r>
              <a:rPr sz="1650" dirty="0">
                <a:solidFill>
                  <a:srgbClr val="595959"/>
                </a:solidFill>
                <a:latin typeface="Arial MT"/>
                <a:cs typeface="Arial MT"/>
              </a:rPr>
              <a:t>is possibility</a:t>
            </a:r>
            <a:r>
              <a:rPr sz="1650" spc="5" dirty="0">
                <a:solidFill>
                  <a:srgbClr val="595959"/>
                </a:solidFill>
                <a:latin typeface="Arial MT"/>
                <a:cs typeface="Arial MT"/>
              </a:rPr>
              <a:t> </a:t>
            </a:r>
            <a:r>
              <a:rPr sz="1650" dirty="0">
                <a:solidFill>
                  <a:srgbClr val="595959"/>
                </a:solidFill>
                <a:latin typeface="Arial MT"/>
                <a:cs typeface="Arial MT"/>
              </a:rPr>
              <a:t>of</a:t>
            </a:r>
            <a:r>
              <a:rPr sz="1650" spc="5" dirty="0">
                <a:solidFill>
                  <a:srgbClr val="595959"/>
                </a:solidFill>
                <a:latin typeface="Arial MT"/>
                <a:cs typeface="Arial MT"/>
              </a:rPr>
              <a:t> </a:t>
            </a:r>
            <a:r>
              <a:rPr sz="1650" dirty="0">
                <a:solidFill>
                  <a:srgbClr val="595959"/>
                </a:solidFill>
                <a:latin typeface="Arial MT"/>
                <a:cs typeface="Arial MT"/>
              </a:rPr>
              <a:t>considering the</a:t>
            </a:r>
            <a:r>
              <a:rPr sz="1650" spc="5" dirty="0">
                <a:solidFill>
                  <a:srgbClr val="595959"/>
                </a:solidFill>
                <a:latin typeface="Arial MT"/>
                <a:cs typeface="Arial MT"/>
              </a:rPr>
              <a:t> </a:t>
            </a:r>
            <a:r>
              <a:rPr sz="1650" dirty="0">
                <a:solidFill>
                  <a:srgbClr val="595959"/>
                </a:solidFill>
                <a:latin typeface="Arial MT"/>
                <a:cs typeface="Arial MT"/>
              </a:rPr>
              <a:t>as</a:t>
            </a:r>
            <a:r>
              <a:rPr sz="1650" spc="15" dirty="0">
                <a:solidFill>
                  <a:srgbClr val="595959"/>
                </a:solidFill>
                <a:latin typeface="Arial MT"/>
                <a:cs typeface="Arial MT"/>
              </a:rPr>
              <a:t> </a:t>
            </a:r>
            <a:r>
              <a:rPr sz="1650" b="1" dirty="0">
                <a:solidFill>
                  <a:srgbClr val="595959"/>
                </a:solidFill>
                <a:latin typeface="Arial"/>
                <a:cs typeface="Arial"/>
              </a:rPr>
              <a:t>RAINY</a:t>
            </a:r>
            <a:r>
              <a:rPr sz="1650" b="1" spc="5" dirty="0">
                <a:solidFill>
                  <a:srgbClr val="595959"/>
                </a:solidFill>
                <a:latin typeface="Arial"/>
                <a:cs typeface="Arial"/>
              </a:rPr>
              <a:t> </a:t>
            </a:r>
            <a:r>
              <a:rPr sz="1650" spc="-10" dirty="0">
                <a:solidFill>
                  <a:srgbClr val="595959"/>
                </a:solidFill>
                <a:latin typeface="Arial MT"/>
                <a:cs typeface="Arial MT"/>
              </a:rPr>
              <a:t>day!!</a:t>
            </a:r>
            <a:endParaRPr sz="165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1690" rIns="0" bIns="0" rtlCol="0">
            <a:spAutoFit/>
          </a:bodyPr>
          <a:lstStyle/>
          <a:p>
            <a:pPr marL="12700">
              <a:lnSpc>
                <a:spcPct val="100000"/>
              </a:lnSpc>
              <a:spcBef>
                <a:spcPts val="120"/>
              </a:spcBef>
            </a:pPr>
            <a:r>
              <a:rPr dirty="0"/>
              <a:t>Types</a:t>
            </a:r>
            <a:r>
              <a:rPr spc="-50" dirty="0"/>
              <a:t> </a:t>
            </a:r>
            <a:r>
              <a:rPr dirty="0"/>
              <a:t>of</a:t>
            </a:r>
            <a:r>
              <a:rPr spc="-50" dirty="0"/>
              <a:t> </a:t>
            </a:r>
            <a:r>
              <a:rPr dirty="0"/>
              <a:t>Logistic</a:t>
            </a:r>
            <a:r>
              <a:rPr spc="-50" dirty="0"/>
              <a:t> </a:t>
            </a:r>
            <a:r>
              <a:rPr spc="-10" dirty="0"/>
              <a:t>Regression</a:t>
            </a:r>
          </a:p>
        </p:txBody>
      </p:sp>
      <p:sp>
        <p:nvSpPr>
          <p:cNvPr id="3" name="object 3"/>
          <p:cNvSpPr txBox="1"/>
          <p:nvPr/>
        </p:nvSpPr>
        <p:spPr>
          <a:xfrm>
            <a:off x="384725" y="1508849"/>
            <a:ext cx="8105140" cy="2905760"/>
          </a:xfrm>
          <a:prstGeom prst="rect">
            <a:avLst/>
          </a:prstGeom>
        </p:spPr>
        <p:txBody>
          <a:bodyPr vert="horz" wrap="square" lIns="0" tIns="14605" rIns="0" bIns="0" rtlCol="0">
            <a:spAutoFit/>
          </a:bodyPr>
          <a:lstStyle/>
          <a:p>
            <a:pPr marL="12700">
              <a:lnSpc>
                <a:spcPct val="100000"/>
              </a:lnSpc>
              <a:spcBef>
                <a:spcPts val="115"/>
              </a:spcBef>
            </a:pPr>
            <a:r>
              <a:rPr sz="1650" dirty="0">
                <a:solidFill>
                  <a:srgbClr val="595959"/>
                </a:solidFill>
                <a:latin typeface="Arial MT"/>
                <a:cs typeface="Arial MT"/>
              </a:rPr>
              <a:t>On</a:t>
            </a:r>
            <a:r>
              <a:rPr sz="1650" spc="20" dirty="0">
                <a:solidFill>
                  <a:srgbClr val="595959"/>
                </a:solidFill>
                <a:latin typeface="Arial MT"/>
                <a:cs typeface="Arial MT"/>
              </a:rPr>
              <a:t> </a:t>
            </a:r>
            <a:r>
              <a:rPr sz="1650" dirty="0">
                <a:solidFill>
                  <a:srgbClr val="595959"/>
                </a:solidFill>
                <a:latin typeface="Arial MT"/>
                <a:cs typeface="Arial MT"/>
              </a:rPr>
              <a:t>the</a:t>
            </a:r>
            <a:r>
              <a:rPr sz="1650" spc="20" dirty="0">
                <a:solidFill>
                  <a:srgbClr val="595959"/>
                </a:solidFill>
                <a:latin typeface="Arial MT"/>
                <a:cs typeface="Arial MT"/>
              </a:rPr>
              <a:t> </a:t>
            </a:r>
            <a:r>
              <a:rPr sz="1650" dirty="0">
                <a:solidFill>
                  <a:srgbClr val="595959"/>
                </a:solidFill>
                <a:latin typeface="Arial MT"/>
                <a:cs typeface="Arial MT"/>
              </a:rPr>
              <a:t>basis</a:t>
            </a:r>
            <a:r>
              <a:rPr sz="1650" spc="20" dirty="0">
                <a:solidFill>
                  <a:srgbClr val="595959"/>
                </a:solidFill>
                <a:latin typeface="Arial MT"/>
                <a:cs typeface="Arial MT"/>
              </a:rPr>
              <a:t> </a:t>
            </a:r>
            <a:r>
              <a:rPr sz="1650" dirty="0">
                <a:solidFill>
                  <a:srgbClr val="595959"/>
                </a:solidFill>
                <a:latin typeface="Arial MT"/>
                <a:cs typeface="Arial MT"/>
              </a:rPr>
              <a:t>of</a:t>
            </a:r>
            <a:r>
              <a:rPr sz="1650" spc="20" dirty="0">
                <a:solidFill>
                  <a:srgbClr val="595959"/>
                </a:solidFill>
                <a:latin typeface="Arial MT"/>
                <a:cs typeface="Arial MT"/>
              </a:rPr>
              <a:t> </a:t>
            </a:r>
            <a:r>
              <a:rPr sz="1650" dirty="0">
                <a:solidFill>
                  <a:srgbClr val="595959"/>
                </a:solidFill>
                <a:latin typeface="Arial MT"/>
                <a:cs typeface="Arial MT"/>
              </a:rPr>
              <a:t>the</a:t>
            </a:r>
            <a:r>
              <a:rPr sz="1650" spc="20" dirty="0">
                <a:solidFill>
                  <a:srgbClr val="595959"/>
                </a:solidFill>
                <a:latin typeface="Arial MT"/>
                <a:cs typeface="Arial MT"/>
              </a:rPr>
              <a:t> </a:t>
            </a:r>
            <a:r>
              <a:rPr sz="1650" dirty="0">
                <a:solidFill>
                  <a:srgbClr val="595959"/>
                </a:solidFill>
                <a:latin typeface="Arial MT"/>
                <a:cs typeface="Arial MT"/>
              </a:rPr>
              <a:t>categories,</a:t>
            </a:r>
            <a:r>
              <a:rPr sz="1650" spc="15" dirty="0">
                <a:solidFill>
                  <a:srgbClr val="595959"/>
                </a:solidFill>
                <a:latin typeface="Arial MT"/>
                <a:cs typeface="Arial MT"/>
              </a:rPr>
              <a:t> </a:t>
            </a:r>
            <a:r>
              <a:rPr sz="1650" dirty="0">
                <a:solidFill>
                  <a:srgbClr val="595959"/>
                </a:solidFill>
                <a:latin typeface="Arial MT"/>
                <a:cs typeface="Arial MT"/>
              </a:rPr>
              <a:t>Logistic</a:t>
            </a:r>
            <a:r>
              <a:rPr sz="1650" spc="20" dirty="0">
                <a:solidFill>
                  <a:srgbClr val="595959"/>
                </a:solidFill>
                <a:latin typeface="Arial MT"/>
                <a:cs typeface="Arial MT"/>
              </a:rPr>
              <a:t> </a:t>
            </a:r>
            <a:r>
              <a:rPr sz="1650" dirty="0">
                <a:solidFill>
                  <a:srgbClr val="595959"/>
                </a:solidFill>
                <a:latin typeface="Arial MT"/>
                <a:cs typeface="Arial MT"/>
              </a:rPr>
              <a:t>Regression</a:t>
            </a:r>
            <a:r>
              <a:rPr sz="1650" spc="20" dirty="0">
                <a:solidFill>
                  <a:srgbClr val="595959"/>
                </a:solidFill>
                <a:latin typeface="Arial MT"/>
                <a:cs typeface="Arial MT"/>
              </a:rPr>
              <a:t> </a:t>
            </a:r>
            <a:r>
              <a:rPr sz="1650" dirty="0">
                <a:solidFill>
                  <a:srgbClr val="595959"/>
                </a:solidFill>
                <a:latin typeface="Arial MT"/>
                <a:cs typeface="Arial MT"/>
              </a:rPr>
              <a:t>can</a:t>
            </a:r>
            <a:r>
              <a:rPr sz="1650" spc="20" dirty="0">
                <a:solidFill>
                  <a:srgbClr val="595959"/>
                </a:solidFill>
                <a:latin typeface="Arial MT"/>
                <a:cs typeface="Arial MT"/>
              </a:rPr>
              <a:t> </a:t>
            </a:r>
            <a:r>
              <a:rPr sz="1650" dirty="0">
                <a:solidFill>
                  <a:srgbClr val="595959"/>
                </a:solidFill>
                <a:latin typeface="Arial MT"/>
                <a:cs typeface="Arial MT"/>
              </a:rPr>
              <a:t>be</a:t>
            </a:r>
            <a:r>
              <a:rPr sz="1650" spc="20" dirty="0">
                <a:solidFill>
                  <a:srgbClr val="595959"/>
                </a:solidFill>
                <a:latin typeface="Arial MT"/>
                <a:cs typeface="Arial MT"/>
              </a:rPr>
              <a:t> </a:t>
            </a:r>
            <a:r>
              <a:rPr sz="1650" dirty="0">
                <a:solidFill>
                  <a:srgbClr val="595959"/>
                </a:solidFill>
                <a:latin typeface="Arial MT"/>
                <a:cs typeface="Arial MT"/>
              </a:rPr>
              <a:t>classified</a:t>
            </a:r>
            <a:r>
              <a:rPr sz="1650" spc="20" dirty="0">
                <a:solidFill>
                  <a:srgbClr val="595959"/>
                </a:solidFill>
                <a:latin typeface="Arial MT"/>
                <a:cs typeface="Arial MT"/>
              </a:rPr>
              <a:t> </a:t>
            </a:r>
            <a:r>
              <a:rPr sz="1650" dirty="0">
                <a:solidFill>
                  <a:srgbClr val="595959"/>
                </a:solidFill>
                <a:latin typeface="Arial MT"/>
                <a:cs typeface="Arial MT"/>
              </a:rPr>
              <a:t>into</a:t>
            </a:r>
            <a:r>
              <a:rPr sz="1650" spc="20" dirty="0">
                <a:solidFill>
                  <a:srgbClr val="595959"/>
                </a:solidFill>
                <a:latin typeface="Arial MT"/>
                <a:cs typeface="Arial MT"/>
              </a:rPr>
              <a:t> </a:t>
            </a:r>
            <a:r>
              <a:rPr sz="1650" dirty="0">
                <a:solidFill>
                  <a:srgbClr val="595959"/>
                </a:solidFill>
                <a:latin typeface="Arial MT"/>
                <a:cs typeface="Arial MT"/>
              </a:rPr>
              <a:t>three</a:t>
            </a:r>
            <a:r>
              <a:rPr sz="1650" spc="20" dirty="0">
                <a:solidFill>
                  <a:srgbClr val="595959"/>
                </a:solidFill>
                <a:latin typeface="Arial MT"/>
                <a:cs typeface="Arial MT"/>
              </a:rPr>
              <a:t> </a:t>
            </a:r>
            <a:r>
              <a:rPr sz="1650" spc="-10" dirty="0">
                <a:solidFill>
                  <a:srgbClr val="595959"/>
                </a:solidFill>
                <a:latin typeface="Arial MT"/>
                <a:cs typeface="Arial MT"/>
              </a:rPr>
              <a:t>types:</a:t>
            </a:r>
            <a:endParaRPr sz="1650">
              <a:latin typeface="Arial MT"/>
              <a:cs typeface="Arial MT"/>
            </a:endParaRPr>
          </a:p>
          <a:p>
            <a:pPr>
              <a:lnSpc>
                <a:spcPct val="100000"/>
              </a:lnSpc>
              <a:spcBef>
                <a:spcPts val="400"/>
              </a:spcBef>
            </a:pPr>
            <a:endParaRPr sz="1650">
              <a:latin typeface="Arial MT"/>
              <a:cs typeface="Arial MT"/>
            </a:endParaRPr>
          </a:p>
          <a:p>
            <a:pPr marL="469900" marR="5080" indent="-356870">
              <a:lnSpc>
                <a:spcPct val="115999"/>
              </a:lnSpc>
              <a:buFont typeface="Arial MT"/>
              <a:buChar char="●"/>
              <a:tabLst>
                <a:tab pos="469900" algn="l"/>
              </a:tabLst>
            </a:pPr>
            <a:r>
              <a:rPr sz="1650" b="1" dirty="0">
                <a:solidFill>
                  <a:srgbClr val="595959"/>
                </a:solidFill>
                <a:latin typeface="Arial"/>
                <a:cs typeface="Arial"/>
              </a:rPr>
              <a:t>Binomial:</a:t>
            </a:r>
            <a:r>
              <a:rPr sz="1650" b="1" spc="15" dirty="0">
                <a:solidFill>
                  <a:srgbClr val="595959"/>
                </a:solidFill>
                <a:latin typeface="Arial"/>
                <a:cs typeface="Arial"/>
              </a:rPr>
              <a:t> </a:t>
            </a:r>
            <a:r>
              <a:rPr sz="1650" dirty="0">
                <a:solidFill>
                  <a:srgbClr val="595959"/>
                </a:solidFill>
                <a:latin typeface="Arial MT"/>
                <a:cs typeface="Arial MT"/>
              </a:rPr>
              <a:t>In</a:t>
            </a:r>
            <a:r>
              <a:rPr sz="1650" spc="20" dirty="0">
                <a:solidFill>
                  <a:srgbClr val="595959"/>
                </a:solidFill>
                <a:latin typeface="Arial MT"/>
                <a:cs typeface="Arial MT"/>
              </a:rPr>
              <a:t> </a:t>
            </a:r>
            <a:r>
              <a:rPr sz="1650" dirty="0">
                <a:solidFill>
                  <a:srgbClr val="595959"/>
                </a:solidFill>
                <a:latin typeface="Arial MT"/>
                <a:cs typeface="Arial MT"/>
              </a:rPr>
              <a:t>binomial</a:t>
            </a:r>
            <a:r>
              <a:rPr sz="1650" spc="25" dirty="0">
                <a:solidFill>
                  <a:srgbClr val="595959"/>
                </a:solidFill>
                <a:latin typeface="Arial MT"/>
                <a:cs typeface="Arial MT"/>
              </a:rPr>
              <a:t> </a:t>
            </a:r>
            <a:r>
              <a:rPr sz="1650" dirty="0">
                <a:solidFill>
                  <a:srgbClr val="595959"/>
                </a:solidFill>
                <a:latin typeface="Arial MT"/>
                <a:cs typeface="Arial MT"/>
              </a:rPr>
              <a:t>Logistic</a:t>
            </a:r>
            <a:r>
              <a:rPr sz="1650" spc="20" dirty="0">
                <a:solidFill>
                  <a:srgbClr val="595959"/>
                </a:solidFill>
                <a:latin typeface="Arial MT"/>
                <a:cs typeface="Arial MT"/>
              </a:rPr>
              <a:t> </a:t>
            </a:r>
            <a:r>
              <a:rPr sz="1650" dirty="0">
                <a:solidFill>
                  <a:srgbClr val="595959"/>
                </a:solidFill>
                <a:latin typeface="Arial MT"/>
                <a:cs typeface="Arial MT"/>
              </a:rPr>
              <a:t>regression,</a:t>
            </a:r>
            <a:r>
              <a:rPr sz="1650" spc="25" dirty="0">
                <a:solidFill>
                  <a:srgbClr val="595959"/>
                </a:solidFill>
                <a:latin typeface="Arial MT"/>
                <a:cs typeface="Arial MT"/>
              </a:rPr>
              <a:t> </a:t>
            </a:r>
            <a:r>
              <a:rPr sz="1650" dirty="0">
                <a:solidFill>
                  <a:srgbClr val="595959"/>
                </a:solidFill>
                <a:latin typeface="Arial MT"/>
                <a:cs typeface="Arial MT"/>
              </a:rPr>
              <a:t>there</a:t>
            </a:r>
            <a:r>
              <a:rPr sz="1650" spc="20" dirty="0">
                <a:solidFill>
                  <a:srgbClr val="595959"/>
                </a:solidFill>
                <a:latin typeface="Arial MT"/>
                <a:cs typeface="Arial MT"/>
              </a:rPr>
              <a:t> </a:t>
            </a:r>
            <a:r>
              <a:rPr sz="1650" dirty="0">
                <a:solidFill>
                  <a:srgbClr val="595959"/>
                </a:solidFill>
                <a:latin typeface="Arial MT"/>
                <a:cs typeface="Arial MT"/>
              </a:rPr>
              <a:t>can</a:t>
            </a:r>
            <a:r>
              <a:rPr sz="1650" spc="25" dirty="0">
                <a:solidFill>
                  <a:srgbClr val="595959"/>
                </a:solidFill>
                <a:latin typeface="Arial MT"/>
                <a:cs typeface="Arial MT"/>
              </a:rPr>
              <a:t> </a:t>
            </a:r>
            <a:r>
              <a:rPr sz="1650" dirty="0">
                <a:solidFill>
                  <a:srgbClr val="595959"/>
                </a:solidFill>
                <a:latin typeface="Arial MT"/>
                <a:cs typeface="Arial MT"/>
              </a:rPr>
              <a:t>be</a:t>
            </a:r>
            <a:r>
              <a:rPr sz="1650" spc="20" dirty="0">
                <a:solidFill>
                  <a:srgbClr val="595959"/>
                </a:solidFill>
                <a:latin typeface="Arial MT"/>
                <a:cs typeface="Arial MT"/>
              </a:rPr>
              <a:t> </a:t>
            </a:r>
            <a:r>
              <a:rPr sz="1650" dirty="0">
                <a:solidFill>
                  <a:srgbClr val="595959"/>
                </a:solidFill>
                <a:latin typeface="Arial MT"/>
                <a:cs typeface="Arial MT"/>
              </a:rPr>
              <a:t>only</a:t>
            </a:r>
            <a:r>
              <a:rPr sz="1650" spc="20" dirty="0">
                <a:solidFill>
                  <a:srgbClr val="595959"/>
                </a:solidFill>
                <a:latin typeface="Arial MT"/>
                <a:cs typeface="Arial MT"/>
              </a:rPr>
              <a:t> </a:t>
            </a:r>
            <a:r>
              <a:rPr sz="1650" dirty="0">
                <a:solidFill>
                  <a:srgbClr val="595959"/>
                </a:solidFill>
                <a:latin typeface="Arial MT"/>
                <a:cs typeface="Arial MT"/>
              </a:rPr>
              <a:t>two</a:t>
            </a:r>
            <a:r>
              <a:rPr sz="1650" spc="25" dirty="0">
                <a:solidFill>
                  <a:srgbClr val="595959"/>
                </a:solidFill>
                <a:latin typeface="Arial MT"/>
                <a:cs typeface="Arial MT"/>
              </a:rPr>
              <a:t> </a:t>
            </a:r>
            <a:r>
              <a:rPr sz="1650" dirty="0">
                <a:solidFill>
                  <a:srgbClr val="595959"/>
                </a:solidFill>
                <a:latin typeface="Arial MT"/>
                <a:cs typeface="Arial MT"/>
              </a:rPr>
              <a:t>possible</a:t>
            </a:r>
            <a:r>
              <a:rPr sz="1650" spc="20" dirty="0">
                <a:solidFill>
                  <a:srgbClr val="595959"/>
                </a:solidFill>
                <a:latin typeface="Arial MT"/>
                <a:cs typeface="Arial MT"/>
              </a:rPr>
              <a:t> </a:t>
            </a:r>
            <a:r>
              <a:rPr sz="1650" dirty="0">
                <a:solidFill>
                  <a:srgbClr val="595959"/>
                </a:solidFill>
                <a:latin typeface="Arial MT"/>
                <a:cs typeface="Arial MT"/>
              </a:rPr>
              <a:t>types</a:t>
            </a:r>
            <a:r>
              <a:rPr sz="1650" spc="25" dirty="0">
                <a:solidFill>
                  <a:srgbClr val="595959"/>
                </a:solidFill>
                <a:latin typeface="Arial MT"/>
                <a:cs typeface="Arial MT"/>
              </a:rPr>
              <a:t> </a:t>
            </a:r>
            <a:r>
              <a:rPr sz="1650" spc="-25" dirty="0">
                <a:solidFill>
                  <a:srgbClr val="595959"/>
                </a:solidFill>
                <a:latin typeface="Arial MT"/>
                <a:cs typeface="Arial MT"/>
              </a:rPr>
              <a:t>of </a:t>
            </a:r>
            <a:r>
              <a:rPr sz="1650" dirty="0">
                <a:solidFill>
                  <a:srgbClr val="595959"/>
                </a:solidFill>
                <a:latin typeface="Arial MT"/>
                <a:cs typeface="Arial MT"/>
              </a:rPr>
              <a:t>the</a:t>
            </a:r>
            <a:r>
              <a:rPr sz="1650" spc="15" dirty="0">
                <a:solidFill>
                  <a:srgbClr val="595959"/>
                </a:solidFill>
                <a:latin typeface="Arial MT"/>
                <a:cs typeface="Arial MT"/>
              </a:rPr>
              <a:t> </a:t>
            </a:r>
            <a:r>
              <a:rPr sz="1650" dirty="0">
                <a:solidFill>
                  <a:srgbClr val="595959"/>
                </a:solidFill>
                <a:latin typeface="Arial MT"/>
                <a:cs typeface="Arial MT"/>
              </a:rPr>
              <a:t>dependent</a:t>
            </a:r>
            <a:r>
              <a:rPr sz="1650" spc="20" dirty="0">
                <a:solidFill>
                  <a:srgbClr val="595959"/>
                </a:solidFill>
                <a:latin typeface="Arial MT"/>
                <a:cs typeface="Arial MT"/>
              </a:rPr>
              <a:t> </a:t>
            </a:r>
            <a:r>
              <a:rPr sz="1650" dirty="0">
                <a:solidFill>
                  <a:srgbClr val="595959"/>
                </a:solidFill>
                <a:latin typeface="Arial MT"/>
                <a:cs typeface="Arial MT"/>
              </a:rPr>
              <a:t>variables,</a:t>
            </a:r>
            <a:r>
              <a:rPr sz="1650" spc="15" dirty="0">
                <a:solidFill>
                  <a:srgbClr val="595959"/>
                </a:solidFill>
                <a:latin typeface="Arial MT"/>
                <a:cs typeface="Arial MT"/>
              </a:rPr>
              <a:t> </a:t>
            </a:r>
            <a:r>
              <a:rPr sz="1650" dirty="0">
                <a:solidFill>
                  <a:srgbClr val="595959"/>
                </a:solidFill>
                <a:latin typeface="Arial MT"/>
                <a:cs typeface="Arial MT"/>
              </a:rPr>
              <a:t>such</a:t>
            </a:r>
            <a:r>
              <a:rPr sz="1650" spc="20" dirty="0">
                <a:solidFill>
                  <a:srgbClr val="595959"/>
                </a:solidFill>
                <a:latin typeface="Arial MT"/>
                <a:cs typeface="Arial MT"/>
              </a:rPr>
              <a:t> </a:t>
            </a:r>
            <a:r>
              <a:rPr sz="1650" dirty="0">
                <a:solidFill>
                  <a:srgbClr val="595959"/>
                </a:solidFill>
                <a:latin typeface="Arial MT"/>
                <a:cs typeface="Arial MT"/>
              </a:rPr>
              <a:t>as</a:t>
            </a:r>
            <a:r>
              <a:rPr sz="1650" spc="15" dirty="0">
                <a:solidFill>
                  <a:srgbClr val="595959"/>
                </a:solidFill>
                <a:latin typeface="Arial MT"/>
                <a:cs typeface="Arial MT"/>
              </a:rPr>
              <a:t> </a:t>
            </a:r>
            <a:r>
              <a:rPr sz="1650" dirty="0">
                <a:solidFill>
                  <a:srgbClr val="595959"/>
                </a:solidFill>
                <a:latin typeface="Arial MT"/>
                <a:cs typeface="Arial MT"/>
              </a:rPr>
              <a:t>0</a:t>
            </a:r>
            <a:r>
              <a:rPr sz="1650" spc="20" dirty="0">
                <a:solidFill>
                  <a:srgbClr val="595959"/>
                </a:solidFill>
                <a:latin typeface="Arial MT"/>
                <a:cs typeface="Arial MT"/>
              </a:rPr>
              <a:t> </a:t>
            </a:r>
            <a:r>
              <a:rPr sz="1650" dirty="0">
                <a:solidFill>
                  <a:srgbClr val="595959"/>
                </a:solidFill>
                <a:latin typeface="Arial MT"/>
                <a:cs typeface="Arial MT"/>
              </a:rPr>
              <a:t>or</a:t>
            </a:r>
            <a:r>
              <a:rPr sz="1650" spc="15" dirty="0">
                <a:solidFill>
                  <a:srgbClr val="595959"/>
                </a:solidFill>
                <a:latin typeface="Arial MT"/>
                <a:cs typeface="Arial MT"/>
              </a:rPr>
              <a:t> </a:t>
            </a:r>
            <a:r>
              <a:rPr sz="1650" dirty="0">
                <a:solidFill>
                  <a:srgbClr val="595959"/>
                </a:solidFill>
                <a:latin typeface="Arial MT"/>
                <a:cs typeface="Arial MT"/>
              </a:rPr>
              <a:t>1,</a:t>
            </a:r>
            <a:r>
              <a:rPr sz="1650" spc="20" dirty="0">
                <a:solidFill>
                  <a:srgbClr val="595959"/>
                </a:solidFill>
                <a:latin typeface="Arial MT"/>
                <a:cs typeface="Arial MT"/>
              </a:rPr>
              <a:t> </a:t>
            </a:r>
            <a:r>
              <a:rPr sz="1650" dirty="0">
                <a:solidFill>
                  <a:srgbClr val="595959"/>
                </a:solidFill>
                <a:latin typeface="Arial MT"/>
                <a:cs typeface="Arial MT"/>
              </a:rPr>
              <a:t>Pass</a:t>
            </a:r>
            <a:r>
              <a:rPr sz="1650" spc="15" dirty="0">
                <a:solidFill>
                  <a:srgbClr val="595959"/>
                </a:solidFill>
                <a:latin typeface="Arial MT"/>
                <a:cs typeface="Arial MT"/>
              </a:rPr>
              <a:t> </a:t>
            </a:r>
            <a:r>
              <a:rPr sz="1650" dirty="0">
                <a:solidFill>
                  <a:srgbClr val="595959"/>
                </a:solidFill>
                <a:latin typeface="Arial MT"/>
                <a:cs typeface="Arial MT"/>
              </a:rPr>
              <a:t>or</a:t>
            </a:r>
            <a:r>
              <a:rPr sz="1650" spc="20" dirty="0">
                <a:solidFill>
                  <a:srgbClr val="595959"/>
                </a:solidFill>
                <a:latin typeface="Arial MT"/>
                <a:cs typeface="Arial MT"/>
              </a:rPr>
              <a:t> </a:t>
            </a:r>
            <a:r>
              <a:rPr sz="1650" dirty="0">
                <a:solidFill>
                  <a:srgbClr val="595959"/>
                </a:solidFill>
                <a:latin typeface="Arial MT"/>
                <a:cs typeface="Arial MT"/>
              </a:rPr>
              <a:t>Fail,</a:t>
            </a:r>
            <a:r>
              <a:rPr sz="1650" spc="15" dirty="0">
                <a:solidFill>
                  <a:srgbClr val="595959"/>
                </a:solidFill>
                <a:latin typeface="Arial MT"/>
                <a:cs typeface="Arial MT"/>
              </a:rPr>
              <a:t> </a:t>
            </a:r>
            <a:r>
              <a:rPr sz="1650" spc="-20" dirty="0">
                <a:solidFill>
                  <a:srgbClr val="595959"/>
                </a:solidFill>
                <a:latin typeface="Arial MT"/>
                <a:cs typeface="Arial MT"/>
              </a:rPr>
              <a:t>etc.</a:t>
            </a:r>
            <a:endParaRPr sz="1650">
              <a:latin typeface="Arial MT"/>
              <a:cs typeface="Arial MT"/>
            </a:endParaRPr>
          </a:p>
          <a:p>
            <a:pPr>
              <a:lnSpc>
                <a:spcPct val="100000"/>
              </a:lnSpc>
              <a:spcBef>
                <a:spcPts val="400"/>
              </a:spcBef>
              <a:buClr>
                <a:srgbClr val="595959"/>
              </a:buClr>
              <a:buFont typeface="Arial MT"/>
              <a:buChar char="●"/>
            </a:pPr>
            <a:endParaRPr sz="1650">
              <a:latin typeface="Arial MT"/>
              <a:cs typeface="Arial MT"/>
            </a:endParaRPr>
          </a:p>
          <a:p>
            <a:pPr marL="469900" marR="111125" indent="-356870">
              <a:lnSpc>
                <a:spcPct val="115999"/>
              </a:lnSpc>
              <a:buFont typeface="Arial MT"/>
              <a:buChar char="●"/>
              <a:tabLst>
                <a:tab pos="469900" algn="l"/>
              </a:tabLst>
            </a:pPr>
            <a:r>
              <a:rPr sz="1650" b="1" dirty="0">
                <a:solidFill>
                  <a:srgbClr val="595959"/>
                </a:solidFill>
                <a:latin typeface="Arial"/>
                <a:cs typeface="Arial"/>
              </a:rPr>
              <a:t>Multinomial:</a:t>
            </a:r>
            <a:r>
              <a:rPr sz="1650" b="1" spc="10" dirty="0">
                <a:solidFill>
                  <a:srgbClr val="595959"/>
                </a:solidFill>
                <a:latin typeface="Arial"/>
                <a:cs typeface="Arial"/>
              </a:rPr>
              <a:t> </a:t>
            </a:r>
            <a:r>
              <a:rPr sz="1650" dirty="0">
                <a:solidFill>
                  <a:srgbClr val="595959"/>
                </a:solidFill>
                <a:latin typeface="Arial MT"/>
                <a:cs typeface="Arial MT"/>
              </a:rPr>
              <a:t>In</a:t>
            </a:r>
            <a:r>
              <a:rPr sz="1650" spc="20" dirty="0">
                <a:solidFill>
                  <a:srgbClr val="595959"/>
                </a:solidFill>
                <a:latin typeface="Arial MT"/>
                <a:cs typeface="Arial MT"/>
              </a:rPr>
              <a:t> </a:t>
            </a:r>
            <a:r>
              <a:rPr sz="1650" dirty="0">
                <a:solidFill>
                  <a:srgbClr val="595959"/>
                </a:solidFill>
                <a:latin typeface="Arial MT"/>
                <a:cs typeface="Arial MT"/>
              </a:rPr>
              <a:t>multinomial</a:t>
            </a:r>
            <a:r>
              <a:rPr sz="1650" spc="20" dirty="0">
                <a:solidFill>
                  <a:srgbClr val="595959"/>
                </a:solidFill>
                <a:latin typeface="Arial MT"/>
                <a:cs typeface="Arial MT"/>
              </a:rPr>
              <a:t> </a:t>
            </a:r>
            <a:r>
              <a:rPr sz="1650" dirty="0">
                <a:solidFill>
                  <a:srgbClr val="595959"/>
                </a:solidFill>
                <a:latin typeface="Arial MT"/>
                <a:cs typeface="Arial MT"/>
              </a:rPr>
              <a:t>Logistic</a:t>
            </a:r>
            <a:r>
              <a:rPr sz="1650" spc="20" dirty="0">
                <a:solidFill>
                  <a:srgbClr val="595959"/>
                </a:solidFill>
                <a:latin typeface="Arial MT"/>
                <a:cs typeface="Arial MT"/>
              </a:rPr>
              <a:t> </a:t>
            </a:r>
            <a:r>
              <a:rPr sz="1650" dirty="0">
                <a:solidFill>
                  <a:srgbClr val="595959"/>
                </a:solidFill>
                <a:latin typeface="Arial MT"/>
                <a:cs typeface="Arial MT"/>
              </a:rPr>
              <a:t>regression,</a:t>
            </a:r>
            <a:r>
              <a:rPr sz="1650" spc="15" dirty="0">
                <a:solidFill>
                  <a:srgbClr val="595959"/>
                </a:solidFill>
                <a:latin typeface="Arial MT"/>
                <a:cs typeface="Arial MT"/>
              </a:rPr>
              <a:t> </a:t>
            </a:r>
            <a:r>
              <a:rPr sz="1650" dirty="0">
                <a:solidFill>
                  <a:srgbClr val="595959"/>
                </a:solidFill>
                <a:latin typeface="Arial MT"/>
                <a:cs typeface="Arial MT"/>
              </a:rPr>
              <a:t>there</a:t>
            </a:r>
            <a:r>
              <a:rPr sz="1650" spc="20" dirty="0">
                <a:solidFill>
                  <a:srgbClr val="595959"/>
                </a:solidFill>
                <a:latin typeface="Arial MT"/>
                <a:cs typeface="Arial MT"/>
              </a:rPr>
              <a:t> </a:t>
            </a:r>
            <a:r>
              <a:rPr sz="1650" dirty="0">
                <a:solidFill>
                  <a:srgbClr val="595959"/>
                </a:solidFill>
                <a:latin typeface="Arial MT"/>
                <a:cs typeface="Arial MT"/>
              </a:rPr>
              <a:t>can</a:t>
            </a:r>
            <a:r>
              <a:rPr sz="1650" spc="20" dirty="0">
                <a:solidFill>
                  <a:srgbClr val="595959"/>
                </a:solidFill>
                <a:latin typeface="Arial MT"/>
                <a:cs typeface="Arial MT"/>
              </a:rPr>
              <a:t> </a:t>
            </a:r>
            <a:r>
              <a:rPr sz="1650" dirty="0">
                <a:solidFill>
                  <a:srgbClr val="595959"/>
                </a:solidFill>
                <a:latin typeface="Arial MT"/>
                <a:cs typeface="Arial MT"/>
              </a:rPr>
              <a:t>be</a:t>
            </a:r>
            <a:r>
              <a:rPr sz="1650" spc="20" dirty="0">
                <a:solidFill>
                  <a:srgbClr val="595959"/>
                </a:solidFill>
                <a:latin typeface="Arial MT"/>
                <a:cs typeface="Arial MT"/>
              </a:rPr>
              <a:t> </a:t>
            </a:r>
            <a:r>
              <a:rPr sz="1650" dirty="0">
                <a:solidFill>
                  <a:srgbClr val="595959"/>
                </a:solidFill>
                <a:latin typeface="Arial MT"/>
                <a:cs typeface="Arial MT"/>
              </a:rPr>
              <a:t>3</a:t>
            </a:r>
            <a:r>
              <a:rPr sz="1650" spc="20" dirty="0">
                <a:solidFill>
                  <a:srgbClr val="595959"/>
                </a:solidFill>
                <a:latin typeface="Arial MT"/>
                <a:cs typeface="Arial MT"/>
              </a:rPr>
              <a:t> </a:t>
            </a:r>
            <a:r>
              <a:rPr sz="1650" dirty="0">
                <a:solidFill>
                  <a:srgbClr val="595959"/>
                </a:solidFill>
                <a:latin typeface="Arial MT"/>
                <a:cs typeface="Arial MT"/>
              </a:rPr>
              <a:t>or</a:t>
            </a:r>
            <a:r>
              <a:rPr sz="1650" spc="15" dirty="0">
                <a:solidFill>
                  <a:srgbClr val="595959"/>
                </a:solidFill>
                <a:latin typeface="Arial MT"/>
                <a:cs typeface="Arial MT"/>
              </a:rPr>
              <a:t> </a:t>
            </a:r>
            <a:r>
              <a:rPr sz="1650" dirty="0">
                <a:solidFill>
                  <a:srgbClr val="595959"/>
                </a:solidFill>
                <a:latin typeface="Arial MT"/>
                <a:cs typeface="Arial MT"/>
              </a:rPr>
              <a:t>more</a:t>
            </a:r>
            <a:r>
              <a:rPr sz="1650" spc="20" dirty="0">
                <a:solidFill>
                  <a:srgbClr val="595959"/>
                </a:solidFill>
                <a:latin typeface="Arial MT"/>
                <a:cs typeface="Arial MT"/>
              </a:rPr>
              <a:t> </a:t>
            </a:r>
            <a:r>
              <a:rPr sz="1650" spc="-10" dirty="0">
                <a:solidFill>
                  <a:srgbClr val="595959"/>
                </a:solidFill>
                <a:latin typeface="Arial MT"/>
                <a:cs typeface="Arial MT"/>
              </a:rPr>
              <a:t>possible </a:t>
            </a:r>
            <a:r>
              <a:rPr sz="1650" dirty="0">
                <a:solidFill>
                  <a:srgbClr val="595959"/>
                </a:solidFill>
                <a:latin typeface="Arial MT"/>
                <a:cs typeface="Arial MT"/>
              </a:rPr>
              <a:t>unordered</a:t>
            </a:r>
            <a:r>
              <a:rPr sz="1650" spc="15" dirty="0">
                <a:solidFill>
                  <a:srgbClr val="595959"/>
                </a:solidFill>
                <a:latin typeface="Arial MT"/>
                <a:cs typeface="Arial MT"/>
              </a:rPr>
              <a:t> </a:t>
            </a:r>
            <a:r>
              <a:rPr sz="1650" dirty="0">
                <a:solidFill>
                  <a:srgbClr val="595959"/>
                </a:solidFill>
                <a:latin typeface="Arial MT"/>
                <a:cs typeface="Arial MT"/>
              </a:rPr>
              <a:t>types</a:t>
            </a:r>
            <a:r>
              <a:rPr sz="1650" spc="15" dirty="0">
                <a:solidFill>
                  <a:srgbClr val="595959"/>
                </a:solidFill>
                <a:latin typeface="Arial MT"/>
                <a:cs typeface="Arial MT"/>
              </a:rPr>
              <a:t> </a:t>
            </a:r>
            <a:r>
              <a:rPr sz="1650" dirty="0">
                <a:solidFill>
                  <a:srgbClr val="595959"/>
                </a:solidFill>
                <a:latin typeface="Arial MT"/>
                <a:cs typeface="Arial MT"/>
              </a:rPr>
              <a:t>of</a:t>
            </a:r>
            <a:r>
              <a:rPr sz="1650" spc="20" dirty="0">
                <a:solidFill>
                  <a:srgbClr val="595959"/>
                </a:solidFill>
                <a:latin typeface="Arial MT"/>
                <a:cs typeface="Arial MT"/>
              </a:rPr>
              <a:t> </a:t>
            </a:r>
            <a:r>
              <a:rPr sz="1650" dirty="0">
                <a:solidFill>
                  <a:srgbClr val="595959"/>
                </a:solidFill>
                <a:latin typeface="Arial MT"/>
                <a:cs typeface="Arial MT"/>
              </a:rPr>
              <a:t>the</a:t>
            </a:r>
            <a:r>
              <a:rPr sz="1650" spc="15" dirty="0">
                <a:solidFill>
                  <a:srgbClr val="595959"/>
                </a:solidFill>
                <a:latin typeface="Arial MT"/>
                <a:cs typeface="Arial MT"/>
              </a:rPr>
              <a:t> </a:t>
            </a:r>
            <a:r>
              <a:rPr sz="1650" dirty="0">
                <a:solidFill>
                  <a:srgbClr val="595959"/>
                </a:solidFill>
                <a:latin typeface="Arial MT"/>
                <a:cs typeface="Arial MT"/>
              </a:rPr>
              <a:t>dependent</a:t>
            </a:r>
            <a:r>
              <a:rPr sz="1650" spc="20" dirty="0">
                <a:solidFill>
                  <a:srgbClr val="595959"/>
                </a:solidFill>
                <a:latin typeface="Arial MT"/>
                <a:cs typeface="Arial MT"/>
              </a:rPr>
              <a:t> </a:t>
            </a:r>
            <a:r>
              <a:rPr sz="1650" dirty="0">
                <a:solidFill>
                  <a:srgbClr val="595959"/>
                </a:solidFill>
                <a:latin typeface="Arial MT"/>
                <a:cs typeface="Arial MT"/>
              </a:rPr>
              <a:t>variable,</a:t>
            </a:r>
            <a:r>
              <a:rPr sz="1650" spc="15" dirty="0">
                <a:solidFill>
                  <a:srgbClr val="595959"/>
                </a:solidFill>
                <a:latin typeface="Arial MT"/>
                <a:cs typeface="Arial MT"/>
              </a:rPr>
              <a:t> </a:t>
            </a:r>
            <a:r>
              <a:rPr sz="1650" dirty="0">
                <a:solidFill>
                  <a:srgbClr val="595959"/>
                </a:solidFill>
                <a:latin typeface="Arial MT"/>
                <a:cs typeface="Arial MT"/>
              </a:rPr>
              <a:t>such</a:t>
            </a:r>
            <a:r>
              <a:rPr sz="1650" spc="20" dirty="0">
                <a:solidFill>
                  <a:srgbClr val="595959"/>
                </a:solidFill>
                <a:latin typeface="Arial MT"/>
                <a:cs typeface="Arial MT"/>
              </a:rPr>
              <a:t> </a:t>
            </a:r>
            <a:r>
              <a:rPr sz="1650" dirty="0">
                <a:solidFill>
                  <a:srgbClr val="595959"/>
                </a:solidFill>
                <a:latin typeface="Arial MT"/>
                <a:cs typeface="Arial MT"/>
              </a:rPr>
              <a:t>as</a:t>
            </a:r>
            <a:r>
              <a:rPr sz="1650" spc="15" dirty="0">
                <a:solidFill>
                  <a:srgbClr val="595959"/>
                </a:solidFill>
                <a:latin typeface="Arial MT"/>
                <a:cs typeface="Arial MT"/>
              </a:rPr>
              <a:t> </a:t>
            </a:r>
            <a:r>
              <a:rPr sz="1650" dirty="0">
                <a:solidFill>
                  <a:srgbClr val="595959"/>
                </a:solidFill>
                <a:latin typeface="Arial MT"/>
                <a:cs typeface="Arial MT"/>
              </a:rPr>
              <a:t>“cat”,</a:t>
            </a:r>
            <a:r>
              <a:rPr sz="1650" spc="20" dirty="0">
                <a:solidFill>
                  <a:srgbClr val="595959"/>
                </a:solidFill>
                <a:latin typeface="Arial MT"/>
                <a:cs typeface="Arial MT"/>
              </a:rPr>
              <a:t> </a:t>
            </a:r>
            <a:r>
              <a:rPr sz="1650" dirty="0">
                <a:solidFill>
                  <a:srgbClr val="595959"/>
                </a:solidFill>
                <a:latin typeface="Arial MT"/>
                <a:cs typeface="Arial MT"/>
              </a:rPr>
              <a:t>“dogs”,</a:t>
            </a:r>
            <a:r>
              <a:rPr sz="1650" spc="15" dirty="0">
                <a:solidFill>
                  <a:srgbClr val="595959"/>
                </a:solidFill>
                <a:latin typeface="Arial MT"/>
                <a:cs typeface="Arial MT"/>
              </a:rPr>
              <a:t> </a:t>
            </a:r>
            <a:r>
              <a:rPr sz="1650" dirty="0">
                <a:solidFill>
                  <a:srgbClr val="595959"/>
                </a:solidFill>
                <a:latin typeface="Arial MT"/>
                <a:cs typeface="Arial MT"/>
              </a:rPr>
              <a:t>or</a:t>
            </a:r>
            <a:r>
              <a:rPr sz="1650" spc="15" dirty="0">
                <a:solidFill>
                  <a:srgbClr val="595959"/>
                </a:solidFill>
                <a:latin typeface="Arial MT"/>
                <a:cs typeface="Arial MT"/>
              </a:rPr>
              <a:t> </a:t>
            </a:r>
            <a:r>
              <a:rPr sz="1650" spc="-10" dirty="0">
                <a:solidFill>
                  <a:srgbClr val="595959"/>
                </a:solidFill>
                <a:latin typeface="Arial MT"/>
                <a:cs typeface="Arial MT"/>
              </a:rPr>
              <a:t>“sheep”</a:t>
            </a:r>
            <a:endParaRPr sz="1650">
              <a:latin typeface="Arial MT"/>
              <a:cs typeface="Arial MT"/>
            </a:endParaRPr>
          </a:p>
          <a:p>
            <a:pPr>
              <a:lnSpc>
                <a:spcPct val="100000"/>
              </a:lnSpc>
              <a:spcBef>
                <a:spcPts val="400"/>
              </a:spcBef>
              <a:buClr>
                <a:srgbClr val="595959"/>
              </a:buClr>
              <a:buFont typeface="Arial MT"/>
              <a:buChar char="●"/>
            </a:pPr>
            <a:endParaRPr sz="1650">
              <a:latin typeface="Arial MT"/>
              <a:cs typeface="Arial MT"/>
            </a:endParaRPr>
          </a:p>
          <a:p>
            <a:pPr marL="469900" marR="192405" indent="-356870">
              <a:lnSpc>
                <a:spcPct val="115999"/>
              </a:lnSpc>
              <a:buFont typeface="Arial MT"/>
              <a:buChar char="●"/>
              <a:tabLst>
                <a:tab pos="469900" algn="l"/>
              </a:tabLst>
            </a:pPr>
            <a:r>
              <a:rPr sz="1650" b="1" dirty="0">
                <a:solidFill>
                  <a:srgbClr val="595959"/>
                </a:solidFill>
                <a:latin typeface="Arial"/>
                <a:cs typeface="Arial"/>
              </a:rPr>
              <a:t>Ordinal:</a:t>
            </a:r>
            <a:r>
              <a:rPr sz="1650" b="1" spc="15" dirty="0">
                <a:solidFill>
                  <a:srgbClr val="595959"/>
                </a:solidFill>
                <a:latin typeface="Arial"/>
                <a:cs typeface="Arial"/>
              </a:rPr>
              <a:t> </a:t>
            </a:r>
            <a:r>
              <a:rPr sz="1650" dirty="0">
                <a:solidFill>
                  <a:srgbClr val="595959"/>
                </a:solidFill>
                <a:latin typeface="Arial MT"/>
                <a:cs typeface="Arial MT"/>
              </a:rPr>
              <a:t>In</a:t>
            </a:r>
            <a:r>
              <a:rPr sz="1650" spc="20" dirty="0">
                <a:solidFill>
                  <a:srgbClr val="595959"/>
                </a:solidFill>
                <a:latin typeface="Arial MT"/>
                <a:cs typeface="Arial MT"/>
              </a:rPr>
              <a:t> </a:t>
            </a:r>
            <a:r>
              <a:rPr sz="1650" dirty="0">
                <a:solidFill>
                  <a:srgbClr val="595959"/>
                </a:solidFill>
                <a:latin typeface="Arial MT"/>
                <a:cs typeface="Arial MT"/>
              </a:rPr>
              <a:t>ordinal</a:t>
            </a:r>
            <a:r>
              <a:rPr sz="1650" spc="20" dirty="0">
                <a:solidFill>
                  <a:srgbClr val="595959"/>
                </a:solidFill>
                <a:latin typeface="Arial MT"/>
                <a:cs typeface="Arial MT"/>
              </a:rPr>
              <a:t> </a:t>
            </a:r>
            <a:r>
              <a:rPr sz="1650" dirty="0">
                <a:solidFill>
                  <a:srgbClr val="595959"/>
                </a:solidFill>
                <a:latin typeface="Arial MT"/>
                <a:cs typeface="Arial MT"/>
              </a:rPr>
              <a:t>Logistic</a:t>
            </a:r>
            <a:r>
              <a:rPr sz="1650" spc="15" dirty="0">
                <a:solidFill>
                  <a:srgbClr val="595959"/>
                </a:solidFill>
                <a:latin typeface="Arial MT"/>
                <a:cs typeface="Arial MT"/>
              </a:rPr>
              <a:t> </a:t>
            </a:r>
            <a:r>
              <a:rPr sz="1650" dirty="0">
                <a:solidFill>
                  <a:srgbClr val="595959"/>
                </a:solidFill>
                <a:latin typeface="Arial MT"/>
                <a:cs typeface="Arial MT"/>
              </a:rPr>
              <a:t>regression,</a:t>
            </a:r>
            <a:r>
              <a:rPr sz="1650" spc="20" dirty="0">
                <a:solidFill>
                  <a:srgbClr val="595959"/>
                </a:solidFill>
                <a:latin typeface="Arial MT"/>
                <a:cs typeface="Arial MT"/>
              </a:rPr>
              <a:t> </a:t>
            </a:r>
            <a:r>
              <a:rPr sz="1650" dirty="0">
                <a:solidFill>
                  <a:srgbClr val="595959"/>
                </a:solidFill>
                <a:latin typeface="Arial MT"/>
                <a:cs typeface="Arial MT"/>
              </a:rPr>
              <a:t>there</a:t>
            </a:r>
            <a:r>
              <a:rPr sz="1650" spc="20" dirty="0">
                <a:solidFill>
                  <a:srgbClr val="595959"/>
                </a:solidFill>
                <a:latin typeface="Arial MT"/>
                <a:cs typeface="Arial MT"/>
              </a:rPr>
              <a:t> </a:t>
            </a:r>
            <a:r>
              <a:rPr sz="1650" dirty="0">
                <a:solidFill>
                  <a:srgbClr val="595959"/>
                </a:solidFill>
                <a:latin typeface="Arial MT"/>
                <a:cs typeface="Arial MT"/>
              </a:rPr>
              <a:t>can</a:t>
            </a:r>
            <a:r>
              <a:rPr sz="1650" spc="15" dirty="0">
                <a:solidFill>
                  <a:srgbClr val="595959"/>
                </a:solidFill>
                <a:latin typeface="Arial MT"/>
                <a:cs typeface="Arial MT"/>
              </a:rPr>
              <a:t> </a:t>
            </a:r>
            <a:r>
              <a:rPr sz="1650" dirty="0">
                <a:solidFill>
                  <a:srgbClr val="595959"/>
                </a:solidFill>
                <a:latin typeface="Arial MT"/>
                <a:cs typeface="Arial MT"/>
              </a:rPr>
              <a:t>be</a:t>
            </a:r>
            <a:r>
              <a:rPr sz="1650" spc="20" dirty="0">
                <a:solidFill>
                  <a:srgbClr val="595959"/>
                </a:solidFill>
                <a:latin typeface="Arial MT"/>
                <a:cs typeface="Arial MT"/>
              </a:rPr>
              <a:t> </a:t>
            </a:r>
            <a:r>
              <a:rPr sz="1650" dirty="0">
                <a:solidFill>
                  <a:srgbClr val="595959"/>
                </a:solidFill>
                <a:latin typeface="Arial MT"/>
                <a:cs typeface="Arial MT"/>
              </a:rPr>
              <a:t>3</a:t>
            </a:r>
            <a:r>
              <a:rPr sz="1650" spc="20" dirty="0">
                <a:solidFill>
                  <a:srgbClr val="595959"/>
                </a:solidFill>
                <a:latin typeface="Arial MT"/>
                <a:cs typeface="Arial MT"/>
              </a:rPr>
              <a:t> </a:t>
            </a:r>
            <a:r>
              <a:rPr sz="1650" dirty="0">
                <a:solidFill>
                  <a:srgbClr val="595959"/>
                </a:solidFill>
                <a:latin typeface="Arial MT"/>
                <a:cs typeface="Arial MT"/>
              </a:rPr>
              <a:t>or</a:t>
            </a:r>
            <a:r>
              <a:rPr sz="1650" spc="15" dirty="0">
                <a:solidFill>
                  <a:srgbClr val="595959"/>
                </a:solidFill>
                <a:latin typeface="Arial MT"/>
                <a:cs typeface="Arial MT"/>
              </a:rPr>
              <a:t> </a:t>
            </a:r>
            <a:r>
              <a:rPr sz="1650" dirty="0">
                <a:solidFill>
                  <a:srgbClr val="595959"/>
                </a:solidFill>
                <a:latin typeface="Arial MT"/>
                <a:cs typeface="Arial MT"/>
              </a:rPr>
              <a:t>more</a:t>
            </a:r>
            <a:r>
              <a:rPr sz="1650" spc="20" dirty="0">
                <a:solidFill>
                  <a:srgbClr val="595959"/>
                </a:solidFill>
                <a:latin typeface="Arial MT"/>
                <a:cs typeface="Arial MT"/>
              </a:rPr>
              <a:t> </a:t>
            </a:r>
            <a:r>
              <a:rPr sz="1650" dirty="0">
                <a:solidFill>
                  <a:srgbClr val="595959"/>
                </a:solidFill>
                <a:latin typeface="Arial MT"/>
                <a:cs typeface="Arial MT"/>
              </a:rPr>
              <a:t>possible</a:t>
            </a:r>
            <a:r>
              <a:rPr sz="1650" spc="20" dirty="0">
                <a:solidFill>
                  <a:srgbClr val="595959"/>
                </a:solidFill>
                <a:latin typeface="Arial MT"/>
                <a:cs typeface="Arial MT"/>
              </a:rPr>
              <a:t> </a:t>
            </a:r>
            <a:r>
              <a:rPr sz="1650" spc="-10" dirty="0">
                <a:solidFill>
                  <a:srgbClr val="595959"/>
                </a:solidFill>
                <a:latin typeface="Arial MT"/>
                <a:cs typeface="Arial MT"/>
              </a:rPr>
              <a:t>ordered </a:t>
            </a:r>
            <a:r>
              <a:rPr sz="1650" dirty="0">
                <a:solidFill>
                  <a:srgbClr val="595959"/>
                </a:solidFill>
                <a:latin typeface="Arial MT"/>
                <a:cs typeface="Arial MT"/>
              </a:rPr>
              <a:t>types</a:t>
            </a:r>
            <a:r>
              <a:rPr sz="1650" spc="20" dirty="0">
                <a:solidFill>
                  <a:srgbClr val="595959"/>
                </a:solidFill>
                <a:latin typeface="Arial MT"/>
                <a:cs typeface="Arial MT"/>
              </a:rPr>
              <a:t> </a:t>
            </a:r>
            <a:r>
              <a:rPr sz="1650" dirty="0">
                <a:solidFill>
                  <a:srgbClr val="595959"/>
                </a:solidFill>
                <a:latin typeface="Arial MT"/>
                <a:cs typeface="Arial MT"/>
              </a:rPr>
              <a:t>of</a:t>
            </a:r>
            <a:r>
              <a:rPr sz="1650" spc="20" dirty="0">
                <a:solidFill>
                  <a:srgbClr val="595959"/>
                </a:solidFill>
                <a:latin typeface="Arial MT"/>
                <a:cs typeface="Arial MT"/>
              </a:rPr>
              <a:t> </a:t>
            </a:r>
            <a:r>
              <a:rPr sz="1650" dirty="0">
                <a:solidFill>
                  <a:srgbClr val="595959"/>
                </a:solidFill>
                <a:latin typeface="Arial MT"/>
                <a:cs typeface="Arial MT"/>
              </a:rPr>
              <a:t>dependent</a:t>
            </a:r>
            <a:r>
              <a:rPr sz="1650" spc="25" dirty="0">
                <a:solidFill>
                  <a:srgbClr val="595959"/>
                </a:solidFill>
                <a:latin typeface="Arial MT"/>
                <a:cs typeface="Arial MT"/>
              </a:rPr>
              <a:t> </a:t>
            </a:r>
            <a:r>
              <a:rPr sz="1650" dirty="0">
                <a:solidFill>
                  <a:srgbClr val="595959"/>
                </a:solidFill>
                <a:latin typeface="Arial MT"/>
                <a:cs typeface="Arial MT"/>
              </a:rPr>
              <a:t>variables,</a:t>
            </a:r>
            <a:r>
              <a:rPr sz="1650" spc="20" dirty="0">
                <a:solidFill>
                  <a:srgbClr val="595959"/>
                </a:solidFill>
                <a:latin typeface="Arial MT"/>
                <a:cs typeface="Arial MT"/>
              </a:rPr>
              <a:t> </a:t>
            </a:r>
            <a:r>
              <a:rPr sz="1650" dirty="0">
                <a:solidFill>
                  <a:srgbClr val="595959"/>
                </a:solidFill>
                <a:latin typeface="Arial MT"/>
                <a:cs typeface="Arial MT"/>
              </a:rPr>
              <a:t>such</a:t>
            </a:r>
            <a:r>
              <a:rPr sz="1650" spc="25" dirty="0">
                <a:solidFill>
                  <a:srgbClr val="595959"/>
                </a:solidFill>
                <a:latin typeface="Arial MT"/>
                <a:cs typeface="Arial MT"/>
              </a:rPr>
              <a:t> </a:t>
            </a:r>
            <a:r>
              <a:rPr sz="1650" dirty="0">
                <a:solidFill>
                  <a:srgbClr val="595959"/>
                </a:solidFill>
                <a:latin typeface="Arial MT"/>
                <a:cs typeface="Arial MT"/>
              </a:rPr>
              <a:t>as</a:t>
            </a:r>
            <a:r>
              <a:rPr sz="1650" spc="20" dirty="0">
                <a:solidFill>
                  <a:srgbClr val="595959"/>
                </a:solidFill>
                <a:latin typeface="Arial MT"/>
                <a:cs typeface="Arial MT"/>
              </a:rPr>
              <a:t> </a:t>
            </a:r>
            <a:r>
              <a:rPr sz="1650" dirty="0">
                <a:solidFill>
                  <a:srgbClr val="595959"/>
                </a:solidFill>
                <a:latin typeface="Arial MT"/>
                <a:cs typeface="Arial MT"/>
              </a:rPr>
              <a:t>“low”,</a:t>
            </a:r>
            <a:r>
              <a:rPr sz="1650" spc="20" dirty="0">
                <a:solidFill>
                  <a:srgbClr val="595959"/>
                </a:solidFill>
                <a:latin typeface="Arial MT"/>
                <a:cs typeface="Arial MT"/>
              </a:rPr>
              <a:t> </a:t>
            </a:r>
            <a:r>
              <a:rPr sz="1650" dirty="0">
                <a:solidFill>
                  <a:srgbClr val="595959"/>
                </a:solidFill>
                <a:latin typeface="Arial MT"/>
                <a:cs typeface="Arial MT"/>
              </a:rPr>
              <a:t>“Medium”,</a:t>
            </a:r>
            <a:r>
              <a:rPr sz="1650" spc="25" dirty="0">
                <a:solidFill>
                  <a:srgbClr val="595959"/>
                </a:solidFill>
                <a:latin typeface="Arial MT"/>
                <a:cs typeface="Arial MT"/>
              </a:rPr>
              <a:t> </a:t>
            </a:r>
            <a:r>
              <a:rPr sz="1650" dirty="0">
                <a:solidFill>
                  <a:srgbClr val="595959"/>
                </a:solidFill>
                <a:latin typeface="Arial MT"/>
                <a:cs typeface="Arial MT"/>
              </a:rPr>
              <a:t>or</a:t>
            </a:r>
            <a:r>
              <a:rPr sz="1650" spc="20" dirty="0">
                <a:solidFill>
                  <a:srgbClr val="595959"/>
                </a:solidFill>
                <a:latin typeface="Arial MT"/>
                <a:cs typeface="Arial MT"/>
              </a:rPr>
              <a:t> </a:t>
            </a:r>
            <a:r>
              <a:rPr sz="1650" spc="-10" dirty="0">
                <a:solidFill>
                  <a:srgbClr val="595959"/>
                </a:solidFill>
                <a:latin typeface="Arial MT"/>
                <a:cs typeface="Arial MT"/>
              </a:rPr>
              <a:t>“High”.</a:t>
            </a:r>
            <a:endParaRPr sz="1650">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1690" rIns="0" bIns="0" rtlCol="0">
            <a:spAutoFit/>
          </a:bodyPr>
          <a:lstStyle/>
          <a:p>
            <a:pPr marL="12700">
              <a:lnSpc>
                <a:spcPct val="100000"/>
              </a:lnSpc>
              <a:spcBef>
                <a:spcPts val="120"/>
              </a:spcBef>
            </a:pPr>
            <a:r>
              <a:rPr dirty="0"/>
              <a:t>Multinomial</a:t>
            </a:r>
            <a:r>
              <a:rPr spc="-20" dirty="0"/>
              <a:t> </a:t>
            </a:r>
            <a:r>
              <a:rPr dirty="0"/>
              <a:t>Logistic</a:t>
            </a:r>
            <a:r>
              <a:rPr spc="-20" dirty="0"/>
              <a:t> </a:t>
            </a:r>
            <a:r>
              <a:rPr dirty="0"/>
              <a:t>Regression</a:t>
            </a:r>
            <a:r>
              <a:rPr spc="-20" dirty="0"/>
              <a:t> </a:t>
            </a:r>
            <a:r>
              <a:rPr dirty="0"/>
              <a:t>-</a:t>
            </a:r>
            <a:r>
              <a:rPr spc="-20" dirty="0"/>
              <a:t> </a:t>
            </a:r>
            <a:r>
              <a:rPr dirty="0"/>
              <a:t>Multi-class</a:t>
            </a:r>
            <a:r>
              <a:rPr spc="-15" dirty="0"/>
              <a:t> </a:t>
            </a:r>
            <a:r>
              <a:rPr spc="-10" dirty="0"/>
              <a:t>classification</a:t>
            </a:r>
          </a:p>
        </p:txBody>
      </p:sp>
      <p:sp>
        <p:nvSpPr>
          <p:cNvPr id="3" name="object 3"/>
          <p:cNvSpPr txBox="1"/>
          <p:nvPr/>
        </p:nvSpPr>
        <p:spPr>
          <a:xfrm>
            <a:off x="384725" y="1208400"/>
            <a:ext cx="8367395" cy="3152775"/>
          </a:xfrm>
          <a:prstGeom prst="rect">
            <a:avLst/>
          </a:prstGeom>
        </p:spPr>
        <p:txBody>
          <a:bodyPr vert="horz" wrap="square" lIns="0" tIns="29845" rIns="0" bIns="0" rtlCol="0">
            <a:spAutoFit/>
          </a:bodyPr>
          <a:lstStyle/>
          <a:p>
            <a:pPr marL="12700" marR="100330" algn="just">
              <a:lnSpc>
                <a:spcPts val="1739"/>
              </a:lnSpc>
              <a:spcBef>
                <a:spcPts val="235"/>
              </a:spcBef>
            </a:pPr>
            <a:r>
              <a:rPr sz="1500" b="1" dirty="0">
                <a:solidFill>
                  <a:srgbClr val="595959"/>
                </a:solidFill>
                <a:latin typeface="Arial"/>
                <a:cs typeface="Arial"/>
              </a:rPr>
              <a:t>Multinomial</a:t>
            </a:r>
            <a:r>
              <a:rPr sz="1500" b="1" spc="50" dirty="0">
                <a:solidFill>
                  <a:srgbClr val="595959"/>
                </a:solidFill>
                <a:latin typeface="Arial"/>
                <a:cs typeface="Arial"/>
              </a:rPr>
              <a:t> </a:t>
            </a:r>
            <a:r>
              <a:rPr sz="1500" b="1" dirty="0">
                <a:solidFill>
                  <a:srgbClr val="595959"/>
                </a:solidFill>
                <a:latin typeface="Arial"/>
                <a:cs typeface="Arial"/>
              </a:rPr>
              <a:t>Logistic</a:t>
            </a:r>
            <a:r>
              <a:rPr sz="1500" b="1" spc="55" dirty="0">
                <a:solidFill>
                  <a:srgbClr val="595959"/>
                </a:solidFill>
                <a:latin typeface="Arial"/>
                <a:cs typeface="Arial"/>
              </a:rPr>
              <a:t> </a:t>
            </a:r>
            <a:r>
              <a:rPr sz="1500" b="1" dirty="0">
                <a:solidFill>
                  <a:srgbClr val="595959"/>
                </a:solidFill>
                <a:latin typeface="Arial"/>
                <a:cs typeface="Arial"/>
              </a:rPr>
              <a:t>Regression</a:t>
            </a:r>
            <a:r>
              <a:rPr sz="1500" b="1" spc="75" dirty="0">
                <a:solidFill>
                  <a:srgbClr val="595959"/>
                </a:solidFill>
                <a:latin typeface="Arial"/>
                <a:cs typeface="Arial"/>
              </a:rPr>
              <a:t> </a:t>
            </a:r>
            <a:r>
              <a:rPr sz="1500" dirty="0">
                <a:solidFill>
                  <a:srgbClr val="595959"/>
                </a:solidFill>
                <a:latin typeface="Arial MT"/>
                <a:cs typeface="Arial MT"/>
              </a:rPr>
              <a:t>is</a:t>
            </a:r>
            <a:r>
              <a:rPr sz="1500" spc="50" dirty="0">
                <a:solidFill>
                  <a:srgbClr val="595959"/>
                </a:solidFill>
                <a:latin typeface="Arial MT"/>
                <a:cs typeface="Arial MT"/>
              </a:rPr>
              <a:t> </a:t>
            </a:r>
            <a:r>
              <a:rPr sz="1500" dirty="0">
                <a:solidFill>
                  <a:srgbClr val="595959"/>
                </a:solidFill>
                <a:latin typeface="Arial MT"/>
                <a:cs typeface="Arial MT"/>
              </a:rPr>
              <a:t>a</a:t>
            </a:r>
            <a:r>
              <a:rPr sz="1500" spc="55" dirty="0">
                <a:solidFill>
                  <a:srgbClr val="595959"/>
                </a:solidFill>
                <a:latin typeface="Arial MT"/>
                <a:cs typeface="Arial MT"/>
              </a:rPr>
              <a:t> </a:t>
            </a:r>
            <a:r>
              <a:rPr sz="1500" dirty="0">
                <a:solidFill>
                  <a:srgbClr val="595959"/>
                </a:solidFill>
                <a:latin typeface="Arial MT"/>
                <a:cs typeface="Arial MT"/>
              </a:rPr>
              <a:t>multi-class</a:t>
            </a:r>
            <a:r>
              <a:rPr sz="1500" spc="50" dirty="0">
                <a:solidFill>
                  <a:srgbClr val="595959"/>
                </a:solidFill>
                <a:latin typeface="Arial MT"/>
                <a:cs typeface="Arial MT"/>
              </a:rPr>
              <a:t> </a:t>
            </a:r>
            <a:r>
              <a:rPr sz="1500" dirty="0">
                <a:solidFill>
                  <a:srgbClr val="595959"/>
                </a:solidFill>
                <a:latin typeface="Arial MT"/>
                <a:cs typeface="Arial MT"/>
              </a:rPr>
              <a:t>classification</a:t>
            </a:r>
            <a:r>
              <a:rPr sz="1500" spc="55" dirty="0">
                <a:solidFill>
                  <a:srgbClr val="595959"/>
                </a:solidFill>
                <a:latin typeface="Arial MT"/>
                <a:cs typeface="Arial MT"/>
              </a:rPr>
              <a:t> </a:t>
            </a:r>
            <a:r>
              <a:rPr sz="1500" dirty="0">
                <a:solidFill>
                  <a:srgbClr val="595959"/>
                </a:solidFill>
                <a:latin typeface="Arial MT"/>
                <a:cs typeface="Arial MT"/>
              </a:rPr>
              <a:t>method</a:t>
            </a:r>
            <a:r>
              <a:rPr sz="1500" spc="50" dirty="0">
                <a:solidFill>
                  <a:srgbClr val="595959"/>
                </a:solidFill>
                <a:latin typeface="Arial MT"/>
                <a:cs typeface="Arial MT"/>
              </a:rPr>
              <a:t> </a:t>
            </a:r>
            <a:r>
              <a:rPr sz="1500" dirty="0">
                <a:solidFill>
                  <a:srgbClr val="595959"/>
                </a:solidFill>
                <a:latin typeface="Arial MT"/>
                <a:cs typeface="Arial MT"/>
              </a:rPr>
              <a:t>that</a:t>
            </a:r>
            <a:r>
              <a:rPr sz="1500" spc="55" dirty="0">
                <a:solidFill>
                  <a:srgbClr val="595959"/>
                </a:solidFill>
                <a:latin typeface="Arial MT"/>
                <a:cs typeface="Arial MT"/>
              </a:rPr>
              <a:t> </a:t>
            </a:r>
            <a:r>
              <a:rPr sz="1500" dirty="0">
                <a:solidFill>
                  <a:srgbClr val="595959"/>
                </a:solidFill>
                <a:latin typeface="Arial MT"/>
                <a:cs typeface="Arial MT"/>
              </a:rPr>
              <a:t>generalises</a:t>
            </a:r>
            <a:r>
              <a:rPr sz="1500" spc="55" dirty="0">
                <a:solidFill>
                  <a:srgbClr val="595959"/>
                </a:solidFill>
                <a:latin typeface="Arial MT"/>
                <a:cs typeface="Arial MT"/>
              </a:rPr>
              <a:t> </a:t>
            </a:r>
            <a:r>
              <a:rPr sz="1500" spc="-10" dirty="0">
                <a:solidFill>
                  <a:srgbClr val="595959"/>
                </a:solidFill>
                <a:latin typeface="Arial MT"/>
                <a:cs typeface="Arial MT"/>
              </a:rPr>
              <a:t>logistic </a:t>
            </a:r>
            <a:r>
              <a:rPr sz="1500" dirty="0">
                <a:solidFill>
                  <a:srgbClr val="595959"/>
                </a:solidFill>
                <a:latin typeface="Arial MT"/>
                <a:cs typeface="Arial MT"/>
              </a:rPr>
              <a:t>regression</a:t>
            </a:r>
            <a:r>
              <a:rPr sz="1500" spc="30" dirty="0">
                <a:solidFill>
                  <a:srgbClr val="595959"/>
                </a:solidFill>
                <a:latin typeface="Arial MT"/>
                <a:cs typeface="Arial MT"/>
              </a:rPr>
              <a:t> </a:t>
            </a:r>
            <a:r>
              <a:rPr sz="1500" dirty="0">
                <a:solidFill>
                  <a:srgbClr val="595959"/>
                </a:solidFill>
                <a:latin typeface="Arial MT"/>
                <a:cs typeface="Arial MT"/>
              </a:rPr>
              <a:t>to</a:t>
            </a:r>
            <a:r>
              <a:rPr sz="1500" spc="35" dirty="0">
                <a:solidFill>
                  <a:srgbClr val="595959"/>
                </a:solidFill>
                <a:latin typeface="Arial MT"/>
                <a:cs typeface="Arial MT"/>
              </a:rPr>
              <a:t> </a:t>
            </a:r>
            <a:r>
              <a:rPr sz="1500" dirty="0">
                <a:solidFill>
                  <a:srgbClr val="595959"/>
                </a:solidFill>
                <a:latin typeface="Arial MT"/>
                <a:cs typeface="Arial MT"/>
              </a:rPr>
              <a:t>multi-class</a:t>
            </a:r>
            <a:r>
              <a:rPr sz="1500" spc="35" dirty="0">
                <a:solidFill>
                  <a:srgbClr val="595959"/>
                </a:solidFill>
                <a:latin typeface="Arial MT"/>
                <a:cs typeface="Arial MT"/>
              </a:rPr>
              <a:t> </a:t>
            </a:r>
            <a:r>
              <a:rPr sz="1500" dirty="0">
                <a:solidFill>
                  <a:srgbClr val="595959"/>
                </a:solidFill>
                <a:latin typeface="Arial MT"/>
                <a:cs typeface="Arial MT"/>
              </a:rPr>
              <a:t>tasks,</a:t>
            </a:r>
            <a:r>
              <a:rPr sz="1500" spc="35" dirty="0">
                <a:solidFill>
                  <a:srgbClr val="595959"/>
                </a:solidFill>
                <a:latin typeface="Arial MT"/>
                <a:cs typeface="Arial MT"/>
              </a:rPr>
              <a:t> </a:t>
            </a:r>
            <a:r>
              <a:rPr sz="1500" dirty="0">
                <a:solidFill>
                  <a:srgbClr val="595959"/>
                </a:solidFill>
                <a:latin typeface="Arial MT"/>
                <a:cs typeface="Arial MT"/>
              </a:rPr>
              <a:t>i.e.</a:t>
            </a:r>
            <a:r>
              <a:rPr sz="1500" spc="30" dirty="0">
                <a:solidFill>
                  <a:srgbClr val="595959"/>
                </a:solidFill>
                <a:latin typeface="Arial MT"/>
                <a:cs typeface="Arial MT"/>
              </a:rPr>
              <a:t> </a:t>
            </a:r>
            <a:r>
              <a:rPr sz="1500" dirty="0">
                <a:solidFill>
                  <a:srgbClr val="595959"/>
                </a:solidFill>
                <a:latin typeface="Arial MT"/>
                <a:cs typeface="Arial MT"/>
              </a:rPr>
              <a:t>with</a:t>
            </a:r>
            <a:r>
              <a:rPr sz="1500" spc="35" dirty="0">
                <a:solidFill>
                  <a:srgbClr val="595959"/>
                </a:solidFill>
                <a:latin typeface="Arial MT"/>
                <a:cs typeface="Arial MT"/>
              </a:rPr>
              <a:t> </a:t>
            </a:r>
            <a:r>
              <a:rPr sz="1500" dirty="0">
                <a:solidFill>
                  <a:srgbClr val="595959"/>
                </a:solidFill>
                <a:latin typeface="Arial MT"/>
                <a:cs typeface="Arial MT"/>
              </a:rPr>
              <a:t>more</a:t>
            </a:r>
            <a:r>
              <a:rPr sz="1500" spc="35" dirty="0">
                <a:solidFill>
                  <a:srgbClr val="595959"/>
                </a:solidFill>
                <a:latin typeface="Arial MT"/>
                <a:cs typeface="Arial MT"/>
              </a:rPr>
              <a:t> </a:t>
            </a:r>
            <a:r>
              <a:rPr sz="1500" dirty="0">
                <a:solidFill>
                  <a:srgbClr val="595959"/>
                </a:solidFill>
                <a:latin typeface="Arial MT"/>
                <a:cs typeface="Arial MT"/>
              </a:rPr>
              <a:t>than</a:t>
            </a:r>
            <a:r>
              <a:rPr sz="1500" spc="35" dirty="0">
                <a:solidFill>
                  <a:srgbClr val="595959"/>
                </a:solidFill>
                <a:latin typeface="Arial MT"/>
                <a:cs typeface="Arial MT"/>
              </a:rPr>
              <a:t> </a:t>
            </a:r>
            <a:r>
              <a:rPr sz="1500" dirty="0">
                <a:solidFill>
                  <a:srgbClr val="595959"/>
                </a:solidFill>
                <a:latin typeface="Arial MT"/>
                <a:cs typeface="Arial MT"/>
              </a:rPr>
              <a:t>two</a:t>
            </a:r>
            <a:r>
              <a:rPr sz="1500" spc="35" dirty="0">
                <a:solidFill>
                  <a:srgbClr val="595959"/>
                </a:solidFill>
                <a:latin typeface="Arial MT"/>
                <a:cs typeface="Arial MT"/>
              </a:rPr>
              <a:t> </a:t>
            </a:r>
            <a:r>
              <a:rPr sz="1500" dirty="0">
                <a:solidFill>
                  <a:srgbClr val="595959"/>
                </a:solidFill>
                <a:latin typeface="Arial MT"/>
                <a:cs typeface="Arial MT"/>
              </a:rPr>
              <a:t>possible</a:t>
            </a:r>
            <a:r>
              <a:rPr sz="1500" spc="30" dirty="0">
                <a:solidFill>
                  <a:srgbClr val="595959"/>
                </a:solidFill>
                <a:latin typeface="Arial MT"/>
                <a:cs typeface="Arial MT"/>
              </a:rPr>
              <a:t> </a:t>
            </a:r>
            <a:r>
              <a:rPr sz="1500" dirty="0">
                <a:solidFill>
                  <a:srgbClr val="595959"/>
                </a:solidFill>
                <a:latin typeface="Arial MT"/>
                <a:cs typeface="Arial MT"/>
              </a:rPr>
              <a:t>discrete</a:t>
            </a:r>
            <a:r>
              <a:rPr sz="1500" spc="35" dirty="0">
                <a:solidFill>
                  <a:srgbClr val="595959"/>
                </a:solidFill>
                <a:latin typeface="Arial MT"/>
                <a:cs typeface="Arial MT"/>
              </a:rPr>
              <a:t> </a:t>
            </a:r>
            <a:r>
              <a:rPr sz="1500" dirty="0">
                <a:solidFill>
                  <a:srgbClr val="595959"/>
                </a:solidFill>
                <a:latin typeface="Arial MT"/>
                <a:cs typeface="Arial MT"/>
              </a:rPr>
              <a:t>outcomes</a:t>
            </a:r>
            <a:r>
              <a:rPr sz="1500" spc="35" dirty="0">
                <a:solidFill>
                  <a:srgbClr val="595959"/>
                </a:solidFill>
                <a:latin typeface="Arial MT"/>
                <a:cs typeface="Arial MT"/>
              </a:rPr>
              <a:t> </a:t>
            </a:r>
            <a:r>
              <a:rPr sz="1500" dirty="0">
                <a:solidFill>
                  <a:srgbClr val="595959"/>
                </a:solidFill>
                <a:latin typeface="Arial MT"/>
                <a:cs typeface="Arial MT"/>
              </a:rPr>
              <a:t>of</a:t>
            </a:r>
            <a:r>
              <a:rPr sz="1500" spc="35" dirty="0">
                <a:solidFill>
                  <a:srgbClr val="595959"/>
                </a:solidFill>
                <a:latin typeface="Arial MT"/>
                <a:cs typeface="Arial MT"/>
              </a:rPr>
              <a:t> </a:t>
            </a:r>
            <a:r>
              <a:rPr sz="1500" spc="-10" dirty="0">
                <a:solidFill>
                  <a:srgbClr val="595959"/>
                </a:solidFill>
                <a:latin typeface="Arial MT"/>
                <a:cs typeface="Arial MT"/>
              </a:rPr>
              <a:t>dependent </a:t>
            </a:r>
            <a:r>
              <a:rPr sz="1500" dirty="0">
                <a:solidFill>
                  <a:srgbClr val="595959"/>
                </a:solidFill>
                <a:latin typeface="Arial MT"/>
                <a:cs typeface="Arial MT"/>
              </a:rPr>
              <a:t>variable.</a:t>
            </a:r>
            <a:r>
              <a:rPr sz="1500" spc="30" dirty="0">
                <a:solidFill>
                  <a:srgbClr val="595959"/>
                </a:solidFill>
                <a:latin typeface="Arial MT"/>
                <a:cs typeface="Arial MT"/>
              </a:rPr>
              <a:t> </a:t>
            </a:r>
            <a:r>
              <a:rPr sz="1500" dirty="0">
                <a:solidFill>
                  <a:srgbClr val="595959"/>
                </a:solidFill>
                <a:latin typeface="Arial MT"/>
                <a:cs typeface="Arial MT"/>
              </a:rPr>
              <a:t>We</a:t>
            </a:r>
            <a:r>
              <a:rPr sz="1500" spc="30" dirty="0">
                <a:solidFill>
                  <a:srgbClr val="595959"/>
                </a:solidFill>
                <a:latin typeface="Arial MT"/>
                <a:cs typeface="Arial MT"/>
              </a:rPr>
              <a:t> </a:t>
            </a:r>
            <a:r>
              <a:rPr sz="1500" dirty="0">
                <a:solidFill>
                  <a:srgbClr val="595959"/>
                </a:solidFill>
                <a:latin typeface="Arial MT"/>
                <a:cs typeface="Arial MT"/>
              </a:rPr>
              <a:t>can</a:t>
            </a:r>
            <a:r>
              <a:rPr sz="1500" spc="35" dirty="0">
                <a:solidFill>
                  <a:srgbClr val="595959"/>
                </a:solidFill>
                <a:latin typeface="Arial MT"/>
                <a:cs typeface="Arial MT"/>
              </a:rPr>
              <a:t> </a:t>
            </a:r>
            <a:r>
              <a:rPr sz="1500" dirty="0">
                <a:solidFill>
                  <a:srgbClr val="595959"/>
                </a:solidFill>
                <a:latin typeface="Arial MT"/>
                <a:cs typeface="Arial MT"/>
              </a:rPr>
              <a:t>solve</a:t>
            </a:r>
            <a:r>
              <a:rPr sz="1500" spc="30" dirty="0">
                <a:solidFill>
                  <a:srgbClr val="595959"/>
                </a:solidFill>
                <a:latin typeface="Arial MT"/>
                <a:cs typeface="Arial MT"/>
              </a:rPr>
              <a:t> </a:t>
            </a:r>
            <a:r>
              <a:rPr sz="1500" dirty="0">
                <a:solidFill>
                  <a:srgbClr val="595959"/>
                </a:solidFill>
                <a:latin typeface="Arial MT"/>
                <a:cs typeface="Arial MT"/>
              </a:rPr>
              <a:t>the</a:t>
            </a:r>
            <a:r>
              <a:rPr sz="1500" spc="35" dirty="0">
                <a:solidFill>
                  <a:srgbClr val="595959"/>
                </a:solidFill>
                <a:latin typeface="Arial MT"/>
                <a:cs typeface="Arial MT"/>
              </a:rPr>
              <a:t> </a:t>
            </a:r>
            <a:r>
              <a:rPr sz="1500" dirty="0">
                <a:solidFill>
                  <a:srgbClr val="595959"/>
                </a:solidFill>
                <a:latin typeface="Arial MT"/>
                <a:cs typeface="Arial MT"/>
              </a:rPr>
              <a:t>multi-class</a:t>
            </a:r>
            <a:r>
              <a:rPr sz="1500" spc="30" dirty="0">
                <a:solidFill>
                  <a:srgbClr val="595959"/>
                </a:solidFill>
                <a:latin typeface="Arial MT"/>
                <a:cs typeface="Arial MT"/>
              </a:rPr>
              <a:t> </a:t>
            </a:r>
            <a:r>
              <a:rPr sz="1500" dirty="0">
                <a:solidFill>
                  <a:srgbClr val="595959"/>
                </a:solidFill>
                <a:latin typeface="Arial MT"/>
                <a:cs typeface="Arial MT"/>
              </a:rPr>
              <a:t>classification</a:t>
            </a:r>
            <a:r>
              <a:rPr sz="1500" spc="35" dirty="0">
                <a:solidFill>
                  <a:srgbClr val="595959"/>
                </a:solidFill>
                <a:latin typeface="Arial MT"/>
                <a:cs typeface="Arial MT"/>
              </a:rPr>
              <a:t> </a:t>
            </a:r>
            <a:r>
              <a:rPr sz="1500" dirty="0">
                <a:solidFill>
                  <a:srgbClr val="595959"/>
                </a:solidFill>
                <a:latin typeface="Arial MT"/>
                <a:cs typeface="Arial MT"/>
              </a:rPr>
              <a:t>tasks</a:t>
            </a:r>
            <a:r>
              <a:rPr sz="1500" spc="30" dirty="0">
                <a:solidFill>
                  <a:srgbClr val="595959"/>
                </a:solidFill>
                <a:latin typeface="Arial MT"/>
                <a:cs typeface="Arial MT"/>
              </a:rPr>
              <a:t> </a:t>
            </a:r>
            <a:r>
              <a:rPr sz="1500" dirty="0">
                <a:solidFill>
                  <a:srgbClr val="595959"/>
                </a:solidFill>
                <a:latin typeface="Arial MT"/>
                <a:cs typeface="Arial MT"/>
              </a:rPr>
              <a:t>using</a:t>
            </a:r>
            <a:r>
              <a:rPr sz="1500" spc="35" dirty="0">
                <a:solidFill>
                  <a:srgbClr val="595959"/>
                </a:solidFill>
                <a:latin typeface="Arial MT"/>
                <a:cs typeface="Arial MT"/>
              </a:rPr>
              <a:t> </a:t>
            </a:r>
            <a:r>
              <a:rPr sz="1500" dirty="0">
                <a:solidFill>
                  <a:srgbClr val="595959"/>
                </a:solidFill>
                <a:latin typeface="Arial MT"/>
                <a:cs typeface="Arial MT"/>
              </a:rPr>
              <a:t>logistic</a:t>
            </a:r>
            <a:r>
              <a:rPr sz="1500" spc="30" dirty="0">
                <a:solidFill>
                  <a:srgbClr val="595959"/>
                </a:solidFill>
                <a:latin typeface="Arial MT"/>
                <a:cs typeface="Arial MT"/>
              </a:rPr>
              <a:t> </a:t>
            </a:r>
            <a:r>
              <a:rPr sz="1500" dirty="0">
                <a:solidFill>
                  <a:srgbClr val="595959"/>
                </a:solidFill>
                <a:latin typeface="Arial MT"/>
                <a:cs typeface="Arial MT"/>
              </a:rPr>
              <a:t>regression</a:t>
            </a:r>
            <a:r>
              <a:rPr sz="1500" spc="35" dirty="0">
                <a:solidFill>
                  <a:srgbClr val="595959"/>
                </a:solidFill>
                <a:latin typeface="Arial MT"/>
                <a:cs typeface="Arial MT"/>
              </a:rPr>
              <a:t> </a:t>
            </a:r>
            <a:r>
              <a:rPr sz="1500" dirty="0">
                <a:solidFill>
                  <a:srgbClr val="595959"/>
                </a:solidFill>
                <a:latin typeface="Arial MT"/>
                <a:cs typeface="Arial MT"/>
              </a:rPr>
              <a:t>by</a:t>
            </a:r>
            <a:r>
              <a:rPr sz="1500" spc="30" dirty="0">
                <a:solidFill>
                  <a:srgbClr val="595959"/>
                </a:solidFill>
                <a:latin typeface="Arial MT"/>
                <a:cs typeface="Arial MT"/>
              </a:rPr>
              <a:t> </a:t>
            </a:r>
            <a:r>
              <a:rPr sz="1500" spc="-10" dirty="0">
                <a:solidFill>
                  <a:srgbClr val="595959"/>
                </a:solidFill>
                <a:latin typeface="Arial MT"/>
                <a:cs typeface="Arial MT"/>
              </a:rPr>
              <a:t>employing </a:t>
            </a:r>
            <a:r>
              <a:rPr sz="1500" dirty="0">
                <a:solidFill>
                  <a:srgbClr val="595959"/>
                </a:solidFill>
                <a:latin typeface="Arial MT"/>
                <a:cs typeface="Arial MT"/>
              </a:rPr>
              <a:t>One-vs-all</a:t>
            </a:r>
            <a:r>
              <a:rPr sz="1500" spc="45" dirty="0">
                <a:solidFill>
                  <a:srgbClr val="595959"/>
                </a:solidFill>
                <a:latin typeface="Arial MT"/>
                <a:cs typeface="Arial MT"/>
              </a:rPr>
              <a:t> </a:t>
            </a:r>
            <a:r>
              <a:rPr sz="1500" dirty="0">
                <a:solidFill>
                  <a:srgbClr val="595959"/>
                </a:solidFill>
                <a:latin typeface="Arial MT"/>
                <a:cs typeface="Arial MT"/>
              </a:rPr>
              <a:t>(or</a:t>
            </a:r>
            <a:r>
              <a:rPr sz="1500" spc="45" dirty="0">
                <a:solidFill>
                  <a:srgbClr val="595959"/>
                </a:solidFill>
                <a:latin typeface="Arial MT"/>
                <a:cs typeface="Arial MT"/>
              </a:rPr>
              <a:t> </a:t>
            </a:r>
            <a:r>
              <a:rPr sz="1500" dirty="0">
                <a:solidFill>
                  <a:srgbClr val="595959"/>
                </a:solidFill>
                <a:latin typeface="Arial MT"/>
                <a:cs typeface="Arial MT"/>
              </a:rPr>
              <a:t>one-vs-rest)</a:t>
            </a:r>
            <a:r>
              <a:rPr sz="1500" spc="45" dirty="0">
                <a:solidFill>
                  <a:srgbClr val="595959"/>
                </a:solidFill>
                <a:latin typeface="Arial MT"/>
                <a:cs typeface="Arial MT"/>
              </a:rPr>
              <a:t> </a:t>
            </a:r>
            <a:r>
              <a:rPr sz="1500" spc="-10" dirty="0">
                <a:solidFill>
                  <a:srgbClr val="595959"/>
                </a:solidFill>
                <a:latin typeface="Arial MT"/>
                <a:cs typeface="Arial MT"/>
              </a:rPr>
              <a:t>technique.</a:t>
            </a:r>
            <a:endParaRPr sz="1500" dirty="0">
              <a:latin typeface="Arial MT"/>
              <a:cs typeface="Arial MT"/>
            </a:endParaRPr>
          </a:p>
          <a:p>
            <a:pPr>
              <a:lnSpc>
                <a:spcPct val="100000"/>
              </a:lnSpc>
              <a:spcBef>
                <a:spcPts val="1235"/>
              </a:spcBef>
            </a:pPr>
            <a:endParaRPr sz="1500" dirty="0">
              <a:latin typeface="Arial MT"/>
              <a:cs typeface="Arial MT"/>
            </a:endParaRPr>
          </a:p>
          <a:p>
            <a:pPr marL="12700" marR="5080">
              <a:lnSpc>
                <a:spcPts val="1739"/>
              </a:lnSpc>
              <a:spcBef>
                <a:spcPts val="5"/>
              </a:spcBef>
            </a:pPr>
            <a:r>
              <a:rPr sz="1500" dirty="0">
                <a:solidFill>
                  <a:srgbClr val="595959"/>
                </a:solidFill>
                <a:latin typeface="Arial MT"/>
                <a:cs typeface="Arial MT"/>
              </a:rPr>
              <a:t>In</a:t>
            </a:r>
            <a:r>
              <a:rPr sz="1500" spc="40" dirty="0">
                <a:solidFill>
                  <a:srgbClr val="595959"/>
                </a:solidFill>
                <a:latin typeface="Arial MT"/>
                <a:cs typeface="Arial MT"/>
              </a:rPr>
              <a:t> </a:t>
            </a:r>
            <a:r>
              <a:rPr sz="1500" dirty="0">
                <a:solidFill>
                  <a:srgbClr val="595959"/>
                </a:solidFill>
                <a:latin typeface="Arial MT"/>
                <a:cs typeface="Arial MT"/>
              </a:rPr>
              <a:t>the</a:t>
            </a:r>
            <a:r>
              <a:rPr sz="1500" spc="45" dirty="0">
                <a:solidFill>
                  <a:srgbClr val="595959"/>
                </a:solidFill>
                <a:latin typeface="Arial MT"/>
                <a:cs typeface="Arial MT"/>
              </a:rPr>
              <a:t> </a:t>
            </a:r>
            <a:r>
              <a:rPr sz="1500" b="1" dirty="0">
                <a:solidFill>
                  <a:srgbClr val="595959"/>
                </a:solidFill>
                <a:latin typeface="Arial"/>
                <a:cs typeface="Arial"/>
              </a:rPr>
              <a:t>One-vs-all</a:t>
            </a:r>
            <a:r>
              <a:rPr sz="1500" b="1" spc="55" dirty="0">
                <a:solidFill>
                  <a:srgbClr val="595959"/>
                </a:solidFill>
                <a:latin typeface="Arial"/>
                <a:cs typeface="Arial"/>
              </a:rPr>
              <a:t> </a:t>
            </a:r>
            <a:r>
              <a:rPr sz="1500" dirty="0">
                <a:solidFill>
                  <a:srgbClr val="595959"/>
                </a:solidFill>
                <a:latin typeface="Arial MT"/>
                <a:cs typeface="Arial MT"/>
              </a:rPr>
              <a:t>or</a:t>
            </a:r>
            <a:r>
              <a:rPr sz="1500" spc="45" dirty="0">
                <a:solidFill>
                  <a:srgbClr val="595959"/>
                </a:solidFill>
                <a:latin typeface="Arial MT"/>
                <a:cs typeface="Arial MT"/>
              </a:rPr>
              <a:t> </a:t>
            </a:r>
            <a:r>
              <a:rPr sz="1500" b="1" dirty="0">
                <a:solidFill>
                  <a:srgbClr val="595959"/>
                </a:solidFill>
                <a:latin typeface="Arial"/>
                <a:cs typeface="Arial"/>
              </a:rPr>
              <a:t>One-vs-Rest</a:t>
            </a:r>
            <a:r>
              <a:rPr sz="1500" b="1" spc="40" dirty="0">
                <a:solidFill>
                  <a:srgbClr val="595959"/>
                </a:solidFill>
                <a:latin typeface="Arial"/>
                <a:cs typeface="Arial"/>
              </a:rPr>
              <a:t> </a:t>
            </a:r>
            <a:r>
              <a:rPr sz="1500" dirty="0">
                <a:solidFill>
                  <a:srgbClr val="595959"/>
                </a:solidFill>
                <a:latin typeface="Arial MT"/>
                <a:cs typeface="Arial MT"/>
              </a:rPr>
              <a:t>approach,is</a:t>
            </a:r>
            <a:r>
              <a:rPr sz="1500" spc="45" dirty="0">
                <a:solidFill>
                  <a:srgbClr val="595959"/>
                </a:solidFill>
                <a:latin typeface="Arial MT"/>
                <a:cs typeface="Arial MT"/>
              </a:rPr>
              <a:t> </a:t>
            </a:r>
            <a:r>
              <a:rPr sz="1500" dirty="0">
                <a:solidFill>
                  <a:srgbClr val="595959"/>
                </a:solidFill>
                <a:latin typeface="Arial MT"/>
                <a:cs typeface="Arial MT"/>
              </a:rPr>
              <a:t>a</a:t>
            </a:r>
            <a:r>
              <a:rPr sz="1500" spc="45" dirty="0">
                <a:solidFill>
                  <a:srgbClr val="595959"/>
                </a:solidFill>
                <a:latin typeface="Arial MT"/>
                <a:cs typeface="Arial MT"/>
              </a:rPr>
              <a:t> </a:t>
            </a:r>
            <a:r>
              <a:rPr sz="1500" dirty="0">
                <a:solidFill>
                  <a:srgbClr val="595959"/>
                </a:solidFill>
                <a:latin typeface="Arial MT"/>
                <a:cs typeface="Arial MT"/>
              </a:rPr>
              <a:t>method</a:t>
            </a:r>
            <a:r>
              <a:rPr sz="1500" spc="45" dirty="0">
                <a:solidFill>
                  <a:srgbClr val="595959"/>
                </a:solidFill>
                <a:latin typeface="Arial MT"/>
                <a:cs typeface="Arial MT"/>
              </a:rPr>
              <a:t> </a:t>
            </a:r>
            <a:r>
              <a:rPr sz="1500" dirty="0">
                <a:solidFill>
                  <a:srgbClr val="595959"/>
                </a:solidFill>
                <a:latin typeface="Arial MT"/>
                <a:cs typeface="Arial MT"/>
              </a:rPr>
              <a:t>used</a:t>
            </a:r>
            <a:r>
              <a:rPr sz="1500" spc="45" dirty="0">
                <a:solidFill>
                  <a:srgbClr val="595959"/>
                </a:solidFill>
                <a:latin typeface="Arial MT"/>
                <a:cs typeface="Arial MT"/>
              </a:rPr>
              <a:t> </a:t>
            </a:r>
            <a:r>
              <a:rPr sz="1500" dirty="0">
                <a:solidFill>
                  <a:srgbClr val="595959"/>
                </a:solidFill>
                <a:latin typeface="Arial MT"/>
                <a:cs typeface="Arial MT"/>
              </a:rPr>
              <a:t>in</a:t>
            </a:r>
            <a:r>
              <a:rPr sz="1500" spc="40" dirty="0">
                <a:solidFill>
                  <a:srgbClr val="595959"/>
                </a:solidFill>
                <a:latin typeface="Arial MT"/>
                <a:cs typeface="Arial MT"/>
              </a:rPr>
              <a:t> </a:t>
            </a:r>
            <a:r>
              <a:rPr sz="1500" dirty="0">
                <a:solidFill>
                  <a:srgbClr val="595959"/>
                </a:solidFill>
                <a:latin typeface="Arial MT"/>
                <a:cs typeface="Arial MT"/>
              </a:rPr>
              <a:t>multiclass</a:t>
            </a:r>
            <a:r>
              <a:rPr sz="1500" spc="45" dirty="0">
                <a:solidFill>
                  <a:srgbClr val="595959"/>
                </a:solidFill>
                <a:latin typeface="Arial MT"/>
                <a:cs typeface="Arial MT"/>
              </a:rPr>
              <a:t> </a:t>
            </a:r>
            <a:r>
              <a:rPr sz="1500" spc="-10" dirty="0">
                <a:solidFill>
                  <a:srgbClr val="595959"/>
                </a:solidFill>
                <a:latin typeface="Arial MT"/>
                <a:cs typeface="Arial MT"/>
              </a:rPr>
              <a:t>classification</a:t>
            </a:r>
            <a:r>
              <a:rPr sz="1500" spc="500" dirty="0">
                <a:solidFill>
                  <a:srgbClr val="595959"/>
                </a:solidFill>
                <a:latin typeface="Arial MT"/>
                <a:cs typeface="Arial MT"/>
              </a:rPr>
              <a:t> </a:t>
            </a:r>
            <a:r>
              <a:rPr sz="1500" dirty="0">
                <a:solidFill>
                  <a:srgbClr val="595959"/>
                </a:solidFill>
                <a:latin typeface="Arial MT"/>
                <a:cs typeface="Arial MT"/>
              </a:rPr>
              <a:t>problems.</a:t>
            </a:r>
            <a:r>
              <a:rPr sz="1500" spc="30" dirty="0">
                <a:solidFill>
                  <a:srgbClr val="595959"/>
                </a:solidFill>
                <a:latin typeface="Arial MT"/>
                <a:cs typeface="Arial MT"/>
              </a:rPr>
              <a:t> </a:t>
            </a:r>
            <a:r>
              <a:rPr sz="1500" dirty="0">
                <a:solidFill>
                  <a:srgbClr val="595959"/>
                </a:solidFill>
                <a:latin typeface="Arial MT"/>
                <a:cs typeface="Arial MT"/>
              </a:rPr>
              <a:t>It</a:t>
            </a:r>
            <a:r>
              <a:rPr sz="1500" spc="35" dirty="0">
                <a:solidFill>
                  <a:srgbClr val="595959"/>
                </a:solidFill>
                <a:latin typeface="Arial MT"/>
                <a:cs typeface="Arial MT"/>
              </a:rPr>
              <a:t> </a:t>
            </a:r>
            <a:r>
              <a:rPr sz="1500" dirty="0">
                <a:solidFill>
                  <a:srgbClr val="595959"/>
                </a:solidFill>
                <a:latin typeface="Arial MT"/>
                <a:cs typeface="Arial MT"/>
              </a:rPr>
              <a:t>partitions</a:t>
            </a:r>
            <a:r>
              <a:rPr sz="1500" spc="35" dirty="0">
                <a:solidFill>
                  <a:srgbClr val="595959"/>
                </a:solidFill>
                <a:latin typeface="Arial MT"/>
                <a:cs typeface="Arial MT"/>
              </a:rPr>
              <a:t> </a:t>
            </a:r>
            <a:r>
              <a:rPr sz="1500" dirty="0">
                <a:solidFill>
                  <a:srgbClr val="595959"/>
                </a:solidFill>
                <a:latin typeface="Arial MT"/>
                <a:cs typeface="Arial MT"/>
              </a:rPr>
              <a:t>a</a:t>
            </a:r>
            <a:r>
              <a:rPr sz="1500" spc="30" dirty="0">
                <a:solidFill>
                  <a:srgbClr val="595959"/>
                </a:solidFill>
                <a:latin typeface="Arial MT"/>
                <a:cs typeface="Arial MT"/>
              </a:rPr>
              <a:t> </a:t>
            </a:r>
            <a:r>
              <a:rPr sz="1500" dirty="0">
                <a:solidFill>
                  <a:srgbClr val="595959"/>
                </a:solidFill>
                <a:latin typeface="Arial MT"/>
                <a:cs typeface="Arial MT"/>
              </a:rPr>
              <a:t>larger</a:t>
            </a:r>
            <a:r>
              <a:rPr sz="1500" spc="35" dirty="0">
                <a:solidFill>
                  <a:srgbClr val="595959"/>
                </a:solidFill>
                <a:latin typeface="Arial MT"/>
                <a:cs typeface="Arial MT"/>
              </a:rPr>
              <a:t> </a:t>
            </a:r>
            <a:r>
              <a:rPr sz="1500" dirty="0">
                <a:solidFill>
                  <a:srgbClr val="595959"/>
                </a:solidFill>
                <a:latin typeface="Arial MT"/>
                <a:cs typeface="Arial MT"/>
              </a:rPr>
              <a:t>problem</a:t>
            </a:r>
            <a:r>
              <a:rPr sz="1500" spc="35" dirty="0">
                <a:solidFill>
                  <a:srgbClr val="595959"/>
                </a:solidFill>
                <a:latin typeface="Arial MT"/>
                <a:cs typeface="Arial MT"/>
              </a:rPr>
              <a:t> </a:t>
            </a:r>
            <a:r>
              <a:rPr sz="1500" dirty="0">
                <a:solidFill>
                  <a:srgbClr val="595959"/>
                </a:solidFill>
                <a:latin typeface="Arial MT"/>
                <a:cs typeface="Arial MT"/>
              </a:rPr>
              <a:t>into</a:t>
            </a:r>
            <a:r>
              <a:rPr sz="1500" spc="30" dirty="0">
                <a:solidFill>
                  <a:srgbClr val="595959"/>
                </a:solidFill>
                <a:latin typeface="Arial MT"/>
                <a:cs typeface="Arial MT"/>
              </a:rPr>
              <a:t> </a:t>
            </a:r>
            <a:r>
              <a:rPr sz="1500" dirty="0">
                <a:solidFill>
                  <a:srgbClr val="595959"/>
                </a:solidFill>
                <a:latin typeface="Arial MT"/>
                <a:cs typeface="Arial MT"/>
              </a:rPr>
              <a:t>multiple</a:t>
            </a:r>
            <a:r>
              <a:rPr sz="1500" spc="35" dirty="0">
                <a:solidFill>
                  <a:srgbClr val="595959"/>
                </a:solidFill>
                <a:latin typeface="Arial MT"/>
                <a:cs typeface="Arial MT"/>
              </a:rPr>
              <a:t> </a:t>
            </a:r>
            <a:r>
              <a:rPr sz="1500" dirty="0">
                <a:solidFill>
                  <a:srgbClr val="595959"/>
                </a:solidFill>
                <a:latin typeface="Arial MT"/>
                <a:cs typeface="Arial MT"/>
              </a:rPr>
              <a:t>binary</a:t>
            </a:r>
            <a:r>
              <a:rPr sz="1500" spc="35" dirty="0">
                <a:solidFill>
                  <a:srgbClr val="595959"/>
                </a:solidFill>
                <a:latin typeface="Arial MT"/>
                <a:cs typeface="Arial MT"/>
              </a:rPr>
              <a:t> </a:t>
            </a:r>
            <a:r>
              <a:rPr sz="1500" dirty="0">
                <a:solidFill>
                  <a:srgbClr val="595959"/>
                </a:solidFill>
                <a:latin typeface="Arial MT"/>
                <a:cs typeface="Arial MT"/>
              </a:rPr>
              <a:t>classification</a:t>
            </a:r>
            <a:r>
              <a:rPr sz="1500" spc="30" dirty="0">
                <a:solidFill>
                  <a:srgbClr val="595959"/>
                </a:solidFill>
                <a:latin typeface="Arial MT"/>
                <a:cs typeface="Arial MT"/>
              </a:rPr>
              <a:t> </a:t>
            </a:r>
            <a:r>
              <a:rPr sz="1500" dirty="0">
                <a:solidFill>
                  <a:srgbClr val="595959"/>
                </a:solidFill>
                <a:latin typeface="Arial MT"/>
                <a:cs typeface="Arial MT"/>
              </a:rPr>
              <a:t>problems,</a:t>
            </a:r>
            <a:r>
              <a:rPr sz="1500" spc="35" dirty="0">
                <a:solidFill>
                  <a:srgbClr val="595959"/>
                </a:solidFill>
                <a:latin typeface="Arial MT"/>
                <a:cs typeface="Arial MT"/>
              </a:rPr>
              <a:t> </a:t>
            </a:r>
            <a:r>
              <a:rPr sz="1500" dirty="0">
                <a:solidFill>
                  <a:srgbClr val="595959"/>
                </a:solidFill>
                <a:latin typeface="Arial MT"/>
                <a:cs typeface="Arial MT"/>
              </a:rPr>
              <a:t>simplifying</a:t>
            </a:r>
            <a:r>
              <a:rPr sz="1500" spc="35" dirty="0">
                <a:solidFill>
                  <a:srgbClr val="595959"/>
                </a:solidFill>
                <a:latin typeface="Arial MT"/>
                <a:cs typeface="Arial MT"/>
              </a:rPr>
              <a:t> </a:t>
            </a:r>
            <a:r>
              <a:rPr sz="1500" spc="-25" dirty="0">
                <a:solidFill>
                  <a:srgbClr val="595959"/>
                </a:solidFill>
                <a:latin typeface="Arial MT"/>
                <a:cs typeface="Arial MT"/>
              </a:rPr>
              <a:t>the </a:t>
            </a:r>
            <a:r>
              <a:rPr sz="1500" dirty="0">
                <a:solidFill>
                  <a:srgbClr val="595959"/>
                </a:solidFill>
                <a:latin typeface="Arial MT"/>
                <a:cs typeface="Arial MT"/>
              </a:rPr>
              <a:t>process.It</a:t>
            </a:r>
            <a:r>
              <a:rPr sz="1500" spc="35" dirty="0">
                <a:solidFill>
                  <a:srgbClr val="595959"/>
                </a:solidFill>
                <a:latin typeface="Arial MT"/>
                <a:cs typeface="Arial MT"/>
              </a:rPr>
              <a:t> </a:t>
            </a:r>
            <a:r>
              <a:rPr sz="1500" dirty="0">
                <a:solidFill>
                  <a:srgbClr val="595959"/>
                </a:solidFill>
                <a:latin typeface="Arial MT"/>
                <a:cs typeface="Arial MT"/>
              </a:rPr>
              <a:t>splits</a:t>
            </a:r>
            <a:r>
              <a:rPr sz="1500" spc="40" dirty="0">
                <a:solidFill>
                  <a:srgbClr val="595959"/>
                </a:solidFill>
                <a:latin typeface="Arial MT"/>
                <a:cs typeface="Arial MT"/>
              </a:rPr>
              <a:t> </a:t>
            </a:r>
            <a:r>
              <a:rPr sz="1500" dirty="0">
                <a:solidFill>
                  <a:srgbClr val="595959"/>
                </a:solidFill>
                <a:latin typeface="Arial MT"/>
                <a:cs typeface="Arial MT"/>
              </a:rPr>
              <a:t>the</a:t>
            </a:r>
            <a:r>
              <a:rPr sz="1500" spc="35" dirty="0">
                <a:solidFill>
                  <a:srgbClr val="595959"/>
                </a:solidFill>
                <a:latin typeface="Arial MT"/>
                <a:cs typeface="Arial MT"/>
              </a:rPr>
              <a:t> </a:t>
            </a:r>
            <a:r>
              <a:rPr sz="1500" dirty="0">
                <a:solidFill>
                  <a:srgbClr val="595959"/>
                </a:solidFill>
                <a:latin typeface="Arial MT"/>
                <a:cs typeface="Arial MT"/>
              </a:rPr>
              <a:t>multi-class</a:t>
            </a:r>
            <a:r>
              <a:rPr sz="1500" spc="40" dirty="0">
                <a:solidFill>
                  <a:srgbClr val="595959"/>
                </a:solidFill>
                <a:latin typeface="Arial MT"/>
                <a:cs typeface="Arial MT"/>
              </a:rPr>
              <a:t> </a:t>
            </a:r>
            <a:r>
              <a:rPr sz="1500" dirty="0">
                <a:solidFill>
                  <a:srgbClr val="595959"/>
                </a:solidFill>
                <a:latin typeface="Arial MT"/>
                <a:cs typeface="Arial MT"/>
              </a:rPr>
              <a:t>classification</a:t>
            </a:r>
            <a:r>
              <a:rPr sz="1500" spc="35" dirty="0">
                <a:solidFill>
                  <a:srgbClr val="595959"/>
                </a:solidFill>
                <a:latin typeface="Arial MT"/>
                <a:cs typeface="Arial MT"/>
              </a:rPr>
              <a:t> </a:t>
            </a:r>
            <a:r>
              <a:rPr sz="1500" dirty="0">
                <a:solidFill>
                  <a:srgbClr val="595959"/>
                </a:solidFill>
                <a:latin typeface="Arial MT"/>
                <a:cs typeface="Arial MT"/>
              </a:rPr>
              <a:t>dataset</a:t>
            </a:r>
            <a:r>
              <a:rPr sz="1500" spc="40" dirty="0">
                <a:solidFill>
                  <a:srgbClr val="595959"/>
                </a:solidFill>
                <a:latin typeface="Arial MT"/>
                <a:cs typeface="Arial MT"/>
              </a:rPr>
              <a:t> </a:t>
            </a:r>
            <a:r>
              <a:rPr sz="1500" dirty="0">
                <a:solidFill>
                  <a:srgbClr val="595959"/>
                </a:solidFill>
                <a:latin typeface="Arial MT"/>
                <a:cs typeface="Arial MT"/>
              </a:rPr>
              <a:t>into</a:t>
            </a:r>
            <a:r>
              <a:rPr sz="1500" spc="35" dirty="0">
                <a:solidFill>
                  <a:srgbClr val="595959"/>
                </a:solidFill>
                <a:latin typeface="Arial MT"/>
                <a:cs typeface="Arial MT"/>
              </a:rPr>
              <a:t> </a:t>
            </a:r>
            <a:r>
              <a:rPr sz="1500" dirty="0">
                <a:solidFill>
                  <a:srgbClr val="595959"/>
                </a:solidFill>
                <a:latin typeface="Arial MT"/>
                <a:cs typeface="Arial MT"/>
              </a:rPr>
              <a:t>multiple</a:t>
            </a:r>
            <a:r>
              <a:rPr sz="1500" spc="40" dirty="0">
                <a:solidFill>
                  <a:srgbClr val="595959"/>
                </a:solidFill>
                <a:latin typeface="Arial MT"/>
                <a:cs typeface="Arial MT"/>
              </a:rPr>
              <a:t> </a:t>
            </a:r>
            <a:r>
              <a:rPr sz="1500" dirty="0">
                <a:solidFill>
                  <a:srgbClr val="595959"/>
                </a:solidFill>
                <a:latin typeface="Arial MT"/>
                <a:cs typeface="Arial MT"/>
              </a:rPr>
              <a:t>binary</a:t>
            </a:r>
            <a:r>
              <a:rPr sz="1500" spc="40" dirty="0">
                <a:solidFill>
                  <a:srgbClr val="595959"/>
                </a:solidFill>
                <a:latin typeface="Arial MT"/>
                <a:cs typeface="Arial MT"/>
              </a:rPr>
              <a:t> </a:t>
            </a:r>
            <a:r>
              <a:rPr sz="1500" dirty="0">
                <a:solidFill>
                  <a:srgbClr val="595959"/>
                </a:solidFill>
                <a:latin typeface="Arial MT"/>
                <a:cs typeface="Arial MT"/>
              </a:rPr>
              <a:t>classification</a:t>
            </a:r>
            <a:r>
              <a:rPr sz="1500" spc="35" dirty="0">
                <a:solidFill>
                  <a:srgbClr val="595959"/>
                </a:solidFill>
                <a:latin typeface="Arial MT"/>
                <a:cs typeface="Arial MT"/>
              </a:rPr>
              <a:t> </a:t>
            </a:r>
            <a:r>
              <a:rPr sz="1500" spc="-10" dirty="0">
                <a:solidFill>
                  <a:srgbClr val="595959"/>
                </a:solidFill>
                <a:latin typeface="Arial MT"/>
                <a:cs typeface="Arial MT"/>
              </a:rPr>
              <a:t>datasets</a:t>
            </a:r>
            <a:r>
              <a:rPr sz="1500" spc="500" dirty="0">
                <a:solidFill>
                  <a:srgbClr val="595959"/>
                </a:solidFill>
                <a:latin typeface="Arial MT"/>
                <a:cs typeface="Arial MT"/>
              </a:rPr>
              <a:t> </a:t>
            </a:r>
            <a:r>
              <a:rPr sz="1500" dirty="0">
                <a:solidFill>
                  <a:srgbClr val="595959"/>
                </a:solidFill>
                <a:latin typeface="Arial MT"/>
                <a:cs typeface="Arial MT"/>
              </a:rPr>
              <a:t>and</a:t>
            </a:r>
            <a:r>
              <a:rPr sz="1500" spc="25" dirty="0">
                <a:solidFill>
                  <a:srgbClr val="595959"/>
                </a:solidFill>
                <a:latin typeface="Arial MT"/>
                <a:cs typeface="Arial MT"/>
              </a:rPr>
              <a:t> </a:t>
            </a:r>
            <a:r>
              <a:rPr sz="1500" dirty="0">
                <a:solidFill>
                  <a:srgbClr val="595959"/>
                </a:solidFill>
                <a:latin typeface="Arial MT"/>
                <a:cs typeface="Arial MT"/>
              </a:rPr>
              <a:t>fits</a:t>
            </a:r>
            <a:r>
              <a:rPr sz="1500" spc="30" dirty="0">
                <a:solidFill>
                  <a:srgbClr val="595959"/>
                </a:solidFill>
                <a:latin typeface="Arial MT"/>
                <a:cs typeface="Arial MT"/>
              </a:rPr>
              <a:t> </a:t>
            </a:r>
            <a:r>
              <a:rPr sz="1500" dirty="0">
                <a:solidFill>
                  <a:srgbClr val="595959"/>
                </a:solidFill>
                <a:latin typeface="Arial MT"/>
                <a:cs typeface="Arial MT"/>
              </a:rPr>
              <a:t>a</a:t>
            </a:r>
            <a:r>
              <a:rPr sz="1500" spc="30" dirty="0">
                <a:solidFill>
                  <a:srgbClr val="595959"/>
                </a:solidFill>
                <a:latin typeface="Arial MT"/>
                <a:cs typeface="Arial MT"/>
              </a:rPr>
              <a:t> </a:t>
            </a:r>
            <a:r>
              <a:rPr sz="1500" dirty="0">
                <a:solidFill>
                  <a:srgbClr val="595959"/>
                </a:solidFill>
                <a:latin typeface="Arial MT"/>
                <a:cs typeface="Arial MT"/>
              </a:rPr>
              <a:t>binary</a:t>
            </a:r>
            <a:r>
              <a:rPr sz="1500" spc="25" dirty="0">
                <a:solidFill>
                  <a:srgbClr val="595959"/>
                </a:solidFill>
                <a:latin typeface="Arial MT"/>
                <a:cs typeface="Arial MT"/>
              </a:rPr>
              <a:t> </a:t>
            </a:r>
            <a:r>
              <a:rPr sz="1500" dirty="0">
                <a:solidFill>
                  <a:srgbClr val="595959"/>
                </a:solidFill>
                <a:latin typeface="Arial MT"/>
                <a:cs typeface="Arial MT"/>
              </a:rPr>
              <a:t>classification</a:t>
            </a:r>
            <a:r>
              <a:rPr sz="1500" spc="30" dirty="0">
                <a:solidFill>
                  <a:srgbClr val="595959"/>
                </a:solidFill>
                <a:latin typeface="Arial MT"/>
                <a:cs typeface="Arial MT"/>
              </a:rPr>
              <a:t> </a:t>
            </a:r>
            <a:r>
              <a:rPr sz="1500" dirty="0">
                <a:solidFill>
                  <a:srgbClr val="595959"/>
                </a:solidFill>
                <a:latin typeface="Arial MT"/>
                <a:cs typeface="Arial MT"/>
              </a:rPr>
              <a:t>model</a:t>
            </a:r>
            <a:r>
              <a:rPr sz="1500" spc="30" dirty="0">
                <a:solidFill>
                  <a:srgbClr val="595959"/>
                </a:solidFill>
                <a:latin typeface="Arial MT"/>
                <a:cs typeface="Arial MT"/>
              </a:rPr>
              <a:t> </a:t>
            </a:r>
            <a:r>
              <a:rPr sz="1500" dirty="0">
                <a:solidFill>
                  <a:srgbClr val="595959"/>
                </a:solidFill>
                <a:latin typeface="Arial MT"/>
                <a:cs typeface="Arial MT"/>
              </a:rPr>
              <a:t>on</a:t>
            </a:r>
            <a:r>
              <a:rPr sz="1500" spc="25" dirty="0">
                <a:solidFill>
                  <a:srgbClr val="595959"/>
                </a:solidFill>
                <a:latin typeface="Arial MT"/>
                <a:cs typeface="Arial MT"/>
              </a:rPr>
              <a:t> </a:t>
            </a:r>
            <a:r>
              <a:rPr sz="1500" dirty="0">
                <a:solidFill>
                  <a:srgbClr val="595959"/>
                </a:solidFill>
                <a:latin typeface="Arial MT"/>
                <a:cs typeface="Arial MT"/>
              </a:rPr>
              <a:t>each</a:t>
            </a:r>
            <a:r>
              <a:rPr sz="1500" spc="30" dirty="0">
                <a:solidFill>
                  <a:srgbClr val="595959"/>
                </a:solidFill>
                <a:latin typeface="Arial MT"/>
                <a:cs typeface="Arial MT"/>
              </a:rPr>
              <a:t> </a:t>
            </a:r>
            <a:r>
              <a:rPr sz="1500" dirty="0">
                <a:solidFill>
                  <a:srgbClr val="595959"/>
                </a:solidFill>
                <a:latin typeface="Arial MT"/>
                <a:cs typeface="Arial MT"/>
              </a:rPr>
              <a:t>binary</a:t>
            </a:r>
            <a:r>
              <a:rPr sz="1500" spc="30" dirty="0">
                <a:solidFill>
                  <a:srgbClr val="595959"/>
                </a:solidFill>
                <a:latin typeface="Arial MT"/>
                <a:cs typeface="Arial MT"/>
              </a:rPr>
              <a:t> </a:t>
            </a:r>
            <a:r>
              <a:rPr sz="1500" dirty="0">
                <a:solidFill>
                  <a:srgbClr val="595959"/>
                </a:solidFill>
                <a:latin typeface="Arial MT"/>
                <a:cs typeface="Arial MT"/>
              </a:rPr>
              <a:t>classification</a:t>
            </a:r>
            <a:r>
              <a:rPr sz="1500" spc="25" dirty="0">
                <a:solidFill>
                  <a:srgbClr val="595959"/>
                </a:solidFill>
                <a:latin typeface="Arial MT"/>
                <a:cs typeface="Arial MT"/>
              </a:rPr>
              <a:t> </a:t>
            </a:r>
            <a:r>
              <a:rPr sz="1500" spc="-10" dirty="0">
                <a:solidFill>
                  <a:srgbClr val="595959"/>
                </a:solidFill>
                <a:latin typeface="Arial MT"/>
                <a:cs typeface="Arial MT"/>
              </a:rPr>
              <a:t>dataset.</a:t>
            </a:r>
            <a:endParaRPr sz="1500" dirty="0">
              <a:latin typeface="Arial MT"/>
              <a:cs typeface="Arial MT"/>
            </a:endParaRPr>
          </a:p>
          <a:p>
            <a:pPr>
              <a:lnSpc>
                <a:spcPct val="100000"/>
              </a:lnSpc>
            </a:pPr>
            <a:endParaRPr sz="1500" dirty="0">
              <a:latin typeface="Arial MT"/>
              <a:cs typeface="Arial MT"/>
            </a:endParaRPr>
          </a:p>
          <a:p>
            <a:pPr>
              <a:lnSpc>
                <a:spcPct val="100000"/>
              </a:lnSpc>
              <a:spcBef>
                <a:spcPts val="710"/>
              </a:spcBef>
            </a:pPr>
            <a:endParaRPr sz="1500" dirty="0">
              <a:latin typeface="Arial MT"/>
              <a:cs typeface="Arial MT"/>
            </a:endParaRPr>
          </a:p>
          <a:p>
            <a:pPr marL="12700" marR="213360">
              <a:lnSpc>
                <a:spcPts val="1739"/>
              </a:lnSpc>
            </a:pPr>
            <a:r>
              <a:rPr sz="1500" dirty="0">
                <a:solidFill>
                  <a:srgbClr val="595959"/>
                </a:solidFill>
                <a:latin typeface="Arial MT"/>
                <a:cs typeface="Arial MT"/>
              </a:rPr>
              <a:t>We</a:t>
            </a:r>
            <a:r>
              <a:rPr sz="1500" spc="30" dirty="0">
                <a:solidFill>
                  <a:srgbClr val="595959"/>
                </a:solidFill>
                <a:latin typeface="Arial MT"/>
                <a:cs typeface="Arial MT"/>
              </a:rPr>
              <a:t> </a:t>
            </a:r>
            <a:r>
              <a:rPr sz="1500" dirty="0">
                <a:solidFill>
                  <a:srgbClr val="595959"/>
                </a:solidFill>
                <a:latin typeface="Arial MT"/>
                <a:cs typeface="Arial MT"/>
              </a:rPr>
              <a:t>train</a:t>
            </a:r>
            <a:r>
              <a:rPr sz="1500" spc="30" dirty="0">
                <a:solidFill>
                  <a:srgbClr val="595959"/>
                </a:solidFill>
                <a:latin typeface="Arial MT"/>
                <a:cs typeface="Arial MT"/>
              </a:rPr>
              <a:t> </a:t>
            </a:r>
            <a:r>
              <a:rPr sz="1500" dirty="0">
                <a:solidFill>
                  <a:srgbClr val="595959"/>
                </a:solidFill>
                <a:latin typeface="Arial MT"/>
                <a:cs typeface="Arial MT"/>
              </a:rPr>
              <a:t>multiple</a:t>
            </a:r>
            <a:r>
              <a:rPr sz="1500" spc="30" dirty="0">
                <a:solidFill>
                  <a:srgbClr val="595959"/>
                </a:solidFill>
                <a:latin typeface="Arial MT"/>
                <a:cs typeface="Arial MT"/>
              </a:rPr>
              <a:t> </a:t>
            </a:r>
            <a:r>
              <a:rPr sz="1500" dirty="0">
                <a:solidFill>
                  <a:srgbClr val="595959"/>
                </a:solidFill>
                <a:latin typeface="Arial MT"/>
                <a:cs typeface="Arial MT"/>
              </a:rPr>
              <a:t>binary</a:t>
            </a:r>
            <a:r>
              <a:rPr sz="1500" spc="30" dirty="0">
                <a:solidFill>
                  <a:srgbClr val="595959"/>
                </a:solidFill>
                <a:latin typeface="Arial MT"/>
                <a:cs typeface="Arial MT"/>
              </a:rPr>
              <a:t> </a:t>
            </a:r>
            <a:r>
              <a:rPr sz="1500" dirty="0">
                <a:solidFill>
                  <a:srgbClr val="595959"/>
                </a:solidFill>
                <a:latin typeface="Arial MT"/>
                <a:cs typeface="Arial MT"/>
              </a:rPr>
              <a:t>classifiers,</a:t>
            </a:r>
            <a:r>
              <a:rPr sz="1500" spc="30" dirty="0">
                <a:solidFill>
                  <a:srgbClr val="595959"/>
                </a:solidFill>
                <a:latin typeface="Arial MT"/>
                <a:cs typeface="Arial MT"/>
              </a:rPr>
              <a:t> </a:t>
            </a:r>
            <a:r>
              <a:rPr sz="1500" dirty="0">
                <a:solidFill>
                  <a:srgbClr val="595959"/>
                </a:solidFill>
                <a:latin typeface="Arial MT"/>
                <a:cs typeface="Arial MT"/>
              </a:rPr>
              <a:t>one</a:t>
            </a:r>
            <a:r>
              <a:rPr sz="1500" spc="35" dirty="0">
                <a:solidFill>
                  <a:srgbClr val="595959"/>
                </a:solidFill>
                <a:latin typeface="Arial MT"/>
                <a:cs typeface="Arial MT"/>
              </a:rPr>
              <a:t> </a:t>
            </a:r>
            <a:r>
              <a:rPr sz="1500" dirty="0">
                <a:solidFill>
                  <a:srgbClr val="595959"/>
                </a:solidFill>
                <a:latin typeface="Arial MT"/>
                <a:cs typeface="Arial MT"/>
              </a:rPr>
              <a:t>for</a:t>
            </a:r>
            <a:r>
              <a:rPr sz="1500" spc="30" dirty="0">
                <a:solidFill>
                  <a:srgbClr val="595959"/>
                </a:solidFill>
                <a:latin typeface="Arial MT"/>
                <a:cs typeface="Arial MT"/>
              </a:rPr>
              <a:t> </a:t>
            </a:r>
            <a:r>
              <a:rPr sz="1500" dirty="0">
                <a:solidFill>
                  <a:srgbClr val="595959"/>
                </a:solidFill>
                <a:latin typeface="Arial MT"/>
                <a:cs typeface="Arial MT"/>
              </a:rPr>
              <a:t>each</a:t>
            </a:r>
            <a:r>
              <a:rPr sz="1500" spc="30" dirty="0">
                <a:solidFill>
                  <a:srgbClr val="595959"/>
                </a:solidFill>
                <a:latin typeface="Arial MT"/>
                <a:cs typeface="Arial MT"/>
              </a:rPr>
              <a:t> </a:t>
            </a:r>
            <a:r>
              <a:rPr sz="1500" dirty="0">
                <a:solidFill>
                  <a:srgbClr val="595959"/>
                </a:solidFill>
                <a:latin typeface="Arial MT"/>
                <a:cs typeface="Arial MT"/>
              </a:rPr>
              <a:t>class.</a:t>
            </a:r>
            <a:r>
              <a:rPr sz="1500" spc="30" dirty="0">
                <a:solidFill>
                  <a:srgbClr val="595959"/>
                </a:solidFill>
                <a:latin typeface="Arial MT"/>
                <a:cs typeface="Arial MT"/>
              </a:rPr>
              <a:t> </a:t>
            </a:r>
            <a:r>
              <a:rPr sz="1500" dirty="0">
                <a:solidFill>
                  <a:srgbClr val="595959"/>
                </a:solidFill>
                <a:latin typeface="Arial MT"/>
                <a:cs typeface="Arial MT"/>
              </a:rPr>
              <a:t>Each</a:t>
            </a:r>
            <a:r>
              <a:rPr sz="1500" spc="30" dirty="0">
                <a:solidFill>
                  <a:srgbClr val="595959"/>
                </a:solidFill>
                <a:latin typeface="Arial MT"/>
                <a:cs typeface="Arial MT"/>
              </a:rPr>
              <a:t> </a:t>
            </a:r>
            <a:r>
              <a:rPr sz="1500" dirty="0">
                <a:solidFill>
                  <a:srgbClr val="595959"/>
                </a:solidFill>
                <a:latin typeface="Arial MT"/>
                <a:cs typeface="Arial MT"/>
              </a:rPr>
              <a:t>classifier</a:t>
            </a:r>
            <a:r>
              <a:rPr sz="1500" spc="30" dirty="0">
                <a:solidFill>
                  <a:srgbClr val="595959"/>
                </a:solidFill>
                <a:latin typeface="Arial MT"/>
                <a:cs typeface="Arial MT"/>
              </a:rPr>
              <a:t> </a:t>
            </a:r>
            <a:r>
              <a:rPr sz="1500" dirty="0">
                <a:solidFill>
                  <a:srgbClr val="595959"/>
                </a:solidFill>
                <a:latin typeface="Arial MT"/>
                <a:cs typeface="Arial MT"/>
              </a:rPr>
              <a:t>predicts</a:t>
            </a:r>
            <a:r>
              <a:rPr sz="1500" spc="35" dirty="0">
                <a:solidFill>
                  <a:srgbClr val="595959"/>
                </a:solidFill>
                <a:latin typeface="Arial MT"/>
                <a:cs typeface="Arial MT"/>
              </a:rPr>
              <a:t> </a:t>
            </a:r>
            <a:r>
              <a:rPr sz="1500" dirty="0">
                <a:solidFill>
                  <a:srgbClr val="595959"/>
                </a:solidFill>
                <a:latin typeface="Arial MT"/>
                <a:cs typeface="Arial MT"/>
              </a:rPr>
              <a:t>whether</a:t>
            </a:r>
            <a:r>
              <a:rPr sz="1500" spc="30" dirty="0">
                <a:solidFill>
                  <a:srgbClr val="595959"/>
                </a:solidFill>
                <a:latin typeface="Arial MT"/>
                <a:cs typeface="Arial MT"/>
              </a:rPr>
              <a:t> </a:t>
            </a:r>
            <a:r>
              <a:rPr sz="1500" dirty="0">
                <a:solidFill>
                  <a:srgbClr val="595959"/>
                </a:solidFill>
                <a:latin typeface="Arial MT"/>
                <a:cs typeface="Arial MT"/>
              </a:rPr>
              <a:t>a</a:t>
            </a:r>
            <a:r>
              <a:rPr sz="1500" spc="30" dirty="0">
                <a:solidFill>
                  <a:srgbClr val="595959"/>
                </a:solidFill>
                <a:latin typeface="Arial MT"/>
                <a:cs typeface="Arial MT"/>
              </a:rPr>
              <a:t> </a:t>
            </a:r>
            <a:r>
              <a:rPr sz="1500" spc="-10" dirty="0">
                <a:solidFill>
                  <a:srgbClr val="595959"/>
                </a:solidFill>
                <a:latin typeface="Arial MT"/>
                <a:cs typeface="Arial MT"/>
              </a:rPr>
              <a:t>given </a:t>
            </a:r>
            <a:r>
              <a:rPr sz="1500" dirty="0">
                <a:solidFill>
                  <a:srgbClr val="595959"/>
                </a:solidFill>
                <a:latin typeface="Arial MT"/>
                <a:cs typeface="Arial MT"/>
              </a:rPr>
              <a:t>sample</a:t>
            </a:r>
            <a:r>
              <a:rPr sz="1500" spc="30" dirty="0">
                <a:solidFill>
                  <a:srgbClr val="595959"/>
                </a:solidFill>
                <a:latin typeface="Arial MT"/>
                <a:cs typeface="Arial MT"/>
              </a:rPr>
              <a:t> </a:t>
            </a:r>
            <a:r>
              <a:rPr sz="1500" dirty="0">
                <a:solidFill>
                  <a:srgbClr val="595959"/>
                </a:solidFill>
                <a:latin typeface="Arial MT"/>
                <a:cs typeface="Arial MT"/>
              </a:rPr>
              <a:t>belongs</a:t>
            </a:r>
            <a:r>
              <a:rPr sz="1500" spc="35" dirty="0">
                <a:solidFill>
                  <a:srgbClr val="595959"/>
                </a:solidFill>
                <a:latin typeface="Arial MT"/>
                <a:cs typeface="Arial MT"/>
              </a:rPr>
              <a:t> </a:t>
            </a:r>
            <a:r>
              <a:rPr sz="1500" dirty="0">
                <a:solidFill>
                  <a:srgbClr val="595959"/>
                </a:solidFill>
                <a:latin typeface="Arial MT"/>
                <a:cs typeface="Arial MT"/>
              </a:rPr>
              <a:t>to</a:t>
            </a:r>
            <a:r>
              <a:rPr sz="1500" spc="30" dirty="0">
                <a:solidFill>
                  <a:srgbClr val="595959"/>
                </a:solidFill>
                <a:latin typeface="Arial MT"/>
                <a:cs typeface="Arial MT"/>
              </a:rPr>
              <a:t> </a:t>
            </a:r>
            <a:r>
              <a:rPr sz="1500" dirty="0">
                <a:solidFill>
                  <a:srgbClr val="595959"/>
                </a:solidFill>
                <a:latin typeface="Arial MT"/>
                <a:cs typeface="Arial MT"/>
              </a:rPr>
              <a:t>its</a:t>
            </a:r>
            <a:r>
              <a:rPr sz="1500" spc="35" dirty="0">
                <a:solidFill>
                  <a:srgbClr val="595959"/>
                </a:solidFill>
                <a:latin typeface="Arial MT"/>
                <a:cs typeface="Arial MT"/>
              </a:rPr>
              <a:t> </a:t>
            </a:r>
            <a:r>
              <a:rPr sz="1500" dirty="0">
                <a:solidFill>
                  <a:srgbClr val="595959"/>
                </a:solidFill>
                <a:latin typeface="Arial MT"/>
                <a:cs typeface="Arial MT"/>
              </a:rPr>
              <a:t>respective</a:t>
            </a:r>
            <a:r>
              <a:rPr sz="1500" spc="35" dirty="0">
                <a:solidFill>
                  <a:srgbClr val="595959"/>
                </a:solidFill>
                <a:latin typeface="Arial MT"/>
                <a:cs typeface="Arial MT"/>
              </a:rPr>
              <a:t> </a:t>
            </a:r>
            <a:r>
              <a:rPr sz="1500" dirty="0">
                <a:solidFill>
                  <a:srgbClr val="595959"/>
                </a:solidFill>
                <a:latin typeface="Arial MT"/>
                <a:cs typeface="Arial MT"/>
              </a:rPr>
              <a:t>class</a:t>
            </a:r>
            <a:r>
              <a:rPr sz="1500" spc="30" dirty="0">
                <a:solidFill>
                  <a:srgbClr val="595959"/>
                </a:solidFill>
                <a:latin typeface="Arial MT"/>
                <a:cs typeface="Arial MT"/>
              </a:rPr>
              <a:t> </a:t>
            </a:r>
            <a:r>
              <a:rPr sz="1500" dirty="0">
                <a:solidFill>
                  <a:srgbClr val="595959"/>
                </a:solidFill>
                <a:latin typeface="Arial MT"/>
                <a:cs typeface="Arial MT"/>
              </a:rPr>
              <a:t>or</a:t>
            </a:r>
            <a:r>
              <a:rPr sz="1500" spc="35" dirty="0">
                <a:solidFill>
                  <a:srgbClr val="595959"/>
                </a:solidFill>
                <a:latin typeface="Arial MT"/>
                <a:cs typeface="Arial MT"/>
              </a:rPr>
              <a:t> </a:t>
            </a:r>
            <a:r>
              <a:rPr sz="1500" spc="-20" dirty="0">
                <a:solidFill>
                  <a:srgbClr val="595959"/>
                </a:solidFill>
                <a:latin typeface="Arial MT"/>
                <a:cs typeface="Arial MT"/>
              </a:rPr>
              <a:t>not.</a:t>
            </a:r>
            <a:endParaRPr sz="1500" dirty="0">
              <a:latin typeface="Arial M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1690" rIns="0" bIns="0" rtlCol="0">
            <a:spAutoFit/>
          </a:bodyPr>
          <a:lstStyle/>
          <a:p>
            <a:pPr marL="12700">
              <a:lnSpc>
                <a:spcPct val="100000"/>
              </a:lnSpc>
              <a:spcBef>
                <a:spcPts val="120"/>
              </a:spcBef>
            </a:pPr>
            <a:r>
              <a:rPr dirty="0"/>
              <a:t>Multinomial</a:t>
            </a:r>
            <a:r>
              <a:rPr spc="-20" dirty="0"/>
              <a:t> </a:t>
            </a:r>
            <a:r>
              <a:rPr dirty="0"/>
              <a:t>Logistic</a:t>
            </a:r>
            <a:r>
              <a:rPr spc="-20" dirty="0"/>
              <a:t> </a:t>
            </a:r>
            <a:r>
              <a:rPr dirty="0"/>
              <a:t>Regression</a:t>
            </a:r>
            <a:r>
              <a:rPr spc="-20" dirty="0"/>
              <a:t> </a:t>
            </a:r>
            <a:r>
              <a:rPr dirty="0"/>
              <a:t>-</a:t>
            </a:r>
            <a:r>
              <a:rPr spc="-20" dirty="0"/>
              <a:t> </a:t>
            </a:r>
            <a:r>
              <a:rPr dirty="0"/>
              <a:t>Multi-class</a:t>
            </a:r>
            <a:r>
              <a:rPr spc="-15" dirty="0"/>
              <a:t> </a:t>
            </a:r>
            <a:r>
              <a:rPr spc="-10" dirty="0"/>
              <a:t>classification</a:t>
            </a:r>
          </a:p>
        </p:txBody>
      </p:sp>
      <p:sp>
        <p:nvSpPr>
          <p:cNvPr id="3" name="object 3"/>
          <p:cNvSpPr txBox="1"/>
          <p:nvPr/>
        </p:nvSpPr>
        <p:spPr>
          <a:xfrm>
            <a:off x="384725" y="1209909"/>
            <a:ext cx="7748905" cy="1198880"/>
          </a:xfrm>
          <a:prstGeom prst="rect">
            <a:avLst/>
          </a:prstGeom>
        </p:spPr>
        <p:txBody>
          <a:bodyPr vert="horz" wrap="square" lIns="0" tIns="12065" rIns="0" bIns="0" rtlCol="0">
            <a:spAutoFit/>
          </a:bodyPr>
          <a:lstStyle/>
          <a:p>
            <a:pPr marL="12700">
              <a:lnSpc>
                <a:spcPct val="100000"/>
              </a:lnSpc>
              <a:spcBef>
                <a:spcPts val="95"/>
              </a:spcBef>
            </a:pPr>
            <a:r>
              <a:rPr sz="1400" b="1" spc="-10" dirty="0">
                <a:solidFill>
                  <a:srgbClr val="595959"/>
                </a:solidFill>
                <a:latin typeface="Arial"/>
                <a:cs typeface="Arial"/>
              </a:rPr>
              <a:t>Steps:</a:t>
            </a:r>
            <a:endParaRPr sz="1400">
              <a:latin typeface="Arial"/>
              <a:cs typeface="Arial"/>
            </a:endParaRPr>
          </a:p>
          <a:p>
            <a:pPr marL="469900" marR="5080" indent="-335915">
              <a:lnSpc>
                <a:spcPts val="1590"/>
              </a:lnSpc>
              <a:spcBef>
                <a:spcPts val="1235"/>
              </a:spcBef>
              <a:buChar char="●"/>
              <a:tabLst>
                <a:tab pos="469900" algn="l"/>
              </a:tabLst>
            </a:pPr>
            <a:r>
              <a:rPr sz="1400" dirty="0">
                <a:solidFill>
                  <a:srgbClr val="595959"/>
                </a:solidFill>
                <a:latin typeface="Arial MT"/>
                <a:cs typeface="Arial MT"/>
              </a:rPr>
              <a:t>Train</a:t>
            </a:r>
            <a:r>
              <a:rPr sz="1400" spc="-40" dirty="0">
                <a:solidFill>
                  <a:srgbClr val="595959"/>
                </a:solidFill>
                <a:latin typeface="Arial MT"/>
                <a:cs typeface="Arial MT"/>
              </a:rPr>
              <a:t> </a:t>
            </a:r>
            <a:r>
              <a:rPr sz="1400" dirty="0">
                <a:solidFill>
                  <a:srgbClr val="595959"/>
                </a:solidFill>
                <a:latin typeface="Arial MT"/>
                <a:cs typeface="Arial MT"/>
              </a:rPr>
              <a:t>a</a:t>
            </a:r>
            <a:r>
              <a:rPr sz="1400" spc="-35" dirty="0">
                <a:solidFill>
                  <a:srgbClr val="595959"/>
                </a:solidFill>
                <a:latin typeface="Arial MT"/>
                <a:cs typeface="Arial MT"/>
              </a:rPr>
              <a:t> </a:t>
            </a:r>
            <a:r>
              <a:rPr sz="1400" dirty="0">
                <a:solidFill>
                  <a:srgbClr val="595959"/>
                </a:solidFill>
                <a:latin typeface="Arial MT"/>
                <a:cs typeface="Arial MT"/>
              </a:rPr>
              <a:t>binary</a:t>
            </a:r>
            <a:r>
              <a:rPr sz="1400" spc="-35" dirty="0">
                <a:solidFill>
                  <a:srgbClr val="595959"/>
                </a:solidFill>
                <a:latin typeface="Arial MT"/>
                <a:cs typeface="Arial MT"/>
              </a:rPr>
              <a:t> </a:t>
            </a:r>
            <a:r>
              <a:rPr sz="1400" dirty="0">
                <a:solidFill>
                  <a:srgbClr val="595959"/>
                </a:solidFill>
                <a:latin typeface="Arial MT"/>
                <a:cs typeface="Arial MT"/>
              </a:rPr>
              <a:t>classifier</a:t>
            </a:r>
            <a:r>
              <a:rPr sz="1400" spc="-40" dirty="0">
                <a:solidFill>
                  <a:srgbClr val="595959"/>
                </a:solidFill>
                <a:latin typeface="Arial MT"/>
                <a:cs typeface="Arial MT"/>
              </a:rPr>
              <a:t> </a:t>
            </a:r>
            <a:r>
              <a:rPr sz="1400" dirty="0">
                <a:solidFill>
                  <a:srgbClr val="595959"/>
                </a:solidFill>
                <a:latin typeface="Arial MT"/>
                <a:cs typeface="Arial MT"/>
              </a:rPr>
              <a:t>for</a:t>
            </a:r>
            <a:r>
              <a:rPr sz="1400" spc="-35" dirty="0">
                <a:solidFill>
                  <a:srgbClr val="595959"/>
                </a:solidFill>
                <a:latin typeface="Arial MT"/>
                <a:cs typeface="Arial MT"/>
              </a:rPr>
              <a:t> </a:t>
            </a:r>
            <a:r>
              <a:rPr sz="1400" dirty="0">
                <a:solidFill>
                  <a:srgbClr val="595959"/>
                </a:solidFill>
                <a:latin typeface="Arial MT"/>
                <a:cs typeface="Arial MT"/>
              </a:rPr>
              <a:t>each</a:t>
            </a:r>
            <a:r>
              <a:rPr sz="1400" spc="-35" dirty="0">
                <a:solidFill>
                  <a:srgbClr val="595959"/>
                </a:solidFill>
                <a:latin typeface="Arial MT"/>
                <a:cs typeface="Arial MT"/>
              </a:rPr>
              <a:t> </a:t>
            </a:r>
            <a:r>
              <a:rPr sz="1400" dirty="0">
                <a:solidFill>
                  <a:srgbClr val="595959"/>
                </a:solidFill>
                <a:latin typeface="Arial MT"/>
                <a:cs typeface="Arial MT"/>
              </a:rPr>
              <a:t>class,</a:t>
            </a:r>
            <a:r>
              <a:rPr sz="1400" spc="-40" dirty="0">
                <a:solidFill>
                  <a:srgbClr val="595959"/>
                </a:solidFill>
                <a:latin typeface="Arial MT"/>
                <a:cs typeface="Arial MT"/>
              </a:rPr>
              <a:t> </a:t>
            </a:r>
            <a:r>
              <a:rPr sz="1400" dirty="0">
                <a:solidFill>
                  <a:srgbClr val="595959"/>
                </a:solidFill>
                <a:latin typeface="Arial MT"/>
                <a:cs typeface="Arial MT"/>
              </a:rPr>
              <a:t>treating</a:t>
            </a:r>
            <a:r>
              <a:rPr sz="1400" spc="-35" dirty="0">
                <a:solidFill>
                  <a:srgbClr val="595959"/>
                </a:solidFill>
                <a:latin typeface="Arial MT"/>
                <a:cs typeface="Arial MT"/>
              </a:rPr>
              <a:t> </a:t>
            </a:r>
            <a:r>
              <a:rPr sz="1400" dirty="0">
                <a:solidFill>
                  <a:srgbClr val="595959"/>
                </a:solidFill>
                <a:latin typeface="Arial MT"/>
                <a:cs typeface="Arial MT"/>
              </a:rPr>
              <a:t>the</a:t>
            </a:r>
            <a:r>
              <a:rPr sz="1400" spc="-35" dirty="0">
                <a:solidFill>
                  <a:srgbClr val="595959"/>
                </a:solidFill>
                <a:latin typeface="Arial MT"/>
                <a:cs typeface="Arial MT"/>
              </a:rPr>
              <a:t> </a:t>
            </a:r>
            <a:r>
              <a:rPr sz="1400" dirty="0">
                <a:solidFill>
                  <a:srgbClr val="595959"/>
                </a:solidFill>
                <a:latin typeface="Arial MT"/>
                <a:cs typeface="Arial MT"/>
              </a:rPr>
              <a:t>class</a:t>
            </a:r>
            <a:r>
              <a:rPr sz="1400" spc="-40" dirty="0">
                <a:solidFill>
                  <a:srgbClr val="595959"/>
                </a:solidFill>
                <a:latin typeface="Arial MT"/>
                <a:cs typeface="Arial MT"/>
              </a:rPr>
              <a:t> </a:t>
            </a:r>
            <a:r>
              <a:rPr sz="1400" dirty="0">
                <a:solidFill>
                  <a:srgbClr val="595959"/>
                </a:solidFill>
                <a:latin typeface="Arial MT"/>
                <a:cs typeface="Arial MT"/>
              </a:rPr>
              <a:t>as</a:t>
            </a:r>
            <a:r>
              <a:rPr sz="1400" spc="-35" dirty="0">
                <a:solidFill>
                  <a:srgbClr val="595959"/>
                </a:solidFill>
                <a:latin typeface="Arial MT"/>
                <a:cs typeface="Arial MT"/>
              </a:rPr>
              <a:t> </a:t>
            </a:r>
            <a:r>
              <a:rPr sz="1400" dirty="0">
                <a:solidFill>
                  <a:srgbClr val="595959"/>
                </a:solidFill>
                <a:latin typeface="Arial MT"/>
                <a:cs typeface="Arial MT"/>
              </a:rPr>
              <a:t>the</a:t>
            </a:r>
            <a:r>
              <a:rPr sz="1400" spc="-35" dirty="0">
                <a:solidFill>
                  <a:srgbClr val="595959"/>
                </a:solidFill>
                <a:latin typeface="Arial MT"/>
                <a:cs typeface="Arial MT"/>
              </a:rPr>
              <a:t> </a:t>
            </a:r>
            <a:r>
              <a:rPr sz="1400" dirty="0">
                <a:solidFill>
                  <a:srgbClr val="595959"/>
                </a:solidFill>
                <a:latin typeface="Arial MT"/>
                <a:cs typeface="Arial MT"/>
              </a:rPr>
              <a:t>positive</a:t>
            </a:r>
            <a:r>
              <a:rPr sz="1400" spc="-40" dirty="0">
                <a:solidFill>
                  <a:srgbClr val="595959"/>
                </a:solidFill>
                <a:latin typeface="Arial MT"/>
                <a:cs typeface="Arial MT"/>
              </a:rPr>
              <a:t> </a:t>
            </a:r>
            <a:r>
              <a:rPr sz="1400" dirty="0">
                <a:solidFill>
                  <a:srgbClr val="595959"/>
                </a:solidFill>
                <a:latin typeface="Arial MT"/>
                <a:cs typeface="Arial MT"/>
              </a:rPr>
              <a:t>class(1)</a:t>
            </a:r>
            <a:r>
              <a:rPr sz="1400" spc="-35" dirty="0">
                <a:solidFill>
                  <a:srgbClr val="595959"/>
                </a:solidFill>
                <a:latin typeface="Arial MT"/>
                <a:cs typeface="Arial MT"/>
              </a:rPr>
              <a:t> </a:t>
            </a:r>
            <a:r>
              <a:rPr sz="1400" dirty="0">
                <a:solidFill>
                  <a:srgbClr val="595959"/>
                </a:solidFill>
                <a:latin typeface="Arial MT"/>
                <a:cs typeface="Arial MT"/>
              </a:rPr>
              <a:t>and</a:t>
            </a:r>
            <a:r>
              <a:rPr sz="1400" spc="-35" dirty="0">
                <a:solidFill>
                  <a:srgbClr val="595959"/>
                </a:solidFill>
                <a:latin typeface="Arial MT"/>
                <a:cs typeface="Arial MT"/>
              </a:rPr>
              <a:t> </a:t>
            </a:r>
            <a:r>
              <a:rPr sz="1400" dirty="0">
                <a:solidFill>
                  <a:srgbClr val="595959"/>
                </a:solidFill>
                <a:latin typeface="Arial MT"/>
                <a:cs typeface="Arial MT"/>
              </a:rPr>
              <a:t>all</a:t>
            </a:r>
            <a:r>
              <a:rPr sz="1400" spc="-35" dirty="0">
                <a:solidFill>
                  <a:srgbClr val="595959"/>
                </a:solidFill>
                <a:latin typeface="Arial MT"/>
                <a:cs typeface="Arial MT"/>
              </a:rPr>
              <a:t> </a:t>
            </a:r>
            <a:r>
              <a:rPr sz="1400" spc="-10" dirty="0">
                <a:solidFill>
                  <a:srgbClr val="595959"/>
                </a:solidFill>
                <a:latin typeface="Arial MT"/>
                <a:cs typeface="Arial MT"/>
              </a:rPr>
              <a:t>other </a:t>
            </a:r>
            <a:r>
              <a:rPr sz="1400" dirty="0">
                <a:solidFill>
                  <a:srgbClr val="595959"/>
                </a:solidFill>
                <a:latin typeface="Arial MT"/>
                <a:cs typeface="Arial MT"/>
              </a:rPr>
              <a:t>classes</a:t>
            </a:r>
            <a:r>
              <a:rPr sz="1400" spc="-45" dirty="0">
                <a:solidFill>
                  <a:srgbClr val="595959"/>
                </a:solidFill>
                <a:latin typeface="Arial MT"/>
                <a:cs typeface="Arial MT"/>
              </a:rPr>
              <a:t> </a:t>
            </a:r>
            <a:r>
              <a:rPr sz="1400" dirty="0">
                <a:solidFill>
                  <a:srgbClr val="595959"/>
                </a:solidFill>
                <a:latin typeface="Arial MT"/>
                <a:cs typeface="Arial MT"/>
              </a:rPr>
              <a:t>as</a:t>
            </a:r>
            <a:r>
              <a:rPr sz="1400" spc="-45" dirty="0">
                <a:solidFill>
                  <a:srgbClr val="595959"/>
                </a:solidFill>
                <a:latin typeface="Arial MT"/>
                <a:cs typeface="Arial MT"/>
              </a:rPr>
              <a:t> </a:t>
            </a:r>
            <a:r>
              <a:rPr sz="1400" dirty="0">
                <a:solidFill>
                  <a:srgbClr val="595959"/>
                </a:solidFill>
                <a:latin typeface="Arial MT"/>
                <a:cs typeface="Arial MT"/>
              </a:rPr>
              <a:t>the</a:t>
            </a:r>
            <a:r>
              <a:rPr sz="1400" spc="-45" dirty="0">
                <a:solidFill>
                  <a:srgbClr val="595959"/>
                </a:solidFill>
                <a:latin typeface="Arial MT"/>
                <a:cs typeface="Arial MT"/>
              </a:rPr>
              <a:t> </a:t>
            </a:r>
            <a:r>
              <a:rPr sz="1400" dirty="0">
                <a:solidFill>
                  <a:srgbClr val="595959"/>
                </a:solidFill>
                <a:latin typeface="Arial MT"/>
                <a:cs typeface="Arial MT"/>
              </a:rPr>
              <a:t>negative</a:t>
            </a:r>
            <a:r>
              <a:rPr sz="1400" spc="-45" dirty="0">
                <a:solidFill>
                  <a:srgbClr val="595959"/>
                </a:solidFill>
                <a:latin typeface="Arial MT"/>
                <a:cs typeface="Arial MT"/>
              </a:rPr>
              <a:t> </a:t>
            </a:r>
            <a:r>
              <a:rPr sz="1400" spc="-10" dirty="0">
                <a:solidFill>
                  <a:srgbClr val="595959"/>
                </a:solidFill>
                <a:latin typeface="Arial MT"/>
                <a:cs typeface="Arial MT"/>
              </a:rPr>
              <a:t>class(0).</a:t>
            </a:r>
            <a:endParaRPr sz="1400">
              <a:latin typeface="Arial MT"/>
              <a:cs typeface="Arial MT"/>
            </a:endParaRPr>
          </a:p>
          <a:p>
            <a:pPr marL="469265" indent="-335280">
              <a:lnSpc>
                <a:spcPts val="1510"/>
              </a:lnSpc>
              <a:buChar char="●"/>
              <a:tabLst>
                <a:tab pos="469265" algn="l"/>
              </a:tabLst>
            </a:pPr>
            <a:r>
              <a:rPr sz="1400" dirty="0">
                <a:solidFill>
                  <a:srgbClr val="595959"/>
                </a:solidFill>
                <a:latin typeface="Arial MT"/>
                <a:cs typeface="Arial MT"/>
              </a:rPr>
              <a:t>For</a:t>
            </a:r>
            <a:r>
              <a:rPr sz="1400" spc="-30" dirty="0">
                <a:solidFill>
                  <a:srgbClr val="595959"/>
                </a:solidFill>
                <a:latin typeface="Arial MT"/>
                <a:cs typeface="Arial MT"/>
              </a:rPr>
              <a:t> </a:t>
            </a:r>
            <a:r>
              <a:rPr sz="1400" dirty="0">
                <a:solidFill>
                  <a:srgbClr val="595959"/>
                </a:solidFill>
                <a:latin typeface="Arial MT"/>
                <a:cs typeface="Arial MT"/>
              </a:rPr>
              <a:t>a</a:t>
            </a:r>
            <a:r>
              <a:rPr sz="1400" spc="-25" dirty="0">
                <a:solidFill>
                  <a:srgbClr val="595959"/>
                </a:solidFill>
                <a:latin typeface="Arial MT"/>
                <a:cs typeface="Arial MT"/>
              </a:rPr>
              <a:t> </a:t>
            </a:r>
            <a:r>
              <a:rPr sz="1400" dirty="0">
                <a:solidFill>
                  <a:srgbClr val="595959"/>
                </a:solidFill>
                <a:latin typeface="Arial MT"/>
                <a:cs typeface="Arial MT"/>
              </a:rPr>
              <a:t>new</a:t>
            </a:r>
            <a:r>
              <a:rPr sz="1400" spc="-30" dirty="0">
                <a:solidFill>
                  <a:srgbClr val="595959"/>
                </a:solidFill>
                <a:latin typeface="Arial MT"/>
                <a:cs typeface="Arial MT"/>
              </a:rPr>
              <a:t> </a:t>
            </a:r>
            <a:r>
              <a:rPr sz="1400" dirty="0">
                <a:solidFill>
                  <a:srgbClr val="595959"/>
                </a:solidFill>
                <a:latin typeface="Arial MT"/>
                <a:cs typeface="Arial MT"/>
              </a:rPr>
              <a:t>sample,</a:t>
            </a:r>
            <a:r>
              <a:rPr sz="1400" spc="-25" dirty="0">
                <a:solidFill>
                  <a:srgbClr val="595959"/>
                </a:solidFill>
                <a:latin typeface="Arial MT"/>
                <a:cs typeface="Arial MT"/>
              </a:rPr>
              <a:t> </a:t>
            </a:r>
            <a:r>
              <a:rPr sz="1400" dirty="0">
                <a:solidFill>
                  <a:srgbClr val="595959"/>
                </a:solidFill>
                <a:latin typeface="Arial MT"/>
                <a:cs typeface="Arial MT"/>
              </a:rPr>
              <a:t>run</a:t>
            </a:r>
            <a:r>
              <a:rPr sz="1400" spc="-30" dirty="0">
                <a:solidFill>
                  <a:srgbClr val="595959"/>
                </a:solidFill>
                <a:latin typeface="Arial MT"/>
                <a:cs typeface="Arial MT"/>
              </a:rPr>
              <a:t> </a:t>
            </a:r>
            <a:r>
              <a:rPr sz="1400" dirty="0">
                <a:solidFill>
                  <a:srgbClr val="595959"/>
                </a:solidFill>
                <a:latin typeface="Arial MT"/>
                <a:cs typeface="Arial MT"/>
              </a:rPr>
              <a:t>it</a:t>
            </a:r>
            <a:r>
              <a:rPr sz="1400" spc="-25" dirty="0">
                <a:solidFill>
                  <a:srgbClr val="595959"/>
                </a:solidFill>
                <a:latin typeface="Arial MT"/>
                <a:cs typeface="Arial MT"/>
              </a:rPr>
              <a:t> </a:t>
            </a:r>
            <a:r>
              <a:rPr sz="1400" dirty="0">
                <a:solidFill>
                  <a:srgbClr val="595959"/>
                </a:solidFill>
                <a:latin typeface="Arial MT"/>
                <a:cs typeface="Arial MT"/>
              </a:rPr>
              <a:t>through</a:t>
            </a:r>
            <a:r>
              <a:rPr sz="1400" spc="-30" dirty="0">
                <a:solidFill>
                  <a:srgbClr val="595959"/>
                </a:solidFill>
                <a:latin typeface="Arial MT"/>
                <a:cs typeface="Arial MT"/>
              </a:rPr>
              <a:t> </a:t>
            </a:r>
            <a:r>
              <a:rPr sz="1400" dirty="0">
                <a:solidFill>
                  <a:srgbClr val="595959"/>
                </a:solidFill>
                <a:latin typeface="Arial MT"/>
                <a:cs typeface="Arial MT"/>
              </a:rPr>
              <a:t>all</a:t>
            </a:r>
            <a:r>
              <a:rPr sz="1400" spc="-25" dirty="0">
                <a:solidFill>
                  <a:srgbClr val="595959"/>
                </a:solidFill>
                <a:latin typeface="Arial MT"/>
                <a:cs typeface="Arial MT"/>
              </a:rPr>
              <a:t> </a:t>
            </a:r>
            <a:r>
              <a:rPr sz="1400" dirty="0">
                <a:solidFill>
                  <a:srgbClr val="595959"/>
                </a:solidFill>
                <a:latin typeface="Arial MT"/>
                <a:cs typeface="Arial MT"/>
              </a:rPr>
              <a:t>the</a:t>
            </a:r>
            <a:r>
              <a:rPr sz="1400" spc="-30" dirty="0">
                <a:solidFill>
                  <a:srgbClr val="595959"/>
                </a:solidFill>
                <a:latin typeface="Arial MT"/>
                <a:cs typeface="Arial MT"/>
              </a:rPr>
              <a:t> </a:t>
            </a:r>
            <a:r>
              <a:rPr sz="1400" spc="-10" dirty="0">
                <a:solidFill>
                  <a:srgbClr val="595959"/>
                </a:solidFill>
                <a:latin typeface="Arial MT"/>
                <a:cs typeface="Arial MT"/>
              </a:rPr>
              <a:t>classifiers.</a:t>
            </a:r>
            <a:endParaRPr sz="1400">
              <a:latin typeface="Arial MT"/>
              <a:cs typeface="Arial MT"/>
            </a:endParaRPr>
          </a:p>
          <a:p>
            <a:pPr marL="469265" indent="-335280">
              <a:lnSpc>
                <a:spcPts val="1635"/>
              </a:lnSpc>
              <a:buChar char="●"/>
              <a:tabLst>
                <a:tab pos="469265" algn="l"/>
              </a:tabLst>
            </a:pPr>
            <a:r>
              <a:rPr sz="1400" dirty="0">
                <a:solidFill>
                  <a:srgbClr val="595959"/>
                </a:solidFill>
                <a:latin typeface="Arial MT"/>
                <a:cs typeface="Arial MT"/>
              </a:rPr>
              <a:t>Assign</a:t>
            </a:r>
            <a:r>
              <a:rPr sz="1400" spc="-40" dirty="0">
                <a:solidFill>
                  <a:srgbClr val="595959"/>
                </a:solidFill>
                <a:latin typeface="Arial MT"/>
                <a:cs typeface="Arial MT"/>
              </a:rPr>
              <a:t> </a:t>
            </a:r>
            <a:r>
              <a:rPr sz="1400" dirty="0">
                <a:solidFill>
                  <a:srgbClr val="595959"/>
                </a:solidFill>
                <a:latin typeface="Arial MT"/>
                <a:cs typeface="Arial MT"/>
              </a:rPr>
              <a:t>the</a:t>
            </a:r>
            <a:r>
              <a:rPr sz="1400" spc="-40" dirty="0">
                <a:solidFill>
                  <a:srgbClr val="595959"/>
                </a:solidFill>
                <a:latin typeface="Arial MT"/>
                <a:cs typeface="Arial MT"/>
              </a:rPr>
              <a:t> </a:t>
            </a:r>
            <a:r>
              <a:rPr sz="1400" dirty="0">
                <a:solidFill>
                  <a:srgbClr val="595959"/>
                </a:solidFill>
                <a:latin typeface="Arial MT"/>
                <a:cs typeface="Arial MT"/>
              </a:rPr>
              <a:t>sample</a:t>
            </a:r>
            <a:r>
              <a:rPr sz="1400" spc="-40" dirty="0">
                <a:solidFill>
                  <a:srgbClr val="595959"/>
                </a:solidFill>
                <a:latin typeface="Arial MT"/>
                <a:cs typeface="Arial MT"/>
              </a:rPr>
              <a:t> </a:t>
            </a:r>
            <a:r>
              <a:rPr sz="1400" dirty="0">
                <a:solidFill>
                  <a:srgbClr val="595959"/>
                </a:solidFill>
                <a:latin typeface="Arial MT"/>
                <a:cs typeface="Arial MT"/>
              </a:rPr>
              <a:t>to</a:t>
            </a:r>
            <a:r>
              <a:rPr sz="1400" spc="-40" dirty="0">
                <a:solidFill>
                  <a:srgbClr val="595959"/>
                </a:solidFill>
                <a:latin typeface="Arial MT"/>
                <a:cs typeface="Arial MT"/>
              </a:rPr>
              <a:t> </a:t>
            </a:r>
            <a:r>
              <a:rPr sz="1400" dirty="0">
                <a:solidFill>
                  <a:srgbClr val="595959"/>
                </a:solidFill>
                <a:latin typeface="Arial MT"/>
                <a:cs typeface="Arial MT"/>
              </a:rPr>
              <a:t>the</a:t>
            </a:r>
            <a:r>
              <a:rPr sz="1400" spc="-40" dirty="0">
                <a:solidFill>
                  <a:srgbClr val="595959"/>
                </a:solidFill>
                <a:latin typeface="Arial MT"/>
                <a:cs typeface="Arial MT"/>
              </a:rPr>
              <a:t> </a:t>
            </a:r>
            <a:r>
              <a:rPr sz="1400" dirty="0">
                <a:solidFill>
                  <a:srgbClr val="595959"/>
                </a:solidFill>
                <a:latin typeface="Arial MT"/>
                <a:cs typeface="Arial MT"/>
              </a:rPr>
              <a:t>class</a:t>
            </a:r>
            <a:r>
              <a:rPr sz="1400" spc="-40" dirty="0">
                <a:solidFill>
                  <a:srgbClr val="595959"/>
                </a:solidFill>
                <a:latin typeface="Arial MT"/>
                <a:cs typeface="Arial MT"/>
              </a:rPr>
              <a:t> </a:t>
            </a:r>
            <a:r>
              <a:rPr sz="1400" dirty="0">
                <a:solidFill>
                  <a:srgbClr val="595959"/>
                </a:solidFill>
                <a:latin typeface="Arial MT"/>
                <a:cs typeface="Arial MT"/>
              </a:rPr>
              <a:t>of</a:t>
            </a:r>
            <a:r>
              <a:rPr sz="1400" spc="-40" dirty="0">
                <a:solidFill>
                  <a:srgbClr val="595959"/>
                </a:solidFill>
                <a:latin typeface="Arial MT"/>
                <a:cs typeface="Arial MT"/>
              </a:rPr>
              <a:t> </a:t>
            </a:r>
            <a:r>
              <a:rPr sz="1400" dirty="0">
                <a:solidFill>
                  <a:srgbClr val="595959"/>
                </a:solidFill>
                <a:latin typeface="Arial MT"/>
                <a:cs typeface="Arial MT"/>
              </a:rPr>
              <a:t>the</a:t>
            </a:r>
            <a:r>
              <a:rPr sz="1400" spc="-40" dirty="0">
                <a:solidFill>
                  <a:srgbClr val="595959"/>
                </a:solidFill>
                <a:latin typeface="Arial MT"/>
                <a:cs typeface="Arial MT"/>
              </a:rPr>
              <a:t> </a:t>
            </a:r>
            <a:r>
              <a:rPr sz="1400" dirty="0">
                <a:solidFill>
                  <a:srgbClr val="595959"/>
                </a:solidFill>
                <a:latin typeface="Arial MT"/>
                <a:cs typeface="Arial MT"/>
              </a:rPr>
              <a:t>classifier</a:t>
            </a:r>
            <a:r>
              <a:rPr sz="1400" spc="-40" dirty="0">
                <a:solidFill>
                  <a:srgbClr val="595959"/>
                </a:solidFill>
                <a:latin typeface="Arial MT"/>
                <a:cs typeface="Arial MT"/>
              </a:rPr>
              <a:t> </a:t>
            </a:r>
            <a:r>
              <a:rPr sz="1400" dirty="0">
                <a:solidFill>
                  <a:srgbClr val="595959"/>
                </a:solidFill>
                <a:latin typeface="Arial MT"/>
                <a:cs typeface="Arial MT"/>
              </a:rPr>
              <a:t>with</a:t>
            </a:r>
            <a:r>
              <a:rPr sz="1400" spc="-40" dirty="0">
                <a:solidFill>
                  <a:srgbClr val="595959"/>
                </a:solidFill>
                <a:latin typeface="Arial MT"/>
                <a:cs typeface="Arial MT"/>
              </a:rPr>
              <a:t> </a:t>
            </a:r>
            <a:r>
              <a:rPr sz="1400" dirty="0">
                <a:solidFill>
                  <a:srgbClr val="595959"/>
                </a:solidFill>
                <a:latin typeface="Arial MT"/>
                <a:cs typeface="Arial MT"/>
              </a:rPr>
              <a:t>the</a:t>
            </a:r>
            <a:r>
              <a:rPr sz="1400" spc="-40" dirty="0">
                <a:solidFill>
                  <a:srgbClr val="595959"/>
                </a:solidFill>
                <a:latin typeface="Arial MT"/>
                <a:cs typeface="Arial MT"/>
              </a:rPr>
              <a:t> </a:t>
            </a:r>
            <a:r>
              <a:rPr sz="1400" dirty="0">
                <a:solidFill>
                  <a:srgbClr val="595959"/>
                </a:solidFill>
                <a:latin typeface="Arial MT"/>
                <a:cs typeface="Arial MT"/>
              </a:rPr>
              <a:t>highest</a:t>
            </a:r>
            <a:r>
              <a:rPr sz="1400" spc="-40" dirty="0">
                <a:solidFill>
                  <a:srgbClr val="595959"/>
                </a:solidFill>
                <a:latin typeface="Arial MT"/>
                <a:cs typeface="Arial MT"/>
              </a:rPr>
              <a:t> </a:t>
            </a:r>
            <a:r>
              <a:rPr sz="1400" dirty="0">
                <a:solidFill>
                  <a:srgbClr val="595959"/>
                </a:solidFill>
                <a:latin typeface="Arial MT"/>
                <a:cs typeface="Arial MT"/>
              </a:rPr>
              <a:t>probability</a:t>
            </a:r>
            <a:r>
              <a:rPr sz="1400" spc="-40" dirty="0">
                <a:solidFill>
                  <a:srgbClr val="595959"/>
                </a:solidFill>
                <a:latin typeface="Arial MT"/>
                <a:cs typeface="Arial MT"/>
              </a:rPr>
              <a:t> </a:t>
            </a:r>
            <a:r>
              <a:rPr sz="1400" spc="-10" dirty="0">
                <a:solidFill>
                  <a:srgbClr val="595959"/>
                </a:solidFill>
                <a:latin typeface="Arial MT"/>
                <a:cs typeface="Arial MT"/>
              </a:rPr>
              <a:t>score.</a:t>
            </a:r>
            <a:endParaRPr sz="1400">
              <a:latin typeface="Arial MT"/>
              <a:cs typeface="Arial MT"/>
            </a:endParaRPr>
          </a:p>
        </p:txBody>
      </p:sp>
      <p:pic>
        <p:nvPicPr>
          <p:cNvPr id="4" name="object 4"/>
          <p:cNvPicPr/>
          <p:nvPr/>
        </p:nvPicPr>
        <p:blipFill>
          <a:blip r:embed="rId3" cstate="print"/>
          <a:stretch>
            <a:fillRect/>
          </a:stretch>
        </p:blipFill>
        <p:spPr>
          <a:xfrm>
            <a:off x="2308574" y="2531129"/>
            <a:ext cx="4371012" cy="236022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1690" rIns="0" bIns="0" rtlCol="0">
            <a:spAutoFit/>
          </a:bodyPr>
          <a:lstStyle/>
          <a:p>
            <a:pPr marL="12700">
              <a:lnSpc>
                <a:spcPct val="100000"/>
              </a:lnSpc>
              <a:spcBef>
                <a:spcPts val="120"/>
              </a:spcBef>
            </a:pPr>
            <a:r>
              <a:rPr dirty="0"/>
              <a:t>Multinomial</a:t>
            </a:r>
            <a:r>
              <a:rPr spc="-20" dirty="0"/>
              <a:t> </a:t>
            </a:r>
            <a:r>
              <a:rPr dirty="0"/>
              <a:t>Logistic</a:t>
            </a:r>
            <a:r>
              <a:rPr spc="-20" dirty="0"/>
              <a:t> </a:t>
            </a:r>
            <a:r>
              <a:rPr dirty="0"/>
              <a:t>Regression</a:t>
            </a:r>
            <a:r>
              <a:rPr spc="-20" dirty="0"/>
              <a:t> </a:t>
            </a:r>
            <a:r>
              <a:rPr dirty="0"/>
              <a:t>-</a:t>
            </a:r>
            <a:r>
              <a:rPr spc="-20" dirty="0"/>
              <a:t> </a:t>
            </a:r>
            <a:r>
              <a:rPr dirty="0"/>
              <a:t>Multi-class</a:t>
            </a:r>
            <a:r>
              <a:rPr spc="-15" dirty="0"/>
              <a:t> </a:t>
            </a:r>
            <a:r>
              <a:rPr spc="-10" dirty="0"/>
              <a:t>classification</a:t>
            </a:r>
          </a:p>
        </p:txBody>
      </p:sp>
      <p:sp>
        <p:nvSpPr>
          <p:cNvPr id="3" name="object 3"/>
          <p:cNvSpPr txBox="1"/>
          <p:nvPr/>
        </p:nvSpPr>
        <p:spPr>
          <a:xfrm>
            <a:off x="439949" y="1472205"/>
            <a:ext cx="8190230" cy="2181860"/>
          </a:xfrm>
          <a:prstGeom prst="rect">
            <a:avLst/>
          </a:prstGeom>
        </p:spPr>
        <p:txBody>
          <a:bodyPr vert="horz" wrap="square" lIns="0" tIns="12700" rIns="0" bIns="0" rtlCol="0">
            <a:spAutoFit/>
          </a:bodyPr>
          <a:lstStyle/>
          <a:p>
            <a:pPr marL="379095" indent="-366395">
              <a:lnSpc>
                <a:spcPct val="100000"/>
              </a:lnSpc>
              <a:spcBef>
                <a:spcPts val="100"/>
              </a:spcBef>
              <a:buFont typeface="Arial MT"/>
              <a:buChar char="●"/>
              <a:tabLst>
                <a:tab pos="379095" algn="l"/>
              </a:tabLst>
            </a:pPr>
            <a:r>
              <a:rPr sz="1800" b="1" dirty="0">
                <a:solidFill>
                  <a:srgbClr val="595959"/>
                </a:solidFill>
                <a:latin typeface="Arial"/>
                <a:cs typeface="Arial"/>
              </a:rPr>
              <a:t>Limitations</a:t>
            </a:r>
            <a:r>
              <a:rPr sz="1800" b="1" spc="-20" dirty="0">
                <a:solidFill>
                  <a:srgbClr val="595959"/>
                </a:solidFill>
                <a:latin typeface="Arial"/>
                <a:cs typeface="Arial"/>
              </a:rPr>
              <a:t> </a:t>
            </a:r>
            <a:r>
              <a:rPr sz="1800" b="1" dirty="0">
                <a:solidFill>
                  <a:srgbClr val="595959"/>
                </a:solidFill>
                <a:latin typeface="Arial"/>
                <a:cs typeface="Arial"/>
              </a:rPr>
              <a:t>of</a:t>
            </a:r>
            <a:r>
              <a:rPr sz="1800" b="1" spc="-20" dirty="0">
                <a:solidFill>
                  <a:srgbClr val="595959"/>
                </a:solidFill>
                <a:latin typeface="Arial"/>
                <a:cs typeface="Arial"/>
              </a:rPr>
              <a:t> </a:t>
            </a:r>
            <a:r>
              <a:rPr sz="1800" b="1" spc="-10" dirty="0">
                <a:solidFill>
                  <a:srgbClr val="595959"/>
                </a:solidFill>
                <a:latin typeface="Arial"/>
                <a:cs typeface="Arial"/>
              </a:rPr>
              <a:t>One-vs-</a:t>
            </a:r>
            <a:r>
              <a:rPr sz="1800" b="1" dirty="0">
                <a:solidFill>
                  <a:srgbClr val="595959"/>
                </a:solidFill>
                <a:latin typeface="Arial"/>
                <a:cs typeface="Arial"/>
              </a:rPr>
              <a:t>all</a:t>
            </a:r>
            <a:r>
              <a:rPr sz="1800" b="1" spc="-20" dirty="0">
                <a:solidFill>
                  <a:srgbClr val="595959"/>
                </a:solidFill>
                <a:latin typeface="Arial"/>
                <a:cs typeface="Arial"/>
              </a:rPr>
              <a:t> </a:t>
            </a:r>
            <a:r>
              <a:rPr sz="1800" b="1" spc="-10" dirty="0">
                <a:solidFill>
                  <a:srgbClr val="595959"/>
                </a:solidFill>
                <a:latin typeface="Arial"/>
                <a:cs typeface="Arial"/>
              </a:rPr>
              <a:t>classifier</a:t>
            </a:r>
            <a:r>
              <a:rPr sz="1800" spc="-10" dirty="0">
                <a:solidFill>
                  <a:srgbClr val="595959"/>
                </a:solidFill>
                <a:latin typeface="Arial MT"/>
                <a:cs typeface="Arial MT"/>
              </a:rPr>
              <a:t>:</a:t>
            </a:r>
            <a:endParaRPr sz="1800">
              <a:latin typeface="Arial MT"/>
              <a:cs typeface="Arial MT"/>
            </a:endParaRPr>
          </a:p>
          <a:p>
            <a:pPr marL="379095">
              <a:lnSpc>
                <a:spcPct val="100000"/>
              </a:lnSpc>
              <a:spcBef>
                <a:spcPts val="1525"/>
              </a:spcBef>
            </a:pPr>
            <a:r>
              <a:rPr sz="1800" dirty="0">
                <a:solidFill>
                  <a:srgbClr val="595959"/>
                </a:solidFill>
                <a:latin typeface="Arial MT"/>
                <a:cs typeface="Arial MT"/>
              </a:rPr>
              <a:t>While</a:t>
            </a:r>
            <a:r>
              <a:rPr sz="1800" spc="-25" dirty="0">
                <a:solidFill>
                  <a:srgbClr val="595959"/>
                </a:solidFill>
                <a:latin typeface="Arial MT"/>
                <a:cs typeface="Arial MT"/>
              </a:rPr>
              <a:t> </a:t>
            </a:r>
            <a:r>
              <a:rPr sz="1800" spc="-10" dirty="0">
                <a:solidFill>
                  <a:srgbClr val="595959"/>
                </a:solidFill>
                <a:latin typeface="Arial MT"/>
                <a:cs typeface="Arial MT"/>
              </a:rPr>
              <a:t>One-vs-</a:t>
            </a:r>
            <a:r>
              <a:rPr sz="1800" dirty="0">
                <a:solidFill>
                  <a:srgbClr val="595959"/>
                </a:solidFill>
                <a:latin typeface="Arial MT"/>
                <a:cs typeface="Arial MT"/>
              </a:rPr>
              <a:t>all</a:t>
            </a:r>
            <a:r>
              <a:rPr sz="1800" spc="-25" dirty="0">
                <a:solidFill>
                  <a:srgbClr val="595959"/>
                </a:solidFill>
                <a:latin typeface="Arial MT"/>
                <a:cs typeface="Arial MT"/>
              </a:rPr>
              <a:t> </a:t>
            </a:r>
            <a:r>
              <a:rPr sz="1800" dirty="0">
                <a:solidFill>
                  <a:srgbClr val="595959"/>
                </a:solidFill>
                <a:latin typeface="Arial MT"/>
                <a:cs typeface="Arial MT"/>
              </a:rPr>
              <a:t>Classification</a:t>
            </a:r>
            <a:r>
              <a:rPr sz="1800" spc="-25" dirty="0">
                <a:solidFill>
                  <a:srgbClr val="595959"/>
                </a:solidFill>
                <a:latin typeface="Arial MT"/>
                <a:cs typeface="Arial MT"/>
              </a:rPr>
              <a:t> </a:t>
            </a:r>
            <a:r>
              <a:rPr sz="1800" dirty="0">
                <a:solidFill>
                  <a:srgbClr val="595959"/>
                </a:solidFill>
                <a:latin typeface="Arial MT"/>
                <a:cs typeface="Arial MT"/>
              </a:rPr>
              <a:t>is</a:t>
            </a:r>
            <a:r>
              <a:rPr sz="1800" spc="-25" dirty="0">
                <a:solidFill>
                  <a:srgbClr val="595959"/>
                </a:solidFill>
                <a:latin typeface="Arial MT"/>
                <a:cs typeface="Arial MT"/>
              </a:rPr>
              <a:t> </a:t>
            </a:r>
            <a:r>
              <a:rPr sz="1800" dirty="0">
                <a:solidFill>
                  <a:srgbClr val="595959"/>
                </a:solidFill>
                <a:latin typeface="Arial MT"/>
                <a:cs typeface="Arial MT"/>
              </a:rPr>
              <a:t>effective,</a:t>
            </a:r>
            <a:r>
              <a:rPr sz="1800" spc="-25" dirty="0">
                <a:solidFill>
                  <a:srgbClr val="595959"/>
                </a:solidFill>
                <a:latin typeface="Arial MT"/>
                <a:cs typeface="Arial MT"/>
              </a:rPr>
              <a:t> </a:t>
            </a:r>
            <a:r>
              <a:rPr sz="1800" dirty="0">
                <a:solidFill>
                  <a:srgbClr val="595959"/>
                </a:solidFill>
                <a:latin typeface="Arial MT"/>
                <a:cs typeface="Arial MT"/>
              </a:rPr>
              <a:t>it</a:t>
            </a:r>
            <a:r>
              <a:rPr sz="1800" spc="-25" dirty="0">
                <a:solidFill>
                  <a:srgbClr val="595959"/>
                </a:solidFill>
                <a:latin typeface="Arial MT"/>
                <a:cs typeface="Arial MT"/>
              </a:rPr>
              <a:t> </a:t>
            </a:r>
            <a:r>
              <a:rPr sz="1800" dirty="0">
                <a:solidFill>
                  <a:srgbClr val="595959"/>
                </a:solidFill>
                <a:latin typeface="Arial MT"/>
                <a:cs typeface="Arial MT"/>
              </a:rPr>
              <a:t>has</a:t>
            </a:r>
            <a:r>
              <a:rPr sz="1800" spc="-25" dirty="0">
                <a:solidFill>
                  <a:srgbClr val="595959"/>
                </a:solidFill>
                <a:latin typeface="Arial MT"/>
                <a:cs typeface="Arial MT"/>
              </a:rPr>
              <a:t> </a:t>
            </a:r>
            <a:r>
              <a:rPr sz="1800" dirty="0">
                <a:solidFill>
                  <a:srgbClr val="595959"/>
                </a:solidFill>
                <a:latin typeface="Arial MT"/>
                <a:cs typeface="Arial MT"/>
              </a:rPr>
              <a:t>its</a:t>
            </a:r>
            <a:r>
              <a:rPr sz="1800" spc="-25" dirty="0">
                <a:solidFill>
                  <a:srgbClr val="595959"/>
                </a:solidFill>
                <a:latin typeface="Arial MT"/>
                <a:cs typeface="Arial MT"/>
              </a:rPr>
              <a:t> </a:t>
            </a:r>
            <a:r>
              <a:rPr sz="1800" dirty="0">
                <a:solidFill>
                  <a:srgbClr val="595959"/>
                </a:solidFill>
                <a:latin typeface="Arial MT"/>
                <a:cs typeface="Arial MT"/>
              </a:rPr>
              <a:t>limitations.</a:t>
            </a:r>
            <a:r>
              <a:rPr sz="1800" spc="-25" dirty="0">
                <a:solidFill>
                  <a:srgbClr val="595959"/>
                </a:solidFill>
                <a:latin typeface="Arial MT"/>
                <a:cs typeface="Arial MT"/>
              </a:rPr>
              <a:t> </a:t>
            </a:r>
            <a:r>
              <a:rPr sz="1800" dirty="0">
                <a:solidFill>
                  <a:srgbClr val="595959"/>
                </a:solidFill>
                <a:latin typeface="Arial MT"/>
                <a:cs typeface="Arial MT"/>
              </a:rPr>
              <a:t>For</a:t>
            </a:r>
            <a:r>
              <a:rPr sz="1800" spc="-20" dirty="0">
                <a:solidFill>
                  <a:srgbClr val="595959"/>
                </a:solidFill>
                <a:latin typeface="Arial MT"/>
                <a:cs typeface="Arial MT"/>
              </a:rPr>
              <a:t> </a:t>
            </a:r>
            <a:r>
              <a:rPr sz="1800" spc="-10" dirty="0">
                <a:solidFill>
                  <a:srgbClr val="595959"/>
                </a:solidFill>
                <a:latin typeface="Arial MT"/>
                <a:cs typeface="Arial MT"/>
              </a:rPr>
              <a:t>instance,</a:t>
            </a:r>
            <a:endParaRPr sz="1800">
              <a:latin typeface="Arial MT"/>
              <a:cs typeface="Arial MT"/>
            </a:endParaRPr>
          </a:p>
          <a:p>
            <a:pPr marL="836294" marR="5080" lvl="1" indent="-457200">
              <a:lnSpc>
                <a:spcPct val="114999"/>
              </a:lnSpc>
              <a:spcBef>
                <a:spcPts val="1200"/>
              </a:spcBef>
              <a:buFont typeface="MS PGothic"/>
              <a:buChar char="❖"/>
              <a:tabLst>
                <a:tab pos="836294" algn="l"/>
              </a:tabLst>
            </a:pPr>
            <a:r>
              <a:rPr sz="1800" dirty="0">
                <a:solidFill>
                  <a:srgbClr val="595959"/>
                </a:solidFill>
                <a:latin typeface="Arial MT"/>
                <a:cs typeface="Arial MT"/>
              </a:rPr>
              <a:t>it</a:t>
            </a:r>
            <a:r>
              <a:rPr sz="1800" spc="-30" dirty="0">
                <a:solidFill>
                  <a:srgbClr val="595959"/>
                </a:solidFill>
                <a:latin typeface="Arial MT"/>
                <a:cs typeface="Arial MT"/>
              </a:rPr>
              <a:t> </a:t>
            </a:r>
            <a:r>
              <a:rPr sz="1800" dirty="0">
                <a:solidFill>
                  <a:srgbClr val="595959"/>
                </a:solidFill>
                <a:latin typeface="Arial MT"/>
                <a:cs typeface="Arial MT"/>
              </a:rPr>
              <a:t>can</a:t>
            </a:r>
            <a:r>
              <a:rPr sz="1800" spc="-20" dirty="0">
                <a:solidFill>
                  <a:srgbClr val="595959"/>
                </a:solidFill>
                <a:latin typeface="Arial MT"/>
                <a:cs typeface="Arial MT"/>
              </a:rPr>
              <a:t> </a:t>
            </a:r>
            <a:r>
              <a:rPr sz="1800" dirty="0">
                <a:solidFill>
                  <a:srgbClr val="595959"/>
                </a:solidFill>
                <a:latin typeface="Arial MT"/>
                <a:cs typeface="Arial MT"/>
              </a:rPr>
              <a:t>be</a:t>
            </a:r>
            <a:r>
              <a:rPr sz="1800" spc="-15" dirty="0">
                <a:solidFill>
                  <a:srgbClr val="595959"/>
                </a:solidFill>
                <a:latin typeface="Arial MT"/>
                <a:cs typeface="Arial MT"/>
              </a:rPr>
              <a:t> </a:t>
            </a:r>
            <a:r>
              <a:rPr sz="1800" dirty="0">
                <a:solidFill>
                  <a:srgbClr val="595959"/>
                </a:solidFill>
                <a:latin typeface="Arial MT"/>
                <a:cs typeface="Arial MT"/>
              </a:rPr>
              <a:t>computationally</a:t>
            </a:r>
            <a:r>
              <a:rPr sz="1800" spc="-20" dirty="0">
                <a:solidFill>
                  <a:srgbClr val="595959"/>
                </a:solidFill>
                <a:latin typeface="Arial MT"/>
                <a:cs typeface="Arial MT"/>
              </a:rPr>
              <a:t> </a:t>
            </a:r>
            <a:r>
              <a:rPr sz="1800" dirty="0">
                <a:solidFill>
                  <a:srgbClr val="595959"/>
                </a:solidFill>
                <a:latin typeface="Arial MT"/>
                <a:cs typeface="Arial MT"/>
              </a:rPr>
              <a:t>expensive</a:t>
            </a:r>
            <a:r>
              <a:rPr sz="1800" spc="-15" dirty="0">
                <a:solidFill>
                  <a:srgbClr val="595959"/>
                </a:solidFill>
                <a:latin typeface="Arial MT"/>
                <a:cs typeface="Arial MT"/>
              </a:rPr>
              <a:t> </a:t>
            </a:r>
            <a:r>
              <a:rPr sz="1800" dirty="0">
                <a:solidFill>
                  <a:srgbClr val="595959"/>
                </a:solidFill>
                <a:latin typeface="Arial MT"/>
                <a:cs typeface="Arial MT"/>
              </a:rPr>
              <a:t>when</a:t>
            </a:r>
            <a:r>
              <a:rPr sz="1800" spc="-20" dirty="0">
                <a:solidFill>
                  <a:srgbClr val="595959"/>
                </a:solidFill>
                <a:latin typeface="Arial MT"/>
                <a:cs typeface="Arial MT"/>
              </a:rPr>
              <a:t> </a:t>
            </a:r>
            <a:r>
              <a:rPr sz="1800" dirty="0">
                <a:solidFill>
                  <a:srgbClr val="595959"/>
                </a:solidFill>
                <a:latin typeface="Arial MT"/>
                <a:cs typeface="Arial MT"/>
              </a:rPr>
              <a:t>dealing</a:t>
            </a:r>
            <a:r>
              <a:rPr sz="1800" spc="-15" dirty="0">
                <a:solidFill>
                  <a:srgbClr val="595959"/>
                </a:solidFill>
                <a:latin typeface="Arial MT"/>
                <a:cs typeface="Arial MT"/>
              </a:rPr>
              <a:t> </a:t>
            </a:r>
            <a:r>
              <a:rPr sz="1800" dirty="0">
                <a:solidFill>
                  <a:srgbClr val="595959"/>
                </a:solidFill>
                <a:latin typeface="Arial MT"/>
                <a:cs typeface="Arial MT"/>
              </a:rPr>
              <a:t>with</a:t>
            </a:r>
            <a:r>
              <a:rPr sz="1800" spc="-20" dirty="0">
                <a:solidFill>
                  <a:srgbClr val="595959"/>
                </a:solidFill>
                <a:latin typeface="Arial MT"/>
                <a:cs typeface="Arial MT"/>
              </a:rPr>
              <a:t> </a:t>
            </a:r>
            <a:r>
              <a:rPr sz="1800" dirty="0">
                <a:solidFill>
                  <a:srgbClr val="595959"/>
                </a:solidFill>
                <a:latin typeface="Arial MT"/>
                <a:cs typeface="Arial MT"/>
              </a:rPr>
              <a:t>a</a:t>
            </a:r>
            <a:r>
              <a:rPr sz="1800" spc="-15" dirty="0">
                <a:solidFill>
                  <a:srgbClr val="595959"/>
                </a:solidFill>
                <a:latin typeface="Arial MT"/>
                <a:cs typeface="Arial MT"/>
              </a:rPr>
              <a:t> </a:t>
            </a:r>
            <a:r>
              <a:rPr sz="1800" dirty="0">
                <a:solidFill>
                  <a:srgbClr val="595959"/>
                </a:solidFill>
                <a:latin typeface="Arial MT"/>
                <a:cs typeface="Arial MT"/>
              </a:rPr>
              <a:t>large</a:t>
            </a:r>
            <a:r>
              <a:rPr sz="1800" spc="-20" dirty="0">
                <a:solidFill>
                  <a:srgbClr val="595959"/>
                </a:solidFill>
                <a:latin typeface="Arial MT"/>
                <a:cs typeface="Arial MT"/>
              </a:rPr>
              <a:t> </a:t>
            </a:r>
            <a:r>
              <a:rPr sz="1800" dirty="0">
                <a:solidFill>
                  <a:srgbClr val="595959"/>
                </a:solidFill>
                <a:latin typeface="Arial MT"/>
                <a:cs typeface="Arial MT"/>
              </a:rPr>
              <a:t>number</a:t>
            </a:r>
            <a:r>
              <a:rPr sz="1800" spc="-15" dirty="0">
                <a:solidFill>
                  <a:srgbClr val="595959"/>
                </a:solidFill>
                <a:latin typeface="Arial MT"/>
                <a:cs typeface="Arial MT"/>
              </a:rPr>
              <a:t> </a:t>
            </a:r>
            <a:r>
              <a:rPr sz="1800" spc="-25" dirty="0">
                <a:solidFill>
                  <a:srgbClr val="595959"/>
                </a:solidFill>
                <a:latin typeface="Arial MT"/>
                <a:cs typeface="Arial MT"/>
              </a:rPr>
              <a:t>of </a:t>
            </a:r>
            <a:r>
              <a:rPr sz="1800" spc="-10" dirty="0">
                <a:solidFill>
                  <a:srgbClr val="595959"/>
                </a:solidFill>
                <a:latin typeface="Arial MT"/>
                <a:cs typeface="Arial MT"/>
              </a:rPr>
              <a:t>classes.</a:t>
            </a:r>
            <a:endParaRPr sz="1800">
              <a:latin typeface="Arial MT"/>
              <a:cs typeface="Arial MT"/>
            </a:endParaRPr>
          </a:p>
          <a:p>
            <a:pPr marL="836294" marR="34925" lvl="1" indent="-457200">
              <a:lnSpc>
                <a:spcPct val="114999"/>
              </a:lnSpc>
              <a:buFont typeface="MS PGothic"/>
              <a:buChar char="❖"/>
              <a:tabLst>
                <a:tab pos="836294" algn="l"/>
              </a:tabLst>
            </a:pPr>
            <a:r>
              <a:rPr sz="1800" spc="-10" dirty="0">
                <a:solidFill>
                  <a:srgbClr val="595959"/>
                </a:solidFill>
                <a:latin typeface="Arial MT"/>
                <a:cs typeface="Arial MT"/>
              </a:rPr>
              <a:t>Additionally,</a:t>
            </a:r>
            <a:r>
              <a:rPr sz="1800" spc="-20" dirty="0">
                <a:solidFill>
                  <a:srgbClr val="595959"/>
                </a:solidFill>
                <a:latin typeface="Arial MT"/>
                <a:cs typeface="Arial MT"/>
              </a:rPr>
              <a:t> </a:t>
            </a:r>
            <a:r>
              <a:rPr sz="1800" dirty="0">
                <a:solidFill>
                  <a:srgbClr val="595959"/>
                </a:solidFill>
                <a:latin typeface="Arial MT"/>
                <a:cs typeface="Arial MT"/>
              </a:rPr>
              <a:t>it</a:t>
            </a:r>
            <a:r>
              <a:rPr sz="1800" spc="-5" dirty="0">
                <a:solidFill>
                  <a:srgbClr val="595959"/>
                </a:solidFill>
                <a:latin typeface="Arial MT"/>
                <a:cs typeface="Arial MT"/>
              </a:rPr>
              <a:t> </a:t>
            </a:r>
            <a:r>
              <a:rPr sz="1800" dirty="0">
                <a:solidFill>
                  <a:srgbClr val="595959"/>
                </a:solidFill>
                <a:latin typeface="Arial MT"/>
                <a:cs typeface="Arial MT"/>
              </a:rPr>
              <a:t>may</a:t>
            </a:r>
            <a:r>
              <a:rPr sz="1800" spc="-10" dirty="0">
                <a:solidFill>
                  <a:srgbClr val="595959"/>
                </a:solidFill>
                <a:latin typeface="Arial MT"/>
                <a:cs typeface="Arial MT"/>
              </a:rPr>
              <a:t> </a:t>
            </a:r>
            <a:r>
              <a:rPr sz="1800" dirty="0">
                <a:solidFill>
                  <a:srgbClr val="595959"/>
                </a:solidFill>
                <a:latin typeface="Arial MT"/>
                <a:cs typeface="Arial MT"/>
              </a:rPr>
              <a:t>display</a:t>
            </a:r>
            <a:r>
              <a:rPr sz="1800" spc="-5" dirty="0">
                <a:solidFill>
                  <a:srgbClr val="595959"/>
                </a:solidFill>
                <a:latin typeface="Arial MT"/>
                <a:cs typeface="Arial MT"/>
              </a:rPr>
              <a:t> </a:t>
            </a:r>
            <a:r>
              <a:rPr sz="1800" dirty="0">
                <a:solidFill>
                  <a:srgbClr val="595959"/>
                </a:solidFill>
                <a:latin typeface="Arial MT"/>
                <a:cs typeface="Arial MT"/>
              </a:rPr>
              <a:t>lower</a:t>
            </a:r>
            <a:r>
              <a:rPr sz="1800" spc="-10" dirty="0">
                <a:solidFill>
                  <a:srgbClr val="595959"/>
                </a:solidFill>
                <a:latin typeface="Arial MT"/>
                <a:cs typeface="Arial MT"/>
              </a:rPr>
              <a:t> </a:t>
            </a:r>
            <a:r>
              <a:rPr sz="1800" dirty="0">
                <a:solidFill>
                  <a:srgbClr val="595959"/>
                </a:solidFill>
                <a:latin typeface="Arial MT"/>
                <a:cs typeface="Arial MT"/>
              </a:rPr>
              <a:t>accuracy</a:t>
            </a:r>
            <a:r>
              <a:rPr sz="1800" spc="-5" dirty="0">
                <a:solidFill>
                  <a:srgbClr val="595959"/>
                </a:solidFill>
                <a:latin typeface="Arial MT"/>
                <a:cs typeface="Arial MT"/>
              </a:rPr>
              <a:t> </a:t>
            </a:r>
            <a:r>
              <a:rPr sz="1800" dirty="0">
                <a:solidFill>
                  <a:srgbClr val="595959"/>
                </a:solidFill>
                <a:latin typeface="Arial MT"/>
                <a:cs typeface="Arial MT"/>
              </a:rPr>
              <a:t>if</a:t>
            </a:r>
            <a:r>
              <a:rPr sz="1800" spc="-10" dirty="0">
                <a:solidFill>
                  <a:srgbClr val="595959"/>
                </a:solidFill>
                <a:latin typeface="Arial MT"/>
                <a:cs typeface="Arial MT"/>
              </a:rPr>
              <a:t> </a:t>
            </a:r>
            <a:r>
              <a:rPr sz="1800" dirty="0">
                <a:solidFill>
                  <a:srgbClr val="595959"/>
                </a:solidFill>
                <a:latin typeface="Arial MT"/>
                <a:cs typeface="Arial MT"/>
              </a:rPr>
              <a:t>binary</a:t>
            </a:r>
            <a:r>
              <a:rPr sz="1800" spc="-5" dirty="0">
                <a:solidFill>
                  <a:srgbClr val="595959"/>
                </a:solidFill>
                <a:latin typeface="Arial MT"/>
                <a:cs typeface="Arial MT"/>
              </a:rPr>
              <a:t> </a:t>
            </a:r>
            <a:r>
              <a:rPr sz="1800" dirty="0">
                <a:solidFill>
                  <a:srgbClr val="595959"/>
                </a:solidFill>
                <a:latin typeface="Arial MT"/>
                <a:cs typeface="Arial MT"/>
              </a:rPr>
              <a:t>classifiers</a:t>
            </a:r>
            <a:r>
              <a:rPr sz="1800" spc="-10" dirty="0">
                <a:solidFill>
                  <a:srgbClr val="595959"/>
                </a:solidFill>
                <a:latin typeface="Arial MT"/>
                <a:cs typeface="Arial MT"/>
              </a:rPr>
              <a:t> </a:t>
            </a:r>
            <a:r>
              <a:rPr sz="1800" dirty="0">
                <a:solidFill>
                  <a:srgbClr val="595959"/>
                </a:solidFill>
                <a:latin typeface="Arial MT"/>
                <a:cs typeface="Arial MT"/>
              </a:rPr>
              <a:t>are</a:t>
            </a:r>
            <a:r>
              <a:rPr sz="1800" spc="-5" dirty="0">
                <a:solidFill>
                  <a:srgbClr val="595959"/>
                </a:solidFill>
                <a:latin typeface="Arial MT"/>
                <a:cs typeface="Arial MT"/>
              </a:rPr>
              <a:t> </a:t>
            </a:r>
            <a:r>
              <a:rPr sz="1800" spc="-10" dirty="0">
                <a:solidFill>
                  <a:srgbClr val="595959"/>
                </a:solidFill>
                <a:latin typeface="Arial MT"/>
                <a:cs typeface="Arial MT"/>
              </a:rPr>
              <a:t>biased </a:t>
            </a:r>
            <a:r>
              <a:rPr sz="1800" dirty="0">
                <a:solidFill>
                  <a:srgbClr val="595959"/>
                </a:solidFill>
                <a:latin typeface="Arial MT"/>
                <a:cs typeface="Arial MT"/>
              </a:rPr>
              <a:t>or</a:t>
            </a:r>
            <a:r>
              <a:rPr sz="1800" spc="-30" dirty="0">
                <a:solidFill>
                  <a:srgbClr val="595959"/>
                </a:solidFill>
                <a:latin typeface="Arial MT"/>
                <a:cs typeface="Arial MT"/>
              </a:rPr>
              <a:t> </a:t>
            </a:r>
            <a:r>
              <a:rPr sz="1800" dirty="0">
                <a:solidFill>
                  <a:srgbClr val="595959"/>
                </a:solidFill>
                <a:latin typeface="Arial MT"/>
                <a:cs typeface="Arial MT"/>
              </a:rPr>
              <a:t>if</a:t>
            </a:r>
            <a:r>
              <a:rPr sz="1800" spc="-20" dirty="0">
                <a:solidFill>
                  <a:srgbClr val="595959"/>
                </a:solidFill>
                <a:latin typeface="Arial MT"/>
                <a:cs typeface="Arial MT"/>
              </a:rPr>
              <a:t> </a:t>
            </a:r>
            <a:r>
              <a:rPr sz="1800" dirty="0">
                <a:solidFill>
                  <a:srgbClr val="595959"/>
                </a:solidFill>
                <a:latin typeface="Arial MT"/>
                <a:cs typeface="Arial MT"/>
              </a:rPr>
              <a:t>the</a:t>
            </a:r>
            <a:r>
              <a:rPr sz="1800" spc="-20" dirty="0">
                <a:solidFill>
                  <a:srgbClr val="595959"/>
                </a:solidFill>
                <a:latin typeface="Arial MT"/>
                <a:cs typeface="Arial MT"/>
              </a:rPr>
              <a:t> </a:t>
            </a:r>
            <a:r>
              <a:rPr sz="1800" dirty="0">
                <a:solidFill>
                  <a:srgbClr val="595959"/>
                </a:solidFill>
                <a:latin typeface="Arial MT"/>
                <a:cs typeface="Arial MT"/>
              </a:rPr>
              <a:t>training</a:t>
            </a:r>
            <a:r>
              <a:rPr sz="1800" spc="-20" dirty="0">
                <a:solidFill>
                  <a:srgbClr val="595959"/>
                </a:solidFill>
                <a:latin typeface="Arial MT"/>
                <a:cs typeface="Arial MT"/>
              </a:rPr>
              <a:t> </a:t>
            </a:r>
            <a:r>
              <a:rPr sz="1800" dirty="0">
                <a:solidFill>
                  <a:srgbClr val="595959"/>
                </a:solidFill>
                <a:latin typeface="Arial MT"/>
                <a:cs typeface="Arial MT"/>
              </a:rPr>
              <a:t>data</a:t>
            </a:r>
            <a:r>
              <a:rPr sz="1800" spc="-20" dirty="0">
                <a:solidFill>
                  <a:srgbClr val="595959"/>
                </a:solidFill>
                <a:latin typeface="Arial MT"/>
                <a:cs typeface="Arial MT"/>
              </a:rPr>
              <a:t> </a:t>
            </a:r>
            <a:r>
              <a:rPr sz="1800" dirty="0">
                <a:solidFill>
                  <a:srgbClr val="595959"/>
                </a:solidFill>
                <a:latin typeface="Arial MT"/>
                <a:cs typeface="Arial MT"/>
              </a:rPr>
              <a:t>for</a:t>
            </a:r>
            <a:r>
              <a:rPr sz="1800" spc="-20" dirty="0">
                <a:solidFill>
                  <a:srgbClr val="595959"/>
                </a:solidFill>
                <a:latin typeface="Arial MT"/>
                <a:cs typeface="Arial MT"/>
              </a:rPr>
              <a:t> </a:t>
            </a:r>
            <a:r>
              <a:rPr sz="1800" dirty="0">
                <a:solidFill>
                  <a:srgbClr val="595959"/>
                </a:solidFill>
                <a:latin typeface="Arial MT"/>
                <a:cs typeface="Arial MT"/>
              </a:rPr>
              <a:t>different</a:t>
            </a:r>
            <a:r>
              <a:rPr sz="1800" spc="-20" dirty="0">
                <a:solidFill>
                  <a:srgbClr val="595959"/>
                </a:solidFill>
                <a:latin typeface="Arial MT"/>
                <a:cs typeface="Arial MT"/>
              </a:rPr>
              <a:t> </a:t>
            </a:r>
            <a:r>
              <a:rPr sz="1800" dirty="0">
                <a:solidFill>
                  <a:srgbClr val="595959"/>
                </a:solidFill>
                <a:latin typeface="Arial MT"/>
                <a:cs typeface="Arial MT"/>
              </a:rPr>
              <a:t>classes</a:t>
            </a:r>
            <a:r>
              <a:rPr sz="1800" spc="-20" dirty="0">
                <a:solidFill>
                  <a:srgbClr val="595959"/>
                </a:solidFill>
                <a:latin typeface="Arial MT"/>
                <a:cs typeface="Arial MT"/>
              </a:rPr>
              <a:t> </a:t>
            </a:r>
            <a:r>
              <a:rPr sz="1800" dirty="0">
                <a:solidFill>
                  <a:srgbClr val="595959"/>
                </a:solidFill>
                <a:latin typeface="Arial MT"/>
                <a:cs typeface="Arial MT"/>
              </a:rPr>
              <a:t>is</a:t>
            </a:r>
            <a:r>
              <a:rPr sz="1800" spc="-20" dirty="0">
                <a:solidFill>
                  <a:srgbClr val="595959"/>
                </a:solidFill>
                <a:latin typeface="Arial MT"/>
                <a:cs typeface="Arial MT"/>
              </a:rPr>
              <a:t> </a:t>
            </a:r>
            <a:r>
              <a:rPr sz="1800" spc="-10" dirty="0">
                <a:solidFill>
                  <a:srgbClr val="595959"/>
                </a:solidFill>
                <a:latin typeface="Arial MT"/>
                <a:cs typeface="Arial MT"/>
              </a:rPr>
              <a:t>unbalanced.</a:t>
            </a:r>
            <a:endParaRPr sz="180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TotalTime>
  <Words>1164</Words>
  <Application>Microsoft Office PowerPoint</Application>
  <PresentationFormat>On-screen Show (16:9)</PresentationFormat>
  <Paragraphs>111</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MS PGothic</vt:lpstr>
      <vt:lpstr>Arial</vt:lpstr>
      <vt:lpstr>Arial MT</vt:lpstr>
      <vt:lpstr>Calibri</vt:lpstr>
      <vt:lpstr>Office Theme</vt:lpstr>
      <vt:lpstr>Logistic Regression</vt:lpstr>
      <vt:lpstr>Classification</vt:lpstr>
      <vt:lpstr>Classification</vt:lpstr>
      <vt:lpstr>Logistic Regression</vt:lpstr>
      <vt:lpstr>Logistic Regression Assumptions</vt:lpstr>
      <vt:lpstr>Logistic Regression - Binary classification task</vt:lpstr>
      <vt:lpstr>Sigmoid Function</vt:lpstr>
      <vt:lpstr>Sigmoid Function graph</vt:lpstr>
      <vt:lpstr>Logistic Regression example</vt:lpstr>
      <vt:lpstr>Logistic Regression example</vt:lpstr>
      <vt:lpstr>Types of Logistic Regression</vt:lpstr>
      <vt:lpstr>Multinomial Logistic Regression - Multi-class classification</vt:lpstr>
      <vt:lpstr>Multinomial Logistic Regression - Multi-class classification</vt:lpstr>
      <vt:lpstr>Multinomial Logistic Regression - Multi-class classification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Logistic Regression</dc:title>
  <cp:lastModifiedBy>Microsoft account</cp:lastModifiedBy>
  <cp:revision>4</cp:revision>
  <dcterms:created xsi:type="dcterms:W3CDTF">2024-11-28T06:10:52Z</dcterms:created>
  <dcterms:modified xsi:type="dcterms:W3CDTF">2024-12-14T04:44:41Z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