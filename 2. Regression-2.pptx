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6871D-4CCD-42A9-A0E6-5D22A88EF69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A5367-9F79-4D30-A1B9-83565ACD3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4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r=0</a:t>
            </a:r>
            <a:r>
              <a:rPr lang="en-US" baseline="0" dirty="0" smtClean="0"/>
              <a:t> is bad because it indicates that there is no positive and negative relationship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AA5367-9F79-4D30-A1B9-83565ACD33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79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4540885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355273"/>
            <a:ext cx="5217795" cy="5595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042857"/>
            <a:ext cx="8262620" cy="1287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1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39" y="1196154"/>
            <a:ext cx="336486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/>
              <a:t>Regression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192008" y="2837025"/>
            <a:ext cx="6758305" cy="125920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590165" marR="2580640" algn="ctr">
              <a:lnSpc>
                <a:spcPts val="2280"/>
              </a:lnSpc>
              <a:spcBef>
                <a:spcPts val="655"/>
              </a:spcBef>
            </a:pP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Sadia</a:t>
            </a:r>
            <a:r>
              <a:rPr sz="2350" spc="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595959"/>
                </a:solidFill>
                <a:latin typeface="Arial MT"/>
                <a:cs typeface="Arial MT"/>
              </a:rPr>
              <a:t>Islam Lecturer</a:t>
            </a:r>
            <a:endParaRPr sz="2350">
              <a:latin typeface="Arial MT"/>
              <a:cs typeface="Arial MT"/>
            </a:endParaRPr>
          </a:p>
          <a:p>
            <a:pPr marL="12700" marR="5080" algn="ctr">
              <a:lnSpc>
                <a:spcPts val="2280"/>
              </a:lnSpc>
              <a:spcBef>
                <a:spcPts val="10"/>
              </a:spcBef>
            </a:pP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Department</a:t>
            </a:r>
            <a:r>
              <a:rPr sz="235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of Computer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Science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595959"/>
                </a:solidFill>
                <a:latin typeface="Arial MT"/>
                <a:cs typeface="Arial MT"/>
              </a:rPr>
              <a:t>engineering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United</a:t>
            </a:r>
            <a:r>
              <a:rPr sz="235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International</a:t>
            </a:r>
            <a:r>
              <a:rPr sz="235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2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643076"/>
            <a:ext cx="8101330" cy="218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used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understand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relationship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between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independent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dependent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variables.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works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labelled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data.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e.g.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35"/>
              </a:spcBef>
              <a:buClr>
                <a:srgbClr val="595959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Maps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where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endParaRPr sz="18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Numerical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Real</a:t>
            </a:r>
            <a:endParaRPr sz="1400">
              <a:latin typeface="Arial MT"/>
              <a:cs typeface="Arial MT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Continuous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2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Regression</a:t>
            </a:r>
            <a:r>
              <a:rPr spc="-4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769429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Example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predicting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house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prices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based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square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footage,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number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bedrooms,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number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bathrooms,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age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house.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924" y="2430825"/>
            <a:ext cx="4922575" cy="1637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62255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Linear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4125" y="1643076"/>
            <a:ext cx="336550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2654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Simple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endParaRPr sz="1800">
              <a:latin typeface="Arial MT"/>
              <a:cs typeface="Arial MT"/>
            </a:endParaRPr>
          </a:p>
          <a:p>
            <a:pPr marL="265430" indent="-252729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2654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Multiple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endParaRPr sz="1800">
              <a:latin typeface="Arial MT"/>
              <a:cs typeface="Arial MT"/>
            </a:endParaRPr>
          </a:p>
          <a:p>
            <a:pPr marL="265430" indent="-252729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2654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Multivariate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30775" y="903573"/>
            <a:ext cx="3924935" cy="4845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180"/>
              </a:lnSpc>
              <a:spcBef>
                <a:spcPts val="204"/>
              </a:spcBef>
            </a:pPr>
            <a:r>
              <a:rPr sz="1050" dirty="0">
                <a:latin typeface="Arial MT"/>
                <a:cs typeface="Arial MT"/>
              </a:rPr>
              <a:t>Linear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regression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method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predict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dependent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variable</a:t>
            </a:r>
            <a:r>
              <a:rPr sz="1050" spc="-25" dirty="0">
                <a:latin typeface="Arial MT"/>
                <a:cs typeface="Arial MT"/>
              </a:rPr>
              <a:t> (Y) </a:t>
            </a:r>
            <a:r>
              <a:rPr sz="1050" dirty="0">
                <a:latin typeface="Arial MT"/>
                <a:cs typeface="Arial MT"/>
              </a:rPr>
              <a:t>using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or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more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independent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variables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(X)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drawing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straight </a:t>
            </a:r>
            <a:r>
              <a:rPr sz="1050" dirty="0">
                <a:latin typeface="Arial MT"/>
                <a:cs typeface="Arial MT"/>
              </a:rPr>
              <a:t>line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through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data.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0325" y="2306923"/>
            <a:ext cx="3695065" cy="212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2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Main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Idea: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ts val="1175"/>
              </a:lnSpc>
            </a:pPr>
            <a:r>
              <a:rPr sz="1050" dirty="0">
                <a:latin typeface="Arial MT"/>
                <a:cs typeface="Arial MT"/>
              </a:rPr>
              <a:t>Fit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best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predicts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based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X.</a:t>
            </a: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ts val="1180"/>
              </a:lnSpc>
              <a:spcBef>
                <a:spcPts val="60"/>
              </a:spcBef>
            </a:pPr>
            <a:r>
              <a:rPr sz="1050" dirty="0">
                <a:latin typeface="Arial MT"/>
                <a:cs typeface="Arial MT"/>
              </a:rPr>
              <a:t>Minimize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distance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predicted line.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ts val="1220"/>
              </a:lnSpc>
              <a:spcBef>
                <a:spcPts val="1065"/>
              </a:spcBef>
            </a:pPr>
            <a:r>
              <a:rPr sz="1050" dirty="0">
                <a:latin typeface="Arial MT"/>
                <a:cs typeface="Arial MT"/>
              </a:rPr>
              <a:t>4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Assumptions:</a:t>
            </a:r>
            <a:endParaRPr sz="1050">
              <a:latin typeface="Arial MT"/>
              <a:cs typeface="Arial MT"/>
            </a:endParaRPr>
          </a:p>
          <a:p>
            <a:pPr marL="12700" marR="279400">
              <a:lnSpc>
                <a:spcPts val="1180"/>
              </a:lnSpc>
              <a:spcBef>
                <a:spcPts val="65"/>
              </a:spcBef>
            </a:pPr>
            <a:r>
              <a:rPr sz="1050" dirty="0">
                <a:latin typeface="Arial MT"/>
                <a:cs typeface="Arial MT"/>
              </a:rPr>
              <a:t>Straight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Line: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Relationship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between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X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Y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linear. </a:t>
            </a:r>
            <a:r>
              <a:rPr sz="1050" dirty="0">
                <a:latin typeface="Arial MT"/>
                <a:cs typeface="Arial MT"/>
              </a:rPr>
              <a:t>Independent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Data: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Data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points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don’t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affect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each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other. </a:t>
            </a:r>
            <a:r>
              <a:rPr sz="1050" dirty="0">
                <a:latin typeface="Arial MT"/>
                <a:cs typeface="Arial MT"/>
              </a:rPr>
              <a:t>Equal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Spread: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Errors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are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evenly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spread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(no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patterns). </a:t>
            </a:r>
            <a:r>
              <a:rPr sz="1050" dirty="0">
                <a:latin typeface="Arial MT"/>
                <a:cs typeface="Arial MT"/>
              </a:rPr>
              <a:t>Normal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Errors: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Errors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follow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normal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distribution.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ts val="1220"/>
              </a:lnSpc>
              <a:spcBef>
                <a:spcPts val="1050"/>
              </a:spcBef>
            </a:pPr>
            <a:r>
              <a:rPr sz="1050" dirty="0">
                <a:latin typeface="Arial MT"/>
                <a:cs typeface="Arial MT"/>
              </a:rPr>
              <a:t>Why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Use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It?:</a:t>
            </a:r>
            <a:endParaRPr sz="1050">
              <a:latin typeface="Arial MT"/>
              <a:cs typeface="Arial MT"/>
            </a:endParaRPr>
          </a:p>
          <a:p>
            <a:pPr marL="12700" marR="116205">
              <a:lnSpc>
                <a:spcPts val="1180"/>
              </a:lnSpc>
              <a:spcBef>
                <a:spcPts val="65"/>
              </a:spcBef>
            </a:pPr>
            <a:r>
              <a:rPr sz="1050" dirty="0">
                <a:latin typeface="Arial MT"/>
                <a:cs typeface="Arial MT"/>
              </a:rPr>
              <a:t>Predict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outcomes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(e.g.,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exam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scores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based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study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hours). </a:t>
            </a:r>
            <a:r>
              <a:rPr sz="1050" dirty="0">
                <a:latin typeface="Arial MT"/>
                <a:cs typeface="Arial MT"/>
              </a:rPr>
              <a:t>Find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simple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relationships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data.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2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Simple</a:t>
            </a:r>
            <a:r>
              <a:rPr spc="25" dirty="0"/>
              <a:t> </a:t>
            </a:r>
            <a:r>
              <a:rPr dirty="0"/>
              <a:t>Linear</a:t>
            </a:r>
            <a:r>
              <a:rPr spc="25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643076"/>
            <a:ext cx="536956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(X)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variable(Y)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Mapping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line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 </a:t>
            </a:r>
            <a:r>
              <a:rPr sz="1800" spc="-220" dirty="0">
                <a:solidFill>
                  <a:srgbClr val="595959"/>
                </a:solidFill>
                <a:latin typeface="Arial MT"/>
                <a:cs typeface="Arial MT"/>
              </a:rPr>
              <a:t>ω0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+ 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ω1.x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find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20" dirty="0">
                <a:solidFill>
                  <a:srgbClr val="595959"/>
                </a:solidFill>
                <a:latin typeface="Arial MT"/>
                <a:cs typeface="Arial MT"/>
              </a:rPr>
              <a:t>ω0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ω1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0569" y="2156467"/>
            <a:ext cx="4546564" cy="27035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2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Simple Linear Regression</a:t>
            </a:r>
            <a:r>
              <a:rPr spc="5" dirty="0"/>
              <a:t> </a:t>
            </a:r>
            <a:r>
              <a:rPr spc="-10" dirty="0"/>
              <a:t>Cont.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1687" y="1210712"/>
            <a:ext cx="4505325" cy="1419860"/>
            <a:chOff x="311687" y="1210712"/>
            <a:chExt cx="4505325" cy="1419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687" y="1210712"/>
              <a:ext cx="1590674" cy="6000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687" y="1810800"/>
              <a:ext cx="4505324" cy="8191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8925" y="1402550"/>
              <a:ext cx="282649" cy="2680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8675" y="2085375"/>
              <a:ext cx="282649" cy="2680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5150" y="1405853"/>
              <a:ext cx="282649" cy="2680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4925" y="2082100"/>
              <a:ext cx="282649" cy="26802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11687" y="2736037"/>
            <a:ext cx="4143375" cy="2085975"/>
            <a:chOff x="311687" y="2736037"/>
            <a:chExt cx="4143375" cy="208597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687" y="2736037"/>
              <a:ext cx="4143374" cy="20859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4725" y="3093549"/>
              <a:ext cx="282649" cy="2680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800" y="3279950"/>
              <a:ext cx="282649" cy="2164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4600" y="4192374"/>
              <a:ext cx="282649" cy="2680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2125" y="3090275"/>
              <a:ext cx="282649" cy="2680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3925" y="4189100"/>
              <a:ext cx="282649" cy="2680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925" y="4359501"/>
              <a:ext cx="282649" cy="268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Simple Linear Regression</a:t>
            </a:r>
            <a:r>
              <a:rPr spc="5" dirty="0"/>
              <a:t> </a:t>
            </a:r>
            <a:r>
              <a:rPr spc="-10" dirty="0"/>
              <a:t>Cont.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2475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two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equations: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7900" y="2892600"/>
            <a:ext cx="2933700" cy="1847850"/>
            <a:chOff x="707900" y="2892600"/>
            <a:chExt cx="2933700" cy="1847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900" y="2892600"/>
              <a:ext cx="2933699" cy="18478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4224" y="3418975"/>
              <a:ext cx="282649" cy="257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9075" y="4301825"/>
              <a:ext cx="282649" cy="2164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9150" y="3418975"/>
              <a:ext cx="282649" cy="257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07474" y="4305100"/>
              <a:ext cx="282649" cy="20984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974225" y="2835450"/>
            <a:ext cx="3143250" cy="1962150"/>
            <a:chOff x="4974225" y="2835450"/>
            <a:chExt cx="3143250" cy="196215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4225" y="2835450"/>
              <a:ext cx="3143249" cy="19621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2700" y="3202575"/>
              <a:ext cx="282649" cy="2164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65199" y="3205850"/>
              <a:ext cx="282649" cy="2098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0200" y="4258150"/>
              <a:ext cx="282649" cy="25787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16037" y="1780200"/>
            <a:ext cx="4124325" cy="876300"/>
            <a:chOff x="316037" y="1780200"/>
            <a:chExt cx="4124325" cy="87630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037" y="1780200"/>
              <a:ext cx="4124324" cy="876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225" y="2194775"/>
              <a:ext cx="274099" cy="257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0725" y="2073700"/>
              <a:ext cx="282649" cy="257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950" y="2076975"/>
              <a:ext cx="282649" cy="257874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4517025" y="1770675"/>
            <a:ext cx="4057650" cy="895350"/>
            <a:chOff x="4517025" y="1770675"/>
            <a:chExt cx="4057650" cy="895350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17025" y="1770675"/>
              <a:ext cx="4057649" cy="8953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6750" y="2073700"/>
              <a:ext cx="282649" cy="2578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5800" y="2076975"/>
              <a:ext cx="282649" cy="2578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8525" y="2194775"/>
              <a:ext cx="282649" cy="257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>
                <a:latin typeface="Times New Roman"/>
                <a:cs typeface="Times New Roman"/>
              </a:rPr>
              <a:t>Simple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Linear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Regression </a:t>
            </a:r>
            <a:r>
              <a:rPr spc="-10" dirty="0">
                <a:latin typeface="Times New Roman"/>
                <a:cs typeface="Times New Roman"/>
              </a:rPr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977" y="1104105"/>
            <a:ext cx="3338620" cy="38452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5275" y="2545546"/>
            <a:ext cx="15995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Correlation</a:t>
            </a:r>
            <a:r>
              <a:rPr sz="1300" spc="-6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73D3E"/>
                </a:solidFill>
                <a:latin typeface="Times New Roman"/>
                <a:cs typeface="Times New Roman"/>
              </a:rPr>
              <a:t>Coefficient,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275" y="3381747"/>
            <a:ext cx="207645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The</a:t>
            </a:r>
            <a:r>
              <a:rPr sz="1300" spc="114" dirty="0">
                <a:solidFill>
                  <a:srgbClr val="373D3E"/>
                </a:solidFill>
                <a:latin typeface="Times New Roman"/>
                <a:cs typeface="Times New Roman"/>
              </a:rPr>
              <a:t>  </a:t>
            </a:r>
            <a:r>
              <a:rPr sz="1300" b="1" dirty="0">
                <a:solidFill>
                  <a:srgbClr val="373D3E"/>
                </a:solidFill>
                <a:latin typeface="Times New Roman"/>
                <a:cs typeface="Times New Roman"/>
              </a:rPr>
              <a:t>standard</a:t>
            </a:r>
            <a:r>
              <a:rPr sz="1300" b="1" spc="110" dirty="0">
                <a:solidFill>
                  <a:srgbClr val="373D3E"/>
                </a:solidFill>
                <a:latin typeface="Times New Roman"/>
                <a:cs typeface="Times New Roman"/>
              </a:rPr>
              <a:t>  </a:t>
            </a:r>
            <a:r>
              <a:rPr sz="1300" b="1" dirty="0">
                <a:solidFill>
                  <a:srgbClr val="373D3E"/>
                </a:solidFill>
                <a:latin typeface="Times New Roman"/>
                <a:cs typeface="Times New Roman"/>
              </a:rPr>
              <a:t>deviation</a:t>
            </a:r>
            <a:r>
              <a:rPr sz="1300" b="1" spc="114" dirty="0">
                <a:solidFill>
                  <a:srgbClr val="373D3E"/>
                </a:solidFill>
                <a:latin typeface="Times New Roman"/>
                <a:cs typeface="Times New Roman"/>
              </a:rPr>
              <a:t>  </a:t>
            </a:r>
            <a:r>
              <a:rPr sz="1300" spc="-25" dirty="0">
                <a:solidFill>
                  <a:srgbClr val="373D3E"/>
                </a:solidFill>
                <a:latin typeface="Times New Roman"/>
                <a:cs typeface="Times New Roman"/>
              </a:rPr>
              <a:t>is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calculated</a:t>
            </a:r>
            <a:r>
              <a:rPr sz="1300" spc="-1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as</a:t>
            </a:r>
            <a:r>
              <a:rPr sz="1300" spc="-1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the</a:t>
            </a:r>
            <a:r>
              <a:rPr sz="1300" spc="-1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square</a:t>
            </a:r>
            <a:r>
              <a:rPr sz="1300" spc="-1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root</a:t>
            </a:r>
            <a:r>
              <a:rPr sz="1300" spc="-1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25" dirty="0">
                <a:solidFill>
                  <a:srgbClr val="373D3E"/>
                </a:solidFill>
                <a:latin typeface="Times New Roman"/>
                <a:cs typeface="Times New Roman"/>
              </a:rPr>
              <a:t>of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variance</a:t>
            </a:r>
            <a:r>
              <a:rPr sz="1300" spc="23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by</a:t>
            </a:r>
            <a:r>
              <a:rPr sz="1300" spc="23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determining</a:t>
            </a:r>
            <a:r>
              <a:rPr sz="1300" spc="24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20" dirty="0">
                <a:solidFill>
                  <a:srgbClr val="373D3E"/>
                </a:solidFill>
                <a:latin typeface="Times New Roman"/>
                <a:cs typeface="Times New Roman"/>
              </a:rPr>
              <a:t>each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data</a:t>
            </a:r>
            <a:r>
              <a:rPr sz="1300" spc="18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point’s</a:t>
            </a:r>
            <a:r>
              <a:rPr sz="1300" spc="18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deviation</a:t>
            </a:r>
            <a:r>
              <a:rPr sz="1300" spc="18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73D3E"/>
                </a:solidFill>
                <a:latin typeface="Times New Roman"/>
                <a:cs typeface="Times New Roman"/>
              </a:rPr>
              <a:t>relative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to</a:t>
            </a:r>
            <a:r>
              <a:rPr sz="1300" spc="-1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the</a:t>
            </a:r>
            <a:r>
              <a:rPr sz="1300" spc="-1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73D3E"/>
                </a:solidFill>
                <a:latin typeface="Times New Roman"/>
                <a:cs typeface="Times New Roman"/>
              </a:rPr>
              <a:t>mean.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solidFill>
                  <a:srgbClr val="373D3E"/>
                </a:solidFill>
                <a:latin typeface="Times New Roman"/>
                <a:cs typeface="Times New Roman"/>
              </a:rPr>
              <a:t>Linear</a:t>
            </a:r>
            <a:r>
              <a:rPr sz="2400" spc="9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73D3E"/>
                </a:solidFill>
                <a:latin typeface="Times New Roman"/>
                <a:cs typeface="Times New Roman"/>
              </a:rPr>
              <a:t>Correlation</a:t>
            </a:r>
            <a:r>
              <a:rPr sz="2400" spc="9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73D3E"/>
                </a:solidFill>
                <a:latin typeface="Times New Roman"/>
                <a:cs typeface="Times New Roman"/>
              </a:rPr>
              <a:t>Coefficient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Because</a:t>
            </a:r>
            <a:r>
              <a:rPr spc="-25" dirty="0"/>
              <a:t> </a:t>
            </a:r>
            <a:r>
              <a:rPr dirty="0"/>
              <a:t>visual</a:t>
            </a:r>
            <a:r>
              <a:rPr spc="-20" dirty="0"/>
              <a:t> </a:t>
            </a:r>
            <a:r>
              <a:rPr dirty="0"/>
              <a:t>examinations</a:t>
            </a:r>
            <a:r>
              <a:rPr spc="-20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largely</a:t>
            </a:r>
            <a:r>
              <a:rPr spc="-20" dirty="0"/>
              <a:t> </a:t>
            </a:r>
            <a:r>
              <a:rPr dirty="0"/>
              <a:t>subjective,</a:t>
            </a:r>
            <a:r>
              <a:rPr spc="-20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need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more</a:t>
            </a:r>
            <a:r>
              <a:rPr spc="-20" dirty="0"/>
              <a:t> </a:t>
            </a:r>
            <a:r>
              <a:rPr dirty="0"/>
              <a:t>precise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dirty="0"/>
              <a:t>objective</a:t>
            </a:r>
            <a:r>
              <a:rPr spc="-35" dirty="0"/>
              <a:t> </a:t>
            </a:r>
            <a:r>
              <a:rPr dirty="0"/>
              <a:t>measure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define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correlation</a:t>
            </a:r>
            <a:r>
              <a:rPr spc="-30" dirty="0"/>
              <a:t> </a:t>
            </a:r>
            <a:r>
              <a:rPr dirty="0"/>
              <a:t>between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two</a:t>
            </a:r>
            <a:r>
              <a:rPr spc="-30" dirty="0"/>
              <a:t> </a:t>
            </a:r>
            <a:r>
              <a:rPr dirty="0"/>
              <a:t>variables.</a:t>
            </a:r>
            <a:r>
              <a:rPr spc="-65" dirty="0"/>
              <a:t> </a:t>
            </a:r>
            <a:r>
              <a:rPr spc="-95" dirty="0"/>
              <a:t>To</a:t>
            </a:r>
            <a:r>
              <a:rPr spc="-30" dirty="0"/>
              <a:t> </a:t>
            </a:r>
            <a:r>
              <a:rPr spc="-10" dirty="0"/>
              <a:t>quantify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strength</a:t>
            </a:r>
            <a:r>
              <a:rPr spc="-2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direction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relationship</a:t>
            </a:r>
            <a:r>
              <a:rPr spc="-25" dirty="0"/>
              <a:t> </a:t>
            </a:r>
            <a:r>
              <a:rPr dirty="0"/>
              <a:t>between</a:t>
            </a:r>
            <a:r>
              <a:rPr spc="-30" dirty="0"/>
              <a:t> </a:t>
            </a:r>
            <a:r>
              <a:rPr dirty="0"/>
              <a:t>two</a:t>
            </a:r>
            <a:r>
              <a:rPr spc="-25" dirty="0"/>
              <a:t> </a:t>
            </a:r>
            <a:r>
              <a:rPr dirty="0"/>
              <a:t>variables,</a:t>
            </a:r>
            <a:r>
              <a:rPr spc="-30" dirty="0"/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dirty="0"/>
              <a:t>use</a:t>
            </a:r>
            <a:r>
              <a:rPr spc="-25" dirty="0"/>
              <a:t> the </a:t>
            </a:r>
            <a:r>
              <a:rPr dirty="0"/>
              <a:t>linear</a:t>
            </a:r>
            <a:r>
              <a:rPr spc="-30" dirty="0"/>
              <a:t> </a:t>
            </a:r>
            <a:r>
              <a:rPr dirty="0"/>
              <a:t>correlation</a:t>
            </a:r>
            <a:r>
              <a:rPr spc="-30" dirty="0"/>
              <a:t> </a:t>
            </a:r>
            <a:r>
              <a:rPr spc="-10" dirty="0"/>
              <a:t>coefficient: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392" y="2569861"/>
            <a:ext cx="8298671" cy="22718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370" y="81825"/>
            <a:ext cx="4801730" cy="49803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62580" y="177920"/>
            <a:ext cx="4049780" cy="49126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2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Simple Linear Regression -</a:t>
            </a:r>
            <a:r>
              <a:rPr spc="5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3750" y="1378287"/>
            <a:ext cx="1828799" cy="14573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9587" y="3264449"/>
            <a:ext cx="7315199" cy="17645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2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Simple Linear Regression -</a:t>
            </a:r>
            <a:r>
              <a:rPr spc="5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962" y="1158600"/>
            <a:ext cx="2676524" cy="6191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975" y="2057387"/>
            <a:ext cx="3714749" cy="514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5600" y="3232400"/>
            <a:ext cx="3619499" cy="523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93475" y="1647825"/>
            <a:ext cx="1647824" cy="4095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6825" y="2867300"/>
            <a:ext cx="2696704" cy="383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359</Words>
  <Application>Microsoft Office PowerPoint</Application>
  <PresentationFormat>On-screen Show (16:9)</PresentationFormat>
  <Paragraphs>41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 MT</vt:lpstr>
      <vt:lpstr>Calibri</vt:lpstr>
      <vt:lpstr>Times New Roman</vt:lpstr>
      <vt:lpstr>Office Theme</vt:lpstr>
      <vt:lpstr>Regression</vt:lpstr>
      <vt:lpstr>Regression</vt:lpstr>
      <vt:lpstr>Regression Example</vt:lpstr>
      <vt:lpstr>Linear Regression</vt:lpstr>
      <vt:lpstr>Simple Linear Regression</vt:lpstr>
      <vt:lpstr>Simple Linear Regression Cont.</vt:lpstr>
      <vt:lpstr>Simple Linear Regression Cont.</vt:lpstr>
      <vt:lpstr>Simple Linear Regression Cont.</vt:lpstr>
      <vt:lpstr>Linear Correlation Coefficient</vt:lpstr>
      <vt:lpstr>PowerPoint Presentation</vt:lpstr>
      <vt:lpstr>Simple Linear Regression - Example</vt:lpstr>
      <vt:lpstr>Simple Linear Regression - 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Regression</dc:title>
  <cp:lastModifiedBy>Microsoft account</cp:lastModifiedBy>
  <cp:revision>2</cp:revision>
  <dcterms:created xsi:type="dcterms:W3CDTF">2024-11-16T07:58:00Z</dcterms:created>
  <dcterms:modified xsi:type="dcterms:W3CDTF">2024-11-16T08:24:34Z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2024-11-16T00:00:00Z</vt:filetime>
  </property>
</Properties>
</file>