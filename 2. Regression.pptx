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9144000" cy="5143500" type="screen16x9"/>
  <p:notesSz cx="9144000" cy="51435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5841" autoAdjust="0"/>
  </p:normalViewPr>
  <p:slideViewPr>
    <p:cSldViewPr>
      <p:cViewPr varScale="1">
        <p:scale>
          <a:sx n="60" d="100"/>
          <a:sy n="60" d="100"/>
        </p:scale>
        <p:origin x="1460" y="4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4DBE6-681C-449C-ADF5-BA5A8D521054}" type="datetimeFigureOut">
              <a:rPr lang="en-US" smtClean="0"/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24931C-CB89-48C1-894E-7A7D8D1FF3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8566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The image explains </a:t>
            </a:r>
            <a:r>
              <a:rPr lang="en-US" b="1" dirty="0" smtClean="0"/>
              <a:t>Multiple Linear Regression (MLR)</a:t>
            </a:r>
            <a:r>
              <a:rPr lang="en-US" dirty="0" smtClean="0"/>
              <a:t>, a statistical method used to model the relationship between one </a:t>
            </a:r>
            <a:r>
              <a:rPr lang="en-US" b="1" dirty="0" smtClean="0"/>
              <a:t>dependent variable</a:t>
            </a:r>
            <a:r>
              <a:rPr lang="en-US" dirty="0" smtClean="0"/>
              <a:t> (here, "Income") and two or more </a:t>
            </a:r>
            <a:r>
              <a:rPr lang="en-US" b="1" dirty="0" smtClean="0"/>
              <a:t>independent variables</a:t>
            </a:r>
            <a:r>
              <a:rPr lang="en-US" dirty="0" smtClean="0"/>
              <a:t> (e.g., "Age" and "Experience").</a:t>
            </a:r>
          </a:p>
          <a:p>
            <a:r>
              <a:rPr lang="en-US" b="1" dirty="0" smtClean="0"/>
              <a:t>Key Points:</a:t>
            </a:r>
          </a:p>
          <a:p>
            <a:r>
              <a:rPr lang="en-US" b="1" dirty="0" smtClean="0"/>
              <a:t>Dependent Variable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This is the outcome or target variable we want to predict (e.g., "Income ($)").</a:t>
            </a:r>
          </a:p>
          <a:p>
            <a:r>
              <a:rPr lang="en-US" b="1" dirty="0" smtClean="0"/>
              <a:t>Independent Variables</a:t>
            </a:r>
            <a:r>
              <a:rPr lang="en-US" dirty="0" smtClean="0"/>
              <a:t>:</a:t>
            </a:r>
          </a:p>
          <a:p>
            <a:pPr lvl="1"/>
            <a:r>
              <a:rPr lang="en-US" dirty="0" smtClean="0"/>
              <a:t>These are the predictors or input variables that influence the dependent variable (e.g., "Age" and "Experience (in Years)").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4931C-CB89-48C1-894E-7A7D8D1FF33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4128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Multivariate Linear Regression (</a:t>
            </a:r>
            <a:r>
              <a:rPr lang="en-US" dirty="0" err="1" smtClean="0"/>
              <a:t>MvLR</a:t>
            </a:r>
            <a:r>
              <a:rPr lang="en-US" dirty="0" smtClean="0"/>
              <a:t>) predicts multiple outcomes (dependent variables) using multiple inputs (independent variables) in one model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4931C-CB89-48C1-894E-7A7D8D1FF330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4560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Polynomial Regression adds polynomial terms to Linear Regression to handle non-linear relationships between inputs and outputs.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4931C-CB89-48C1-894E-7A7D8D1FF33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27537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"R-squared (R²) measures how well the independent variables explain the </a:t>
            </a:r>
            <a:r>
              <a:rPr lang="en-US" sz="1200" spc="-5" dirty="0" err="1" smtClean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lang="en-US" sz="1200" spc="-5" dirty="0" smtClean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sz="1200" dirty="0" smtClean="0">
                <a:solidFill>
                  <a:srgbClr val="595959"/>
                </a:solidFill>
                <a:latin typeface="Arial MT"/>
                <a:cs typeface="Arial MT"/>
              </a:rPr>
              <a:t>variation </a:t>
            </a:r>
            <a:r>
              <a:rPr lang="en-US" sz="1200" spc="-5" dirty="0" smtClean="0">
                <a:solidFill>
                  <a:srgbClr val="595959"/>
                </a:solidFill>
                <a:latin typeface="Arial MT"/>
                <a:cs typeface="Arial MT"/>
              </a:rPr>
              <a:t>in the</a:t>
            </a:r>
            <a:r>
              <a:rPr lang="en-US" dirty="0" smtClean="0"/>
              <a:t> dependent variable. It ranges from 0 to 1:</a:t>
            </a:r>
          </a:p>
          <a:p>
            <a:r>
              <a:rPr lang="en-US" b="1" dirty="0" smtClean="0"/>
              <a:t>1</a:t>
            </a:r>
            <a:r>
              <a:rPr lang="en-US" dirty="0" smtClean="0"/>
              <a:t> = </a:t>
            </a:r>
            <a:r>
              <a:rPr lang="en-US" dirty="0" smtClean="0"/>
              <a:t>Model fits data perfectly</a:t>
            </a:r>
            <a:r>
              <a:rPr lang="en-US" dirty="0" smtClean="0"/>
              <a:t>.</a:t>
            </a:r>
          </a:p>
          <a:p>
            <a:r>
              <a:rPr lang="en-US" b="1" dirty="0" smtClean="0"/>
              <a:t>85%-100%</a:t>
            </a:r>
            <a:r>
              <a:rPr lang="en-US" dirty="0" smtClean="0"/>
              <a:t> = Model fits data well(Good fit).</a:t>
            </a:r>
          </a:p>
          <a:p>
            <a:r>
              <a:rPr lang="en-US" b="1" dirty="0" smtClean="0"/>
              <a:t>70% or less</a:t>
            </a:r>
            <a:r>
              <a:rPr lang="en-US" dirty="0" smtClean="0"/>
              <a:t> = Model doesn't fit data well(Poor</a:t>
            </a:r>
            <a:r>
              <a:rPr lang="en-US" baseline="0" dirty="0" smtClean="0"/>
              <a:t> Fit)</a:t>
            </a:r>
            <a:r>
              <a:rPr lang="en-US" dirty="0" smtClean="0"/>
              <a:t>.</a:t>
            </a:r>
          </a:p>
          <a:p>
            <a:r>
              <a:rPr lang="en-US" dirty="0" smtClean="0"/>
              <a:t>It tells you how much of the data's variability is captured by the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4931C-CB89-48C1-894E-7A7D8D1FF330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724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Mean Squared Error (MSE) measures how far predictions are from actual values by squaring the errors and averaging them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4931C-CB89-48C1-894E-7A7D8D1FF330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384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Mean Absolute Error (MAE) measures how far predictions are from actual values by finding absolute values of errors and</a:t>
            </a:r>
            <a:r>
              <a:rPr lang="en-US" baseline="0" dirty="0" smtClean="0"/>
              <a:t> </a:t>
            </a:r>
            <a:r>
              <a:rPr lang="en-US" dirty="0" smtClean="0"/>
              <a:t> averaging</a:t>
            </a:r>
            <a:r>
              <a:rPr lang="en-US" baseline="0" dirty="0" smtClean="0"/>
              <a:t> them</a:t>
            </a:r>
            <a:r>
              <a:rPr lang="en-US" dirty="0" smtClean="0"/>
              <a:t>.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024931C-CB89-48C1-894E-7A7D8D1FF330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189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4725" y="210623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4725" y="210623"/>
            <a:ext cx="8374549" cy="4095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4725" y="1042857"/>
            <a:ext cx="8374549" cy="12877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595959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image" Target="../media/image6.jpg"/><Relationship Id="rId4" Type="http://schemas.openxmlformats.org/officeDocument/2006/relationships/image" Target="../media/image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7" Type="http://schemas.openxmlformats.org/officeDocument/2006/relationships/image" Target="../media/image11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6.jp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g"/><Relationship Id="rId5" Type="http://schemas.openxmlformats.org/officeDocument/2006/relationships/image" Target="../media/image21.jpg"/><Relationship Id="rId4" Type="http://schemas.openxmlformats.org/officeDocument/2006/relationships/image" Target="../media/image20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jp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8.jp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jp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g"/><Relationship Id="rId2" Type="http://schemas.openxmlformats.org/officeDocument/2006/relationships/image" Target="../media/image43.jp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6.jpg"/><Relationship Id="rId4" Type="http://schemas.openxmlformats.org/officeDocument/2006/relationships/image" Target="../media/image4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9239" y="1196154"/>
            <a:ext cx="3364865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200" spc="-5" dirty="0"/>
              <a:t>Regression</a:t>
            </a:r>
            <a:endParaRPr sz="5200"/>
          </a:p>
        </p:txBody>
      </p:sp>
      <p:sp>
        <p:nvSpPr>
          <p:cNvPr id="3" name="object 3"/>
          <p:cNvSpPr txBox="1"/>
          <p:nvPr/>
        </p:nvSpPr>
        <p:spPr>
          <a:xfrm>
            <a:off x="1192008" y="2837025"/>
            <a:ext cx="6755130" cy="1259205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2590165" marR="2581275" algn="ctr">
              <a:lnSpc>
                <a:spcPts val="2280"/>
              </a:lnSpc>
              <a:spcBef>
                <a:spcPts val="655"/>
              </a:spcBef>
            </a:pP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Sadia</a:t>
            </a:r>
            <a:r>
              <a:rPr sz="2350" spc="-7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Islam </a:t>
            </a:r>
            <a:r>
              <a:rPr sz="2350" spc="-6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Lecturer</a:t>
            </a:r>
            <a:endParaRPr sz="2350">
              <a:latin typeface="Arial MT"/>
              <a:cs typeface="Arial MT"/>
            </a:endParaRPr>
          </a:p>
          <a:p>
            <a:pPr marL="12700" marR="5080" algn="ctr">
              <a:lnSpc>
                <a:spcPts val="2280"/>
              </a:lnSpc>
              <a:spcBef>
                <a:spcPts val="10"/>
              </a:spcBef>
            </a:pP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Department of Computer Science and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engineering </a:t>
            </a:r>
            <a:r>
              <a:rPr sz="2350" spc="-6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10" dirty="0">
                <a:solidFill>
                  <a:srgbClr val="595959"/>
                </a:solidFill>
                <a:latin typeface="Arial MT"/>
                <a:cs typeface="Arial MT"/>
              </a:rPr>
              <a:t>United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International</a:t>
            </a:r>
            <a:r>
              <a:rPr sz="23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2350" spc="5" dirty="0">
                <a:solidFill>
                  <a:srgbClr val="595959"/>
                </a:solidFill>
                <a:latin typeface="Arial MT"/>
                <a:cs typeface="Arial MT"/>
              </a:rPr>
              <a:t>University</a:t>
            </a:r>
            <a:endParaRPr sz="23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164401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643076"/>
            <a:ext cx="8099425" cy="21869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Regression is used to understand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relationship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between independent and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dependent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variables.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 works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with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labelled data.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e.g. linear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endParaRPr sz="1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buClr>
                <a:srgbClr val="595959"/>
              </a:buClr>
              <a:buFont typeface="Arial MT"/>
              <a:buChar char="●"/>
            </a:pPr>
            <a:endParaRPr sz="20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170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Maps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where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</a:t>
            </a:r>
            <a:endParaRPr sz="1800">
              <a:latin typeface="Arial MT"/>
              <a:cs typeface="Arial MT"/>
            </a:endParaRPr>
          </a:p>
          <a:p>
            <a:pPr marL="836294" lvl="1" indent="-336550">
              <a:lnSpc>
                <a:spcPct val="100000"/>
              </a:lnSpc>
              <a:spcBef>
                <a:spcPts val="34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Numerical</a:t>
            </a:r>
            <a:endParaRPr sz="1400">
              <a:latin typeface="Arial MT"/>
              <a:cs typeface="Arial MT"/>
            </a:endParaRPr>
          </a:p>
          <a:p>
            <a:pPr marL="836294" lvl="1" indent="-336550">
              <a:lnSpc>
                <a:spcPct val="100000"/>
              </a:lnSpc>
              <a:spcBef>
                <a:spcPts val="254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Real</a:t>
            </a:r>
            <a:endParaRPr sz="1400">
              <a:latin typeface="Arial MT"/>
              <a:cs typeface="Arial MT"/>
            </a:endParaRPr>
          </a:p>
          <a:p>
            <a:pPr marL="836294" lvl="1" indent="-336550">
              <a:lnSpc>
                <a:spcPct val="100000"/>
              </a:lnSpc>
              <a:spcBef>
                <a:spcPts val="250"/>
              </a:spcBef>
              <a:buChar char="○"/>
              <a:tabLst>
                <a:tab pos="836294" algn="l"/>
                <a:tab pos="836930" algn="l"/>
              </a:tabLst>
            </a:pPr>
            <a:r>
              <a:rPr sz="1400" spc="-5" dirty="0">
                <a:solidFill>
                  <a:srgbClr val="595959"/>
                </a:solidFill>
                <a:latin typeface="Arial MT"/>
                <a:cs typeface="Arial MT"/>
              </a:rPr>
              <a:t>Continuous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9749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Regression</a:t>
            </a:r>
            <a:r>
              <a:rPr spc="-70" dirty="0"/>
              <a:t> </a:t>
            </a:r>
            <a:r>
              <a:rPr spc="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175208"/>
            <a:ext cx="7688580" cy="656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14999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Example of predicting house prices based on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square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footage, number of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bedrooms,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number of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bathrooms, and age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the house.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17924" y="2430825"/>
            <a:ext cx="4922575" cy="16375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262191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Linear</a:t>
            </a:r>
            <a:r>
              <a:rPr spc="-80" dirty="0"/>
              <a:t> </a:t>
            </a:r>
            <a:r>
              <a:rPr spc="5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64125" y="1643076"/>
            <a:ext cx="3366135" cy="972185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266065" indent="-254000">
              <a:lnSpc>
                <a:spcPct val="100000"/>
              </a:lnSpc>
              <a:spcBef>
                <a:spcPts val="420"/>
              </a:spcBef>
              <a:buAutoNum type="arabicPeriod"/>
              <a:tabLst>
                <a:tab pos="26670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Simple</a:t>
            </a:r>
            <a:r>
              <a:rPr sz="1800" spc="-4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endParaRPr sz="1800">
              <a:latin typeface="Arial MT"/>
              <a:cs typeface="Arial MT"/>
            </a:endParaRPr>
          </a:p>
          <a:p>
            <a:pPr marL="266065" indent="-2540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2667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Multiple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endParaRPr sz="1800">
              <a:latin typeface="Arial MT"/>
              <a:cs typeface="Arial MT"/>
            </a:endParaRPr>
          </a:p>
          <a:p>
            <a:pPr marL="266065" indent="-254000">
              <a:lnSpc>
                <a:spcPct val="100000"/>
              </a:lnSpc>
              <a:spcBef>
                <a:spcPts val="325"/>
              </a:spcBef>
              <a:buAutoNum type="arabicPeriod"/>
              <a:tabLst>
                <a:tab pos="26670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Multivariate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Linear</a:t>
            </a:r>
            <a:r>
              <a:rPr sz="1800" spc="-4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Regression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3684904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Simple</a:t>
            </a:r>
            <a:r>
              <a:rPr spc="-50" dirty="0"/>
              <a:t> </a:t>
            </a:r>
            <a:r>
              <a:rPr spc="5" dirty="0"/>
              <a:t>Linear</a:t>
            </a:r>
            <a:r>
              <a:rPr spc="-40" dirty="0"/>
              <a:t> </a:t>
            </a:r>
            <a:r>
              <a:rPr spc="5" dirty="0"/>
              <a:t>Regression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75249" y="1643076"/>
            <a:ext cx="5370195" cy="1287780"/>
          </a:xfrm>
          <a:prstGeom prst="rect">
            <a:avLst/>
          </a:prstGeom>
        </p:spPr>
        <p:txBody>
          <a:bodyPr vert="horz" wrap="square" lIns="0" tIns="5334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42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input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(X)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one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output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variable(Y)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Mapping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X</a:t>
            </a:r>
            <a:r>
              <a:rPr sz="1800" spc="-2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1800" spc="-5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using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line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=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60" dirty="0">
                <a:solidFill>
                  <a:srgbClr val="595959"/>
                </a:solidFill>
                <a:latin typeface="Arial MT"/>
                <a:cs typeface="Arial MT"/>
              </a:rPr>
              <a:t>ω</a:t>
            </a:r>
            <a:r>
              <a:rPr sz="1800" spc="-145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+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105" dirty="0">
                <a:solidFill>
                  <a:srgbClr val="595959"/>
                </a:solidFill>
                <a:latin typeface="Arial MT"/>
                <a:cs typeface="Arial MT"/>
              </a:rPr>
              <a:t>ω1.x</a:t>
            </a:r>
            <a:endParaRPr sz="1800">
              <a:latin typeface="Arial MT"/>
              <a:cs typeface="Arial MT"/>
            </a:endParaRPr>
          </a:p>
          <a:p>
            <a:pPr marL="379095" indent="-367030">
              <a:lnSpc>
                <a:spcPct val="100000"/>
              </a:lnSpc>
              <a:spcBef>
                <a:spcPts val="325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W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e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nee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o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fin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60" dirty="0">
                <a:solidFill>
                  <a:srgbClr val="595959"/>
                </a:solidFill>
                <a:latin typeface="Arial MT"/>
                <a:cs typeface="Arial MT"/>
              </a:rPr>
              <a:t>ω</a:t>
            </a:r>
            <a:r>
              <a:rPr sz="1800" spc="-145" dirty="0">
                <a:solidFill>
                  <a:srgbClr val="595959"/>
                </a:solidFill>
                <a:latin typeface="Arial MT"/>
                <a:cs typeface="Arial MT"/>
              </a:rPr>
              <a:t>0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an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d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204" dirty="0">
                <a:solidFill>
                  <a:srgbClr val="595959"/>
                </a:solidFill>
                <a:latin typeface="Arial MT"/>
                <a:cs typeface="Arial MT"/>
              </a:rPr>
              <a:t>ω1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0569" y="2156467"/>
            <a:ext cx="4546564" cy="270359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45377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Simple</a:t>
            </a:r>
            <a:r>
              <a:rPr spc="-25" dirty="0"/>
              <a:t> </a:t>
            </a:r>
            <a:r>
              <a:rPr spc="5" dirty="0"/>
              <a:t>Linear</a:t>
            </a:r>
            <a:r>
              <a:rPr spc="-20" dirty="0"/>
              <a:t> </a:t>
            </a:r>
            <a:r>
              <a:rPr spc="5" dirty="0"/>
              <a:t>Regression</a:t>
            </a:r>
            <a:r>
              <a:rPr spc="-20" dirty="0"/>
              <a:t> </a:t>
            </a:r>
            <a:r>
              <a:rPr dirty="0"/>
              <a:t>Cont.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11687" y="1210712"/>
            <a:ext cx="4505325" cy="1419860"/>
            <a:chOff x="311687" y="1210712"/>
            <a:chExt cx="4505325" cy="1419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11687" y="1210712"/>
              <a:ext cx="1590674" cy="60007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1687" y="1810800"/>
              <a:ext cx="4505324" cy="8191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08925" y="1402550"/>
              <a:ext cx="282649" cy="26802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78675" y="2085375"/>
              <a:ext cx="282649" cy="268024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55150" y="1405853"/>
              <a:ext cx="282649" cy="26802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824925" y="2082100"/>
              <a:ext cx="282649" cy="26802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311687" y="2736037"/>
            <a:ext cx="4143375" cy="2085975"/>
            <a:chOff x="311687" y="2736037"/>
            <a:chExt cx="4143375" cy="2085975"/>
          </a:xfrm>
        </p:grpSpPr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687" y="2736037"/>
              <a:ext cx="4143374" cy="2085974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54725" y="3093549"/>
              <a:ext cx="282649" cy="26802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6800" y="3279950"/>
              <a:ext cx="282649" cy="216403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4600" y="4192374"/>
              <a:ext cx="282649" cy="26802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92125" y="3090275"/>
              <a:ext cx="282649" cy="26802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3925" y="4189100"/>
              <a:ext cx="282649" cy="26802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4925" y="4359501"/>
              <a:ext cx="282649" cy="2680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505248"/>
            <a:ext cx="45377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Simple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Linear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Regression</a:t>
            </a:r>
            <a:r>
              <a:rPr sz="2500" spc="-20" dirty="0">
                <a:latin typeface="Arial MT"/>
                <a:cs typeface="Arial MT"/>
              </a:rPr>
              <a:t> </a:t>
            </a:r>
            <a:r>
              <a:rPr sz="2500" dirty="0">
                <a:latin typeface="Arial MT"/>
                <a:cs typeface="Arial MT"/>
              </a:rPr>
              <a:t>Cont.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216355"/>
            <a:ext cx="247332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</a:t>
            </a:r>
            <a:r>
              <a:rPr sz="1800" spc="-3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two</a:t>
            </a:r>
            <a:r>
              <a:rPr sz="1800" spc="-3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equations:</a:t>
            </a:r>
            <a:endParaRPr sz="18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707900" y="2892600"/>
            <a:ext cx="2933700" cy="1847850"/>
            <a:chOff x="707900" y="2892600"/>
            <a:chExt cx="2933700" cy="184785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7900" y="2892600"/>
              <a:ext cx="2933699" cy="184784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54224" y="3418975"/>
              <a:ext cx="282649" cy="25787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9075" y="4301825"/>
              <a:ext cx="282649" cy="21640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49150" y="3418975"/>
              <a:ext cx="282649" cy="25787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307474" y="4305100"/>
              <a:ext cx="282649" cy="209846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4974225" y="2835450"/>
            <a:ext cx="3143250" cy="1962150"/>
            <a:chOff x="4974225" y="2835450"/>
            <a:chExt cx="3143250" cy="1962150"/>
          </a:xfrm>
        </p:grpSpPr>
        <p:pic>
          <p:nvPicPr>
            <p:cNvPr id="1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74225" y="2835450"/>
              <a:ext cx="3143249" cy="1962149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2700" y="3202575"/>
              <a:ext cx="282649" cy="216403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65199" y="3205850"/>
              <a:ext cx="282649" cy="209847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250200" y="4258150"/>
              <a:ext cx="282649" cy="257874"/>
            </a:xfrm>
            <a:prstGeom prst="rect">
              <a:avLst/>
            </a:prstGeom>
          </p:spPr>
        </p:pic>
      </p:grpSp>
      <p:grpSp>
        <p:nvGrpSpPr>
          <p:cNvPr id="15" name="object 15"/>
          <p:cNvGrpSpPr/>
          <p:nvPr/>
        </p:nvGrpSpPr>
        <p:grpSpPr>
          <a:xfrm>
            <a:off x="316037" y="1780200"/>
            <a:ext cx="4124325" cy="876300"/>
            <a:chOff x="316037" y="1780200"/>
            <a:chExt cx="4124325" cy="876300"/>
          </a:xfrm>
        </p:grpSpPr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6037" y="1780200"/>
              <a:ext cx="4124324" cy="876299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225" y="2194775"/>
              <a:ext cx="274099" cy="25787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0725" y="2073700"/>
              <a:ext cx="282649" cy="257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00950" y="2076975"/>
              <a:ext cx="282649" cy="257874"/>
            </a:xfrm>
            <a:prstGeom prst="rect">
              <a:avLst/>
            </a:prstGeom>
          </p:spPr>
        </p:pic>
      </p:grpSp>
      <p:grpSp>
        <p:nvGrpSpPr>
          <p:cNvPr id="20" name="object 20"/>
          <p:cNvGrpSpPr/>
          <p:nvPr/>
        </p:nvGrpSpPr>
        <p:grpSpPr>
          <a:xfrm>
            <a:off x="4517025" y="1770675"/>
            <a:ext cx="4057650" cy="895350"/>
            <a:chOff x="4517025" y="1770675"/>
            <a:chExt cx="4057650" cy="895350"/>
          </a:xfrm>
        </p:grpSpPr>
        <p:pic>
          <p:nvPicPr>
            <p:cNvPr id="21" name="object 2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517025" y="1770675"/>
              <a:ext cx="4057649" cy="895349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996750" y="2073700"/>
              <a:ext cx="282649" cy="257874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55800" y="2076975"/>
              <a:ext cx="282649" cy="257874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58525" y="2194775"/>
              <a:ext cx="282649" cy="2578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5273"/>
            <a:ext cx="412051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>
                <a:latin typeface="Times New Roman"/>
                <a:cs typeface="Times New Roman"/>
              </a:rPr>
              <a:t>Simple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Linear</a:t>
            </a:r>
            <a:r>
              <a:rPr spc="-5" dirty="0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Regression 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977" y="1104105"/>
            <a:ext cx="3338620" cy="384529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955275" y="2545546"/>
            <a:ext cx="1595755" cy="223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Correlation</a:t>
            </a:r>
            <a:r>
              <a:rPr sz="1300" spc="-6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Coefficient,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55275" y="3381747"/>
            <a:ext cx="207645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20000"/>
              </a:lnSpc>
              <a:spcBef>
                <a:spcPts val="100"/>
              </a:spcBef>
            </a:pP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The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b="1" spc="-5" dirty="0">
                <a:solidFill>
                  <a:srgbClr val="373D3E"/>
                </a:solidFill>
                <a:latin typeface="Times New Roman"/>
                <a:cs typeface="Times New Roman"/>
              </a:rPr>
              <a:t>standard</a:t>
            </a:r>
            <a:r>
              <a:rPr sz="1300" b="1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b="1" spc="-5" dirty="0">
                <a:solidFill>
                  <a:srgbClr val="373D3E"/>
                </a:solidFill>
                <a:latin typeface="Times New Roman"/>
                <a:cs typeface="Times New Roman"/>
              </a:rPr>
              <a:t>deviation</a:t>
            </a:r>
            <a:r>
              <a:rPr sz="1300" b="1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is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calculated as the square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root of </a:t>
            </a:r>
            <a:r>
              <a:rPr sz="1300" spc="-31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variance by determining </a:t>
            </a: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each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 data </a:t>
            </a:r>
            <a:r>
              <a:rPr sz="1300" spc="-15" dirty="0">
                <a:solidFill>
                  <a:srgbClr val="373D3E"/>
                </a:solidFill>
                <a:latin typeface="Times New Roman"/>
                <a:cs typeface="Times New Roman"/>
              </a:rPr>
              <a:t>point’s </a:t>
            </a:r>
            <a:r>
              <a:rPr sz="1300" dirty="0">
                <a:solidFill>
                  <a:srgbClr val="373D3E"/>
                </a:solidFill>
                <a:latin typeface="Times New Roman"/>
                <a:cs typeface="Times New Roman"/>
              </a:rPr>
              <a:t>deviation relative </a:t>
            </a:r>
            <a:r>
              <a:rPr sz="1300" spc="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to</a:t>
            </a:r>
            <a:r>
              <a:rPr sz="1300" spc="-1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the</a:t>
            </a:r>
            <a:r>
              <a:rPr sz="1300" spc="-10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1300" spc="-5" dirty="0">
                <a:solidFill>
                  <a:srgbClr val="373D3E"/>
                </a:solidFill>
                <a:latin typeface="Times New Roman"/>
                <a:cs typeface="Times New Roman"/>
              </a:rPr>
              <a:t>mean.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355730"/>
            <a:ext cx="3762375" cy="3962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00" spc="5" dirty="0">
                <a:solidFill>
                  <a:srgbClr val="373D3E"/>
                </a:solidFill>
                <a:latin typeface="Times New Roman"/>
                <a:cs typeface="Times New Roman"/>
              </a:rPr>
              <a:t>Linear</a:t>
            </a:r>
            <a:r>
              <a:rPr sz="2400" spc="-1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373D3E"/>
                </a:solidFill>
                <a:latin typeface="Times New Roman"/>
                <a:cs typeface="Times New Roman"/>
              </a:rPr>
              <a:t>Correlation</a:t>
            </a:r>
            <a:r>
              <a:rPr sz="2400" spc="-15" dirty="0">
                <a:solidFill>
                  <a:srgbClr val="373D3E"/>
                </a:solidFill>
                <a:latin typeface="Times New Roman"/>
                <a:cs typeface="Times New Roman"/>
              </a:rPr>
              <a:t> </a:t>
            </a:r>
            <a:r>
              <a:rPr sz="2400" spc="5" dirty="0">
                <a:solidFill>
                  <a:srgbClr val="373D3E"/>
                </a:solidFill>
                <a:latin typeface="Times New Roman"/>
                <a:cs typeface="Times New Roman"/>
              </a:rPr>
              <a:t>Coefficient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pc="-5" dirty="0"/>
              <a:t>Because </a:t>
            </a:r>
            <a:r>
              <a:rPr dirty="0"/>
              <a:t>visual </a:t>
            </a:r>
            <a:r>
              <a:rPr spc="-5" dirty="0"/>
              <a:t>examinations are largely </a:t>
            </a:r>
            <a:r>
              <a:rPr dirty="0"/>
              <a:t>subjective, </a:t>
            </a:r>
            <a:r>
              <a:rPr spc="-5" dirty="0"/>
              <a:t>we need </a:t>
            </a:r>
            <a:r>
              <a:rPr dirty="0"/>
              <a:t>a more </a:t>
            </a:r>
            <a:r>
              <a:rPr spc="-5" dirty="0"/>
              <a:t>precise and </a:t>
            </a:r>
            <a:r>
              <a:rPr dirty="0"/>
              <a:t> </a:t>
            </a:r>
            <a:r>
              <a:rPr spc="-5" dirty="0"/>
              <a:t>objective </a:t>
            </a:r>
            <a:r>
              <a:rPr dirty="0"/>
              <a:t>measure </a:t>
            </a:r>
            <a:r>
              <a:rPr spc="-5" dirty="0"/>
              <a:t>to define the </a:t>
            </a:r>
            <a:r>
              <a:rPr dirty="0"/>
              <a:t>correlation </a:t>
            </a:r>
            <a:r>
              <a:rPr spc="-5" dirty="0"/>
              <a:t>between the two </a:t>
            </a:r>
            <a:r>
              <a:rPr dirty="0"/>
              <a:t>variables. </a:t>
            </a:r>
            <a:r>
              <a:rPr spc="-100" dirty="0"/>
              <a:t>To </a:t>
            </a:r>
            <a:r>
              <a:rPr spc="-5" dirty="0"/>
              <a:t>quantify </a:t>
            </a:r>
            <a:r>
              <a:rPr spc="-490" dirty="0"/>
              <a:t> </a:t>
            </a:r>
            <a:r>
              <a:rPr spc="-5" dirty="0"/>
              <a:t>the </a:t>
            </a:r>
            <a:r>
              <a:rPr dirty="0"/>
              <a:t>strength </a:t>
            </a:r>
            <a:r>
              <a:rPr spc="-5" dirty="0"/>
              <a:t>and direction of the </a:t>
            </a:r>
            <a:r>
              <a:rPr dirty="0"/>
              <a:t>relationship </a:t>
            </a:r>
            <a:r>
              <a:rPr spc="-5" dirty="0"/>
              <a:t>between two </a:t>
            </a:r>
            <a:r>
              <a:rPr dirty="0"/>
              <a:t>variables, </a:t>
            </a:r>
            <a:r>
              <a:rPr spc="-5" dirty="0"/>
              <a:t>we use the </a:t>
            </a:r>
            <a:r>
              <a:rPr dirty="0"/>
              <a:t> </a:t>
            </a:r>
            <a:r>
              <a:rPr spc="-5" dirty="0"/>
              <a:t>linear</a:t>
            </a:r>
            <a:r>
              <a:rPr spc="-10" dirty="0"/>
              <a:t> </a:t>
            </a:r>
            <a:r>
              <a:rPr dirty="0"/>
              <a:t>correlation</a:t>
            </a:r>
            <a:r>
              <a:rPr spc="-5" dirty="0"/>
              <a:t> </a:t>
            </a:r>
            <a:r>
              <a:rPr spc="-10" dirty="0"/>
              <a:t>coefficient: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1392" y="2569861"/>
            <a:ext cx="8298671" cy="227181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370" y="81825"/>
            <a:ext cx="4801730" cy="498030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62580" y="177920"/>
            <a:ext cx="4049780" cy="491265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2108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Simple</a:t>
            </a:r>
            <a:r>
              <a:rPr spc="-25" dirty="0"/>
              <a:t> </a:t>
            </a:r>
            <a:r>
              <a:rPr spc="5" dirty="0"/>
              <a:t>Linear</a:t>
            </a:r>
            <a:r>
              <a:rPr spc="-20" dirty="0"/>
              <a:t> </a:t>
            </a:r>
            <a:r>
              <a:rPr spc="5" dirty="0"/>
              <a:t>Regression</a:t>
            </a:r>
            <a:r>
              <a:rPr spc="-15" dirty="0"/>
              <a:t> </a:t>
            </a:r>
            <a:r>
              <a:rPr spc="5" dirty="0"/>
              <a:t>-</a:t>
            </a:r>
            <a:r>
              <a:rPr spc="-20" dirty="0"/>
              <a:t> </a:t>
            </a:r>
            <a:r>
              <a:rPr spc="5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23750" y="1378287"/>
            <a:ext cx="1828799" cy="14573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9587" y="3264449"/>
            <a:ext cx="7315199" cy="17645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505248"/>
            <a:ext cx="521081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Simple</a:t>
            </a:r>
            <a:r>
              <a:rPr spc="-25" dirty="0"/>
              <a:t> </a:t>
            </a:r>
            <a:r>
              <a:rPr spc="5" dirty="0"/>
              <a:t>Linear</a:t>
            </a:r>
            <a:r>
              <a:rPr spc="-20" dirty="0"/>
              <a:t> </a:t>
            </a:r>
            <a:r>
              <a:rPr spc="5" dirty="0"/>
              <a:t>Regression</a:t>
            </a:r>
            <a:r>
              <a:rPr spc="-15" dirty="0"/>
              <a:t> </a:t>
            </a:r>
            <a:r>
              <a:rPr spc="5" dirty="0"/>
              <a:t>-</a:t>
            </a:r>
            <a:r>
              <a:rPr spc="-20" dirty="0"/>
              <a:t> </a:t>
            </a:r>
            <a:r>
              <a:rPr spc="5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962" y="1158600"/>
            <a:ext cx="2676524" cy="61912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975" y="2057387"/>
            <a:ext cx="3714749" cy="5143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55600" y="3232400"/>
            <a:ext cx="3619499" cy="5238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93475" y="1647825"/>
            <a:ext cx="1647824" cy="4095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866825" y="2867300"/>
            <a:ext cx="2696704" cy="38358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304323"/>
            <a:ext cx="38131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Multiple</a:t>
            </a:r>
            <a:r>
              <a:rPr sz="2500" spc="-3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Linear</a:t>
            </a:r>
            <a:r>
              <a:rPr sz="2500" spc="-30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Regression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4725" y="1040458"/>
            <a:ext cx="7951470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Multiple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Linear Regression is one of the important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regression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algorithms which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lang="en-US" dirty="0" smtClean="0"/>
              <a:t>predicts </a:t>
            </a:r>
            <a:r>
              <a:rPr lang="en-US" dirty="0"/>
              <a:t>one outcome (dependent variable) using multiple inputs (independent variables)</a:t>
            </a:r>
            <a:r>
              <a:rPr sz="1800" dirty="0" smtClean="0">
                <a:solidFill>
                  <a:srgbClr val="595959"/>
                </a:solidFill>
                <a:latin typeface="Arial MT"/>
                <a:cs typeface="Arial MT"/>
              </a:rPr>
              <a:t>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06000" y="2119900"/>
            <a:ext cx="3848699" cy="29473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43024" y="553901"/>
            <a:ext cx="8636068" cy="413199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598"/>
            <a:ext cx="46659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Multiple</a:t>
            </a:r>
            <a:r>
              <a:rPr spc="-15" dirty="0"/>
              <a:t> </a:t>
            </a:r>
            <a:r>
              <a:rPr spc="5" dirty="0"/>
              <a:t>Linear</a:t>
            </a:r>
            <a:r>
              <a:rPr spc="-15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23612" y="1421487"/>
            <a:ext cx="4038599" cy="1142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96799" y="3162647"/>
            <a:ext cx="7538720" cy="8667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2740" marR="5080" indent="-320675">
              <a:lnSpc>
                <a:spcPct val="114999"/>
              </a:lnSpc>
              <a:spcBef>
                <a:spcPts val="100"/>
              </a:spcBef>
              <a:buChar char="○"/>
              <a:tabLst>
                <a:tab pos="332740" algn="l"/>
                <a:tab pos="333375" algn="l"/>
              </a:tabLst>
            </a:pP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For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MLR,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the dependent or target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variable(Y) must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be the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continuous/real,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but the predictor or independent </a:t>
            </a:r>
            <a:r>
              <a:rPr sz="1200" spc="-32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variable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may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 be of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continuous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 or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categorical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 form.</a:t>
            </a:r>
            <a:endParaRPr sz="1200">
              <a:latin typeface="Arial MT"/>
              <a:cs typeface="Arial MT"/>
            </a:endParaRPr>
          </a:p>
          <a:p>
            <a:pPr marL="332740" indent="-320675">
              <a:lnSpc>
                <a:spcPct val="100000"/>
              </a:lnSpc>
              <a:spcBef>
                <a:spcPts val="215"/>
              </a:spcBef>
              <a:buChar char="○"/>
              <a:tabLst>
                <a:tab pos="332740" algn="l"/>
                <a:tab pos="333375" algn="l"/>
              </a:tabLst>
            </a:pP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Each</a:t>
            </a:r>
            <a:r>
              <a:rPr sz="1200" spc="-15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feature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variable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must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model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the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linear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relationship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with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the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dependent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variable.</a:t>
            </a:r>
            <a:endParaRPr sz="1200">
              <a:latin typeface="Arial MT"/>
              <a:cs typeface="Arial MT"/>
            </a:endParaRPr>
          </a:p>
          <a:p>
            <a:pPr marL="332740" indent="-320675">
              <a:lnSpc>
                <a:spcPct val="100000"/>
              </a:lnSpc>
              <a:spcBef>
                <a:spcPts val="215"/>
              </a:spcBef>
              <a:buChar char="○"/>
              <a:tabLst>
                <a:tab pos="332740" algn="l"/>
                <a:tab pos="333375" algn="l"/>
              </a:tabLst>
            </a:pP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MLR</a:t>
            </a:r>
            <a:r>
              <a:rPr sz="1200" spc="-15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tries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to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fit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a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regression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line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through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a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multidimensional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2B2A29"/>
                </a:solidFill>
                <a:latin typeface="Arial MT"/>
                <a:cs typeface="Arial MT"/>
              </a:rPr>
              <a:t>space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of</a:t>
            </a:r>
            <a:r>
              <a:rPr sz="1200" spc="-10" dirty="0">
                <a:solidFill>
                  <a:srgbClr val="2B2A29"/>
                </a:solidFill>
                <a:latin typeface="Arial MT"/>
                <a:cs typeface="Arial MT"/>
              </a:rPr>
              <a:t> </a:t>
            </a:r>
            <a:r>
              <a:rPr sz="1200" spc="-5" dirty="0">
                <a:solidFill>
                  <a:srgbClr val="2B2A29"/>
                </a:solidFill>
                <a:latin typeface="Arial MT"/>
                <a:cs typeface="Arial MT"/>
              </a:rPr>
              <a:t>data-points.</a:t>
            </a:r>
            <a:endParaRPr sz="1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46659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Multiple</a:t>
            </a:r>
            <a:r>
              <a:rPr spc="-15" dirty="0"/>
              <a:t> </a:t>
            </a:r>
            <a:r>
              <a:rPr spc="5" dirty="0"/>
              <a:t>Linear</a:t>
            </a:r>
            <a:r>
              <a:rPr spc="-15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5287" y="1679200"/>
            <a:ext cx="6953425" cy="96412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46659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Multiple</a:t>
            </a:r>
            <a:r>
              <a:rPr spc="-15" dirty="0"/>
              <a:t> </a:t>
            </a:r>
            <a:r>
              <a:rPr spc="5" dirty="0"/>
              <a:t>Linear</a:t>
            </a:r>
            <a:r>
              <a:rPr spc="-15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98925" y="1046162"/>
            <a:ext cx="7146149" cy="362902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46659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Multiple</a:t>
            </a:r>
            <a:r>
              <a:rPr spc="-15" dirty="0"/>
              <a:t> </a:t>
            </a:r>
            <a:r>
              <a:rPr spc="5" dirty="0"/>
              <a:t>Linear</a:t>
            </a:r>
            <a:r>
              <a:rPr spc="-15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3262" y="723100"/>
            <a:ext cx="7357474" cy="4229099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46659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Multiple</a:t>
            </a:r>
            <a:r>
              <a:rPr spc="-15" dirty="0"/>
              <a:t> </a:t>
            </a:r>
            <a:r>
              <a:rPr spc="5" dirty="0"/>
              <a:t>Linear</a:t>
            </a:r>
            <a:r>
              <a:rPr spc="-15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7012" y="1095225"/>
            <a:ext cx="7769974" cy="341947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46659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Multiple</a:t>
            </a:r>
            <a:r>
              <a:rPr spc="-15" dirty="0"/>
              <a:t> </a:t>
            </a:r>
            <a:r>
              <a:rPr spc="5" dirty="0"/>
              <a:t>Linear</a:t>
            </a:r>
            <a:r>
              <a:rPr spc="-15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6950" y="674325"/>
            <a:ext cx="6869224" cy="43148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46659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Multiple</a:t>
            </a:r>
            <a:r>
              <a:rPr spc="-15" dirty="0"/>
              <a:t> </a:t>
            </a:r>
            <a:r>
              <a:rPr spc="5" dirty="0"/>
              <a:t>Linear</a:t>
            </a:r>
            <a:r>
              <a:rPr spc="-15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59674" y="1692050"/>
            <a:ext cx="7037574" cy="185124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10623"/>
            <a:ext cx="434657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Multivariate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Linear</a:t>
            </a:r>
            <a:r>
              <a:rPr sz="2500" spc="-2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Regression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2675" y="982408"/>
            <a:ext cx="7247890" cy="9721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Multivariate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Linear Regression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(MvLR),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also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called multivariate multiple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regression,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technique that estimates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single regression model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with </a:t>
            </a:r>
            <a:r>
              <a:rPr sz="1800" spc="-49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multiple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independent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variables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multiple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dependent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variables.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4954" y="2176025"/>
            <a:ext cx="4490934" cy="242808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60074" y="4040725"/>
            <a:ext cx="1825800" cy="5134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51993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Multivariate</a:t>
            </a:r>
            <a:r>
              <a:rPr spc="-10" dirty="0"/>
              <a:t> </a:t>
            </a:r>
            <a:r>
              <a:rPr spc="5" dirty="0"/>
              <a:t>Linear</a:t>
            </a:r>
            <a:r>
              <a:rPr spc="-10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94131" y="885690"/>
            <a:ext cx="4047323" cy="405490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51993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Multivariate</a:t>
            </a:r>
            <a:r>
              <a:rPr spc="-10" dirty="0"/>
              <a:t> </a:t>
            </a:r>
            <a:r>
              <a:rPr spc="5" dirty="0"/>
              <a:t>Linear</a:t>
            </a:r>
            <a:r>
              <a:rPr spc="-10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2175" y="1078400"/>
            <a:ext cx="7482875" cy="360997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519938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Multivariate</a:t>
            </a:r>
            <a:r>
              <a:rPr spc="-10" dirty="0"/>
              <a:t> </a:t>
            </a:r>
            <a:r>
              <a:rPr spc="5" dirty="0"/>
              <a:t>Linear</a:t>
            </a:r>
            <a:r>
              <a:rPr spc="-10" dirty="0"/>
              <a:t> </a:t>
            </a:r>
            <a:r>
              <a:rPr spc="5" dirty="0"/>
              <a:t>Regression</a:t>
            </a:r>
            <a:r>
              <a:rPr spc="-10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8500" y="1137325"/>
            <a:ext cx="6935700" cy="3086099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4725" y="210623"/>
            <a:ext cx="329184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500" spc="5" dirty="0">
                <a:latin typeface="Arial MT"/>
                <a:cs typeface="Arial MT"/>
              </a:rPr>
              <a:t>Polynomial</a:t>
            </a:r>
            <a:r>
              <a:rPr sz="2500" spc="-85" dirty="0">
                <a:latin typeface="Arial MT"/>
                <a:cs typeface="Arial MT"/>
              </a:rPr>
              <a:t> </a:t>
            </a:r>
            <a:r>
              <a:rPr sz="2500" spc="5" dirty="0">
                <a:latin typeface="Arial MT"/>
                <a:cs typeface="Arial MT"/>
              </a:rPr>
              <a:t>Regression</a:t>
            </a:r>
            <a:endParaRPr sz="25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9000" y="787996"/>
            <a:ext cx="82550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Polynomial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regression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is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a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form of Linear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regression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where only due to the Non-linear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 relationship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between dependent and independent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variables,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we add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some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polynomial terms </a:t>
            </a:r>
            <a:r>
              <a:rPr sz="1600" spc="-430" dirty="0">
                <a:solidFill>
                  <a:srgbClr val="373737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to</a:t>
            </a:r>
            <a:r>
              <a:rPr sz="1600" spc="-10" dirty="0">
                <a:solidFill>
                  <a:srgbClr val="373737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linear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regression</a:t>
            </a:r>
            <a:r>
              <a:rPr sz="1600" spc="-10" dirty="0">
                <a:solidFill>
                  <a:srgbClr val="373737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to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convert</a:t>
            </a:r>
            <a:r>
              <a:rPr sz="1600" spc="-10" dirty="0">
                <a:solidFill>
                  <a:srgbClr val="373737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it into Polynomial</a:t>
            </a:r>
            <a:r>
              <a:rPr sz="1600" spc="-10" dirty="0">
                <a:solidFill>
                  <a:srgbClr val="373737"/>
                </a:solidFill>
                <a:latin typeface="Arial MT"/>
                <a:cs typeface="Arial MT"/>
              </a:rPr>
              <a:t> 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Regression in</a:t>
            </a:r>
            <a:r>
              <a:rPr sz="1600" spc="-10" dirty="0">
                <a:solidFill>
                  <a:srgbClr val="373737"/>
                </a:solidFill>
                <a:latin typeface="Arial MT"/>
                <a:cs typeface="Arial MT"/>
              </a:rPr>
              <a:t> </a:t>
            </a:r>
            <a:r>
              <a:rPr sz="1600" dirty="0">
                <a:solidFill>
                  <a:srgbClr val="373737"/>
                </a:solidFill>
                <a:latin typeface="Arial MT"/>
                <a:cs typeface="Arial MT"/>
              </a:rPr>
              <a:t>Machine</a:t>
            </a:r>
            <a:r>
              <a:rPr sz="1600" spc="-5" dirty="0">
                <a:solidFill>
                  <a:srgbClr val="373737"/>
                </a:solidFill>
                <a:latin typeface="Arial MT"/>
                <a:cs typeface="Arial MT"/>
              </a:rPr>
              <a:t> Learning.</a:t>
            </a:r>
            <a:endParaRPr sz="1600" dirty="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469825" y="1646500"/>
            <a:ext cx="5401945" cy="3006090"/>
            <a:chOff x="1469825" y="1646500"/>
            <a:chExt cx="5401945" cy="30060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69825" y="1646500"/>
              <a:ext cx="5401799" cy="2700899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843212" y="4347400"/>
              <a:ext cx="3581399" cy="30479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46228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Polynomial</a:t>
            </a:r>
            <a:r>
              <a:rPr spc="-45" dirty="0"/>
              <a:t> </a:t>
            </a:r>
            <a:r>
              <a:rPr spc="5" dirty="0"/>
              <a:t>Regression</a:t>
            </a:r>
            <a:r>
              <a:rPr spc="-35" dirty="0"/>
              <a:t> </a:t>
            </a:r>
            <a:r>
              <a:rPr spc="5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23974" y="1506212"/>
            <a:ext cx="1695449" cy="19621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56874" y="1816062"/>
            <a:ext cx="2352674" cy="3809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66249" y="3061212"/>
            <a:ext cx="4648199" cy="1142999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54737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Polynomial</a:t>
            </a:r>
            <a:r>
              <a:rPr spc="-25" dirty="0"/>
              <a:t> </a:t>
            </a:r>
            <a:r>
              <a:rPr spc="5" dirty="0"/>
              <a:t>Regression</a:t>
            </a:r>
            <a:r>
              <a:rPr spc="-15" dirty="0"/>
              <a:t> </a:t>
            </a:r>
            <a:r>
              <a:rPr spc="5" dirty="0"/>
              <a:t>Example</a:t>
            </a:r>
            <a:r>
              <a:rPr spc="-25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3675" y="915700"/>
            <a:ext cx="8465042" cy="404077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5473700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Polynomial</a:t>
            </a:r>
            <a:r>
              <a:rPr spc="-25" dirty="0"/>
              <a:t> </a:t>
            </a:r>
            <a:r>
              <a:rPr spc="5" dirty="0"/>
              <a:t>Regression</a:t>
            </a:r>
            <a:r>
              <a:rPr spc="-15" dirty="0"/>
              <a:t> </a:t>
            </a:r>
            <a:r>
              <a:rPr spc="5" dirty="0"/>
              <a:t>Example</a:t>
            </a:r>
            <a:r>
              <a:rPr spc="-25" dirty="0"/>
              <a:t> </a:t>
            </a:r>
            <a:r>
              <a:rPr dirty="0"/>
              <a:t>Cont.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4400" y="1257196"/>
            <a:ext cx="1285875" cy="28940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114400" y="1672224"/>
            <a:ext cx="2085974" cy="36194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114400" y="2159799"/>
            <a:ext cx="2285999" cy="3047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6112" y="3401050"/>
            <a:ext cx="5105399" cy="304799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51403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Regression</a:t>
            </a:r>
            <a:r>
              <a:rPr spc="-10" dirty="0"/>
              <a:t> </a:t>
            </a:r>
            <a:r>
              <a:rPr spc="10" dirty="0"/>
              <a:t>Model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spc="5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45749" y="763656"/>
            <a:ext cx="7468234" cy="3042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R-squared</a:t>
            </a:r>
            <a:r>
              <a:rPr sz="1800" b="1" spc="-50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(R2)</a:t>
            </a:r>
            <a:endParaRPr sz="1800" dirty="0">
              <a:latin typeface="Arial"/>
              <a:cs typeface="Arial"/>
            </a:endParaRPr>
          </a:p>
          <a:p>
            <a:pPr marL="379095" marR="111760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Defined as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number that tells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you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how well the independent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variable(s)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statistical model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explains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variation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dependent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variable.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It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ranges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from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0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to 1, where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1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indicates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perfect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fit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 to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data.</a:t>
            </a:r>
            <a:endParaRPr sz="1800" dirty="0">
              <a:latin typeface="Arial MT"/>
              <a:cs typeface="Arial MT"/>
            </a:endParaRPr>
          </a:p>
          <a:p>
            <a:pPr marL="379095" marR="5080" algn="just">
              <a:lnSpc>
                <a:spcPct val="100000"/>
              </a:lnSpc>
            </a:pP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high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(R2),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between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85%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100%,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indicates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that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model </a:t>
            </a:r>
            <a:r>
              <a:rPr sz="1800" spc="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performance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moves relatively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in line of best fit.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A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low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(R2),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at 70% or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less, indicates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model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does not generally follow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movements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line of best fit.</a:t>
            </a:r>
            <a:endParaRPr sz="18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850" dirty="0">
              <a:latin typeface="Arial MT"/>
              <a:cs typeface="Arial MT"/>
            </a:endParaRPr>
          </a:p>
          <a:p>
            <a:pPr marL="379095" algn="just">
              <a:lnSpc>
                <a:spcPct val="100000"/>
              </a:lnSpc>
            </a:pP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formula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for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calculating</a:t>
            </a:r>
            <a:r>
              <a:rPr sz="1800" spc="-2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R-squared</a:t>
            </a:r>
            <a:r>
              <a:rPr sz="1800" spc="-15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is: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65012" y="4206725"/>
            <a:ext cx="3047999" cy="457199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3325" y="3419523"/>
            <a:ext cx="3041035" cy="16066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51403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Regression</a:t>
            </a:r>
            <a:r>
              <a:rPr spc="-10" dirty="0"/>
              <a:t> </a:t>
            </a:r>
            <a:r>
              <a:rPr spc="10" dirty="0"/>
              <a:t>Model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spc="5" dirty="0"/>
              <a:t>Matrix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5924" y="1001505"/>
            <a:ext cx="734250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79095" marR="5080" indent="-367030">
              <a:lnSpc>
                <a:spcPct val="100000"/>
              </a:lnSpc>
              <a:spcBef>
                <a:spcPts val="100"/>
              </a:spcBef>
              <a:buChar char="●"/>
              <a:tabLst>
                <a:tab pos="379095" algn="l"/>
                <a:tab pos="379730" algn="l"/>
              </a:tabLst>
            </a:pP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Mean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Squared Error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(MSE)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or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Mean </a:t>
            </a:r>
            <a:r>
              <a:rPr sz="1800" b="1" spc="-5" dirty="0">
                <a:solidFill>
                  <a:srgbClr val="595959"/>
                </a:solidFill>
                <a:latin typeface="Arial"/>
                <a:cs typeface="Arial"/>
              </a:rPr>
              <a:t>Squared Deviation </a:t>
            </a:r>
            <a:r>
              <a:rPr sz="1800" b="1" dirty="0">
                <a:solidFill>
                  <a:srgbClr val="595959"/>
                </a:solidFill>
                <a:latin typeface="Arial"/>
                <a:cs typeface="Arial"/>
              </a:rPr>
              <a:t>(MSD) </a:t>
            </a:r>
            <a:r>
              <a:rPr sz="1800" b="1" spc="5" dirty="0">
                <a:solidFill>
                  <a:srgbClr val="595959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measures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average of the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squares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of the errors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that’s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the average </a:t>
            </a:r>
            <a:r>
              <a:rPr sz="1800" spc="-49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squared 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difference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between the predicted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values, yˆ </a:t>
            </a:r>
            <a:r>
              <a:rPr sz="1800" spc="-5" dirty="0">
                <a:solidFill>
                  <a:srgbClr val="595959"/>
                </a:solidFill>
                <a:latin typeface="Arial MT"/>
                <a:cs typeface="Arial MT"/>
              </a:rPr>
              <a:t>and the actual </a:t>
            </a:r>
            <a:r>
              <a:rPr sz="1800" dirty="0">
                <a:solidFill>
                  <a:srgbClr val="595959"/>
                </a:solidFill>
                <a:latin typeface="Arial MT"/>
                <a:cs typeface="Arial MT"/>
              </a:rPr>
              <a:t> value,</a:t>
            </a:r>
            <a:r>
              <a:rPr sz="1800" spc="-10" dirty="0">
                <a:solidFill>
                  <a:srgbClr val="595959"/>
                </a:solidFill>
                <a:latin typeface="Arial MT"/>
                <a:cs typeface="Arial MT"/>
              </a:rPr>
              <a:t> </a:t>
            </a:r>
            <a:r>
              <a:rPr sz="1800" spc="-70" dirty="0">
                <a:solidFill>
                  <a:srgbClr val="595959"/>
                </a:solidFill>
                <a:latin typeface="Arial MT"/>
                <a:cs typeface="Arial MT"/>
              </a:rPr>
              <a:t>y.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60850" y="2866450"/>
            <a:ext cx="2743199" cy="838199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4725" y="210623"/>
            <a:ext cx="5140325" cy="4095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5" dirty="0"/>
              <a:t>Regression</a:t>
            </a:r>
            <a:r>
              <a:rPr spc="-10" dirty="0"/>
              <a:t> </a:t>
            </a:r>
            <a:r>
              <a:rPr spc="10" dirty="0"/>
              <a:t>Model</a:t>
            </a:r>
            <a:r>
              <a:rPr spc="-5" dirty="0"/>
              <a:t> </a:t>
            </a:r>
            <a:r>
              <a:rPr dirty="0"/>
              <a:t>Evaluation</a:t>
            </a:r>
            <a:r>
              <a:rPr spc="-10" dirty="0"/>
              <a:t> </a:t>
            </a:r>
            <a:r>
              <a:rPr spc="5" dirty="0"/>
              <a:t>Matrix</a:t>
            </a:r>
          </a:p>
        </p:txBody>
      </p:sp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474" y="1055575"/>
            <a:ext cx="8040867" cy="34867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857</Words>
  <Application>Microsoft Office PowerPoint</Application>
  <PresentationFormat>On-screen Show (16:9)</PresentationFormat>
  <Paragraphs>83</Paragraphs>
  <Slides>32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7" baseType="lpstr">
      <vt:lpstr>Arial</vt:lpstr>
      <vt:lpstr>Arial MT</vt:lpstr>
      <vt:lpstr>Calibri</vt:lpstr>
      <vt:lpstr>Times New Roman</vt:lpstr>
      <vt:lpstr>Office Theme</vt:lpstr>
      <vt:lpstr>Regression</vt:lpstr>
      <vt:lpstr>Regression</vt:lpstr>
      <vt:lpstr>Regression Example</vt:lpstr>
      <vt:lpstr>Linear Regression</vt:lpstr>
      <vt:lpstr>Simple Linear Regression</vt:lpstr>
      <vt:lpstr>Simple Linear Regression Cont.</vt:lpstr>
      <vt:lpstr>PowerPoint Presentation</vt:lpstr>
      <vt:lpstr>Simple Linear Regression Cont.</vt:lpstr>
      <vt:lpstr>Linear Correlation Coefficient</vt:lpstr>
      <vt:lpstr>PowerPoint Presentation</vt:lpstr>
      <vt:lpstr>Simple Linear Regression - Example</vt:lpstr>
      <vt:lpstr>Simple Linear Regression - Example</vt:lpstr>
      <vt:lpstr>PowerPoint Presentation</vt:lpstr>
      <vt:lpstr>PowerPoint Presentation</vt:lpstr>
      <vt:lpstr>Multiple Linear Regression Cont.</vt:lpstr>
      <vt:lpstr>Multiple Linear Regression Cont.</vt:lpstr>
      <vt:lpstr>Multiple Linear Regression Cont.</vt:lpstr>
      <vt:lpstr>Multiple Linear Regression Cont.</vt:lpstr>
      <vt:lpstr>Multiple Linear Regression Cont.</vt:lpstr>
      <vt:lpstr>Multiple Linear Regression Cont.</vt:lpstr>
      <vt:lpstr>Multiple Linear Regression Cont.</vt:lpstr>
      <vt:lpstr>PowerPoint Presentation</vt:lpstr>
      <vt:lpstr>Multivariate Linear Regression Cont.</vt:lpstr>
      <vt:lpstr>Multivariate Linear Regression Cont.</vt:lpstr>
      <vt:lpstr>Multivariate Linear Regression Cont.</vt:lpstr>
      <vt:lpstr>PowerPoint Presentation</vt:lpstr>
      <vt:lpstr>Polynomial Regression Example</vt:lpstr>
      <vt:lpstr>Polynomial Regression Example Cont.</vt:lpstr>
      <vt:lpstr>Polynomial Regression Example Cont.</vt:lpstr>
      <vt:lpstr>Regression Model Evaluation Matrix</vt:lpstr>
      <vt:lpstr>Regression Model Evaluation Matrix</vt:lpstr>
      <vt:lpstr>Regression Model Evaluation Matrix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 Regression</dc:title>
  <cp:lastModifiedBy>Microsoft account</cp:lastModifiedBy>
  <cp:revision>12</cp:revision>
  <dcterms:created xsi:type="dcterms:W3CDTF">2024-11-21T08:31:42Z</dcterms:created>
  <dcterms:modified xsi:type="dcterms:W3CDTF">2024-12-13T14:31:05Z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</Properties>
</file>