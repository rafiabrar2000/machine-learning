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26597" autoAdjust="0"/>
  </p:normalViewPr>
  <p:slideViewPr>
    <p:cSldViewPr>
      <p:cViewPr varScale="1">
        <p:scale>
          <a:sx n="24" d="100"/>
          <a:sy n="24" d="100"/>
        </p:scale>
        <p:origin x="2480" y="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2ADA3-AF76-4B4D-8868-57350E68794D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617CB-E6A9-4E37-A5A5-639A7FCBD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6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What is KNN?</a:t>
            </a:r>
          </a:p>
          <a:p>
            <a:r>
              <a:rPr lang="en-US" dirty="0" smtClean="0"/>
              <a:t>KNN is a machine learning algorithm that predicts the class or value of a point based on its </a:t>
            </a:r>
            <a:r>
              <a:rPr lang="en-US" b="1" dirty="0" smtClean="0"/>
              <a:t>neighbors</a:t>
            </a:r>
            <a:r>
              <a:rPr lang="en-US" dirty="0" smtClean="0"/>
              <a:t>. It’s simple and works well for both </a:t>
            </a:r>
            <a:r>
              <a:rPr lang="en-US" b="1" dirty="0" smtClean="0"/>
              <a:t>classification</a:t>
            </a:r>
            <a:r>
              <a:rPr lang="en-US" dirty="0" smtClean="0"/>
              <a:t> (categorizing data) and </a:t>
            </a:r>
            <a:r>
              <a:rPr lang="en-US" b="1" dirty="0" smtClean="0"/>
              <a:t>regression</a:t>
            </a:r>
            <a:r>
              <a:rPr lang="en-US" dirty="0" smtClean="0"/>
              <a:t> (predicting numbers).</a:t>
            </a:r>
          </a:p>
          <a:p>
            <a:endParaRPr lang="en-US" dirty="0" smtClean="0"/>
          </a:p>
          <a:p>
            <a:r>
              <a:rPr lang="en-US" b="1" dirty="0" smtClean="0"/>
              <a:t>How does it work?</a:t>
            </a:r>
          </a:p>
          <a:p>
            <a:r>
              <a:rPr lang="en-US" b="1" dirty="0" smtClean="0"/>
              <a:t>Plot the data:</a:t>
            </a:r>
            <a:endParaRPr lang="en-US" dirty="0" smtClean="0"/>
          </a:p>
          <a:p>
            <a:pPr lvl="1"/>
            <a:r>
              <a:rPr lang="en-US" dirty="0" smtClean="0"/>
              <a:t>Each data point belongs to a class (e.g., Class 1 = blue circles, Class 2 = green circles).</a:t>
            </a:r>
          </a:p>
          <a:p>
            <a:r>
              <a:rPr lang="en-US" b="1" dirty="0" smtClean="0"/>
              <a:t>Target point:</a:t>
            </a:r>
            <a:endParaRPr lang="en-US" dirty="0" smtClean="0"/>
          </a:p>
          <a:p>
            <a:pPr lvl="1"/>
            <a:r>
              <a:rPr lang="en-US" dirty="0" smtClean="0"/>
              <a:t>There’s a new point (purple in the diagram) that you want to classify or predict.</a:t>
            </a:r>
          </a:p>
          <a:p>
            <a:r>
              <a:rPr lang="en-US" b="1" dirty="0" smtClean="0"/>
              <a:t>Find neighbors:</a:t>
            </a:r>
            <a:endParaRPr lang="en-US" dirty="0" smtClean="0"/>
          </a:p>
          <a:p>
            <a:pPr lvl="1"/>
            <a:r>
              <a:rPr lang="en-US" dirty="0" smtClean="0"/>
              <a:t>Measure the distance (like straight lines) from the target point to all other points in the dataset.</a:t>
            </a:r>
          </a:p>
          <a:p>
            <a:pPr lvl="1"/>
            <a:r>
              <a:rPr lang="en-US" dirty="0" smtClean="0"/>
              <a:t>Pick the </a:t>
            </a:r>
            <a:r>
              <a:rPr lang="en-US" b="1" dirty="0" smtClean="0"/>
              <a:t>closest K points</a:t>
            </a:r>
            <a:r>
              <a:rPr lang="en-US" dirty="0" smtClean="0"/>
              <a:t> (e.g., K = 3 means the 3 nearest points).</a:t>
            </a:r>
          </a:p>
          <a:p>
            <a:r>
              <a:rPr lang="en-US" b="1" dirty="0" smtClean="0"/>
              <a:t>Majority vote:</a:t>
            </a:r>
            <a:endParaRPr lang="en-US" dirty="0" smtClean="0"/>
          </a:p>
          <a:p>
            <a:pPr lvl="1"/>
            <a:r>
              <a:rPr lang="en-US" dirty="0" smtClean="0"/>
              <a:t>For classification:</a:t>
            </a:r>
          </a:p>
          <a:p>
            <a:pPr lvl="2"/>
            <a:r>
              <a:rPr lang="en-US" dirty="0" smtClean="0"/>
              <a:t>Check the classes of the K neighbors.</a:t>
            </a:r>
          </a:p>
          <a:p>
            <a:pPr lvl="2"/>
            <a:r>
              <a:rPr lang="en-US" dirty="0" smtClean="0"/>
              <a:t>Assign the target point to the class that most neighbors belong to.</a:t>
            </a:r>
          </a:p>
          <a:p>
            <a:pPr lvl="1"/>
            <a:r>
              <a:rPr lang="en-US" dirty="0" smtClean="0"/>
              <a:t>For regression:</a:t>
            </a:r>
          </a:p>
          <a:p>
            <a:pPr lvl="2"/>
            <a:r>
              <a:rPr lang="en-US" dirty="0" smtClean="0"/>
              <a:t>Take the average value of the neighbors.</a:t>
            </a:r>
          </a:p>
          <a:p>
            <a:r>
              <a:rPr lang="en-US" b="1" dirty="0" smtClean="0"/>
              <a:t>Example from the image:</a:t>
            </a:r>
          </a:p>
          <a:p>
            <a:r>
              <a:rPr lang="en-US" b="1" dirty="0" smtClean="0"/>
              <a:t>Left:</a:t>
            </a:r>
            <a:r>
              <a:rPr lang="en-US" dirty="0" smtClean="0"/>
              <a:t> The target point’s closest neighbors (K = 3) are 1 blue circles (Class 1) and 2 green circle (Class 2).</a:t>
            </a:r>
          </a:p>
          <a:p>
            <a:pPr lvl="1"/>
            <a:r>
              <a:rPr lang="en-US" dirty="0" smtClean="0"/>
              <a:t>Majority vote → Target point belongs to </a:t>
            </a:r>
            <a:r>
              <a:rPr lang="en-US" b="1" dirty="0" smtClean="0"/>
              <a:t>Class 2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Middle:</a:t>
            </a:r>
            <a:r>
              <a:rPr lang="en-US" dirty="0" smtClean="0"/>
              <a:t> If K = 5, the algorithm considers 5 nearest neighbors. Now, there are 3 green (Class 2) and 2 blue (Class 1).</a:t>
            </a:r>
          </a:p>
          <a:p>
            <a:pPr lvl="1"/>
            <a:r>
              <a:rPr lang="en-US" dirty="0" smtClean="0"/>
              <a:t>Majority vote → Target point belongs to </a:t>
            </a:r>
            <a:r>
              <a:rPr lang="en-US" b="1" dirty="0" smtClean="0"/>
              <a:t>Class 2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Right:</a:t>
            </a:r>
            <a:r>
              <a:rPr lang="en-US" dirty="0" smtClean="0"/>
              <a:t> If K = 7, it includes more neighbors. Majority voting changes based on the composition of these neighbors.</a:t>
            </a:r>
          </a:p>
          <a:p>
            <a:endParaRPr lang="en-US" dirty="0" smtClean="0"/>
          </a:p>
          <a:p>
            <a:r>
              <a:rPr lang="en-US" b="1" dirty="0" smtClean="0"/>
              <a:t>Why is KNN "lazy"?</a:t>
            </a:r>
          </a:p>
          <a:p>
            <a:pPr marL="123825" marR="87630" indent="0" algn="just">
              <a:lnSpc>
                <a:spcPts val="1739"/>
              </a:lnSpc>
              <a:spcBef>
                <a:spcPts val="80"/>
              </a:spcBef>
              <a:buNone/>
              <a:tabLst>
                <a:tab pos="469900" algn="l"/>
              </a:tabLst>
            </a:pPr>
            <a:r>
              <a:rPr lang="en-US" sz="1200" spc="15" dirty="0" err="1" smtClean="0">
                <a:solidFill>
                  <a:srgbClr val="595959"/>
                </a:solidFill>
                <a:latin typeface="Arial MT"/>
                <a:cs typeface="Arial MT"/>
              </a:rPr>
              <a:t>kNN</a:t>
            </a:r>
            <a:r>
              <a:rPr lang="en-US" sz="1200" spc="15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classifier 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is that it is </a:t>
            </a:r>
            <a:r>
              <a:rPr lang="en-US" sz="1200" spc="15" dirty="0" smtClean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lang="en-US" sz="1200" b="1" spc="10" dirty="0" smtClean="0">
                <a:solidFill>
                  <a:srgbClr val="595959"/>
                </a:solidFill>
                <a:latin typeface="Arial"/>
                <a:cs typeface="Arial"/>
              </a:rPr>
              <a:t>lazy learner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, 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i.e. it 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does not 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learn </a:t>
            </a:r>
            <a:r>
              <a:rPr lang="en-US" sz="1200" spc="-405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anything 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 training 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data and simply uses the</a:t>
            </a:r>
            <a:r>
              <a:rPr lang="en-US" sz="1200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training 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data 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itself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200" spc="5" dirty="0" smtClean="0">
                <a:solidFill>
                  <a:srgbClr val="595959"/>
                </a:solidFill>
                <a:latin typeface="Arial MT"/>
                <a:cs typeface="Arial MT"/>
              </a:rPr>
              <a:t>for </a:t>
            </a:r>
            <a:r>
              <a:rPr lang="en-US" sz="1200" spc="10" dirty="0" smtClean="0">
                <a:solidFill>
                  <a:srgbClr val="595959"/>
                </a:solidFill>
                <a:latin typeface="Arial MT"/>
                <a:cs typeface="Arial MT"/>
              </a:rPr>
              <a:t>classification.</a:t>
            </a:r>
            <a:endParaRPr lang="en-US" sz="1200" dirty="0" smtClean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617CB-E6A9-4E37-A5A5-639A7FCBD5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05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kNN</a:t>
            </a:r>
            <a:r>
              <a:rPr lang="en-US" dirty="0" smtClean="0"/>
              <a:t> has a drawback of high complexity, (O(</a:t>
            </a:r>
            <a:r>
              <a:rPr lang="en-US" dirty="0" err="1" smtClean="0"/>
              <a:t>kN</a:t>
            </a:r>
            <a:r>
              <a:rPr lang="en-US" dirty="0" smtClean="0"/>
              <a:t>))2, as it searches through all N training points to find the k nearest neighbors. It performs well with large datasets due to its asymptotic error reduction but struggles with small datasets where fewer examples can lead to poor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617CB-E6A9-4E37-A5A5-639A7FCBD54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84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Step 1: Identify the features and distance metric</a:t>
            </a:r>
          </a:p>
          <a:p>
            <a:r>
              <a:rPr lang="en-US" dirty="0" smtClean="0"/>
              <a:t>Features used for comparison:</a:t>
            </a:r>
          </a:p>
          <a:p>
            <a:endParaRPr lang="en-US" dirty="0" smtClean="0"/>
          </a:p>
          <a:p>
            <a:r>
              <a:rPr lang="en-US" dirty="0" smtClean="0"/>
              <a:t>Gender (F/M): Categorical feature.</a:t>
            </a:r>
          </a:p>
          <a:p>
            <a:r>
              <a:rPr lang="en-US" dirty="0" smtClean="0"/>
              <a:t>Height: Numerical feature.</a:t>
            </a:r>
          </a:p>
          <a:p>
            <a:r>
              <a:rPr lang="en-US" dirty="0" smtClean="0"/>
              <a:t>Since "Gender" is categorical and identical (Pat is F), we will not calculate its distance as it doesn’t differ in this case.</a:t>
            </a:r>
          </a:p>
          <a:p>
            <a:endParaRPr lang="en-US" dirty="0" smtClean="0"/>
          </a:p>
          <a:p>
            <a:r>
              <a:rPr lang="en-US" dirty="0" smtClean="0"/>
              <a:t>Use </a:t>
            </a:r>
            <a:r>
              <a:rPr lang="en-US" smtClean="0"/>
              <a:t>the </a:t>
            </a:r>
            <a:r>
              <a:rPr lang="en-US" smtClean="0"/>
              <a:t>Manhattan </a:t>
            </a:r>
            <a:r>
              <a:rPr lang="en-US" dirty="0" smtClean="0"/>
              <a:t>Distance formula for numerical features:</a:t>
            </a:r>
          </a:p>
          <a:p>
            <a:endParaRPr lang="en-US" dirty="0" smtClean="0"/>
          </a:p>
          <a:p>
            <a:r>
              <a:rPr lang="en-US" dirty="0" smtClean="0"/>
              <a:t>d=∣Height of Pat−Height of another person∣</a:t>
            </a:r>
          </a:p>
          <a:p>
            <a:r>
              <a:rPr lang="en-US" dirty="0" smtClean="0"/>
              <a:t>For each record, calculate the absolute difference in height.</a:t>
            </a:r>
          </a:p>
          <a:p>
            <a:endParaRPr lang="en-US" dirty="0" smtClean="0"/>
          </a:p>
          <a:p>
            <a:r>
              <a:rPr lang="en-US" dirty="0" smtClean="0"/>
              <a:t>Step 2: Calculate distances</a:t>
            </a:r>
          </a:p>
          <a:p>
            <a:endParaRPr lang="en-US" dirty="0" smtClean="0"/>
          </a:p>
          <a:p>
            <a:r>
              <a:rPr lang="en-US" dirty="0" smtClean="0"/>
              <a:t>1. Kristina</a:t>
            </a:r>
          </a:p>
          <a:p>
            <a:endParaRPr lang="en-US" dirty="0" smtClean="0"/>
          </a:p>
          <a:p>
            <a:r>
              <a:rPr lang="en-US" dirty="0" smtClean="0"/>
              <a:t>Height: 1.6 m</a:t>
            </a:r>
          </a:p>
          <a:p>
            <a:r>
              <a:rPr lang="en-US" dirty="0" smtClean="0"/>
              <a:t>Distance from Pat: ∣1.6−1.6∣=0.0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2. Jim</a:t>
            </a:r>
          </a:p>
          <a:p>
            <a:endParaRPr lang="en-US" dirty="0" smtClean="0"/>
          </a:p>
          <a:p>
            <a:r>
              <a:rPr lang="en-US" dirty="0" smtClean="0"/>
              <a:t>Height: 2.0 m</a:t>
            </a:r>
          </a:p>
          <a:p>
            <a:r>
              <a:rPr lang="en-US" dirty="0" smtClean="0"/>
              <a:t>Distance from Pat: ∣1.6−2.0∣=0.4</a:t>
            </a:r>
          </a:p>
          <a:p>
            <a:r>
              <a:rPr lang="en-US" dirty="0" smtClean="0"/>
              <a:t>Output: Tall</a:t>
            </a:r>
          </a:p>
          <a:p>
            <a:endParaRPr lang="en-US" dirty="0" smtClean="0"/>
          </a:p>
          <a:p>
            <a:r>
              <a:rPr lang="en-US" dirty="0" smtClean="0"/>
              <a:t>3. Maggie</a:t>
            </a:r>
          </a:p>
          <a:p>
            <a:endParaRPr lang="en-US" dirty="0" smtClean="0"/>
          </a:p>
          <a:p>
            <a:r>
              <a:rPr lang="en-US" dirty="0" smtClean="0"/>
              <a:t>Height: 1.9 m</a:t>
            </a:r>
          </a:p>
          <a:p>
            <a:r>
              <a:rPr lang="en-US" dirty="0" smtClean="0"/>
              <a:t>Distance from Pat: ∣1.6−1.9∣=0.3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4. Martha</a:t>
            </a:r>
          </a:p>
          <a:p>
            <a:endParaRPr lang="en-US" dirty="0" smtClean="0"/>
          </a:p>
          <a:p>
            <a:r>
              <a:rPr lang="en-US" dirty="0" smtClean="0"/>
              <a:t>Height: 1.88 m</a:t>
            </a:r>
          </a:p>
          <a:p>
            <a:r>
              <a:rPr lang="en-US" dirty="0" smtClean="0"/>
              <a:t>Distance from Pat: ∣1.6−1.88∣=0.28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5. Stephanie</a:t>
            </a:r>
          </a:p>
          <a:p>
            <a:endParaRPr lang="en-US" dirty="0" smtClean="0"/>
          </a:p>
          <a:p>
            <a:r>
              <a:rPr lang="en-US" dirty="0" smtClean="0"/>
              <a:t>Height: 1.7 m</a:t>
            </a:r>
          </a:p>
          <a:p>
            <a:r>
              <a:rPr lang="en-US" dirty="0" smtClean="0"/>
              <a:t>Distance from Pat: ∣1.6−1.7∣=0.1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6. Bob</a:t>
            </a:r>
          </a:p>
          <a:p>
            <a:endParaRPr lang="en-US" dirty="0" smtClean="0"/>
          </a:p>
          <a:p>
            <a:r>
              <a:rPr lang="en-US" dirty="0" smtClean="0"/>
              <a:t>Height: 1.85 m</a:t>
            </a:r>
          </a:p>
          <a:p>
            <a:r>
              <a:rPr lang="en-US" dirty="0" smtClean="0"/>
              <a:t>Distance from Pat: ∣1.6−1.85∣=0.25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7. Kathy</a:t>
            </a:r>
          </a:p>
          <a:p>
            <a:endParaRPr lang="en-US" dirty="0" smtClean="0"/>
          </a:p>
          <a:p>
            <a:r>
              <a:rPr lang="en-US" dirty="0" smtClean="0"/>
              <a:t>Height: 1.6 m</a:t>
            </a:r>
          </a:p>
          <a:p>
            <a:r>
              <a:rPr lang="en-US" dirty="0" smtClean="0"/>
              <a:t>Distance from Pat: ∣1.6−1.6∣=0.0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8. Dave</a:t>
            </a:r>
          </a:p>
          <a:p>
            <a:endParaRPr lang="en-US" dirty="0" smtClean="0"/>
          </a:p>
          <a:p>
            <a:r>
              <a:rPr lang="en-US" dirty="0" smtClean="0"/>
              <a:t>Height: 1.7 m</a:t>
            </a:r>
          </a:p>
          <a:p>
            <a:r>
              <a:rPr lang="en-US" dirty="0" smtClean="0"/>
              <a:t>Distance from Pat: ∣1.6−1.7∣=0.1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9. Worth</a:t>
            </a:r>
          </a:p>
          <a:p>
            <a:endParaRPr lang="en-US" dirty="0" smtClean="0"/>
          </a:p>
          <a:p>
            <a:r>
              <a:rPr lang="en-US" dirty="0" smtClean="0"/>
              <a:t>Height: 2.2 m</a:t>
            </a:r>
          </a:p>
          <a:p>
            <a:r>
              <a:rPr lang="en-US" dirty="0" smtClean="0"/>
              <a:t>Distance from Pat: ∣1.6−2.2∣=0.6</a:t>
            </a:r>
          </a:p>
          <a:p>
            <a:r>
              <a:rPr lang="en-US" dirty="0" smtClean="0"/>
              <a:t>Output: Tall</a:t>
            </a:r>
          </a:p>
          <a:p>
            <a:endParaRPr lang="en-US" dirty="0" smtClean="0"/>
          </a:p>
          <a:p>
            <a:r>
              <a:rPr lang="en-US" dirty="0" smtClean="0"/>
              <a:t>10. Steven</a:t>
            </a:r>
          </a:p>
          <a:p>
            <a:endParaRPr lang="en-US" dirty="0" smtClean="0"/>
          </a:p>
          <a:p>
            <a:r>
              <a:rPr lang="en-US" dirty="0" smtClean="0"/>
              <a:t>Height: 2.1 m</a:t>
            </a:r>
          </a:p>
          <a:p>
            <a:r>
              <a:rPr lang="en-US" dirty="0" smtClean="0"/>
              <a:t>Distance from Pat: ∣1.6−2.1∣=0.5</a:t>
            </a:r>
          </a:p>
          <a:p>
            <a:r>
              <a:rPr lang="en-US" dirty="0" smtClean="0"/>
              <a:t>Output: Tall</a:t>
            </a:r>
          </a:p>
          <a:p>
            <a:endParaRPr lang="en-US" dirty="0" smtClean="0"/>
          </a:p>
          <a:p>
            <a:r>
              <a:rPr lang="en-US" dirty="0" smtClean="0"/>
              <a:t>11. Debbie</a:t>
            </a:r>
          </a:p>
          <a:p>
            <a:endParaRPr lang="en-US" dirty="0" smtClean="0"/>
          </a:p>
          <a:p>
            <a:r>
              <a:rPr lang="en-US" dirty="0" smtClean="0"/>
              <a:t>Height: 1.8 m</a:t>
            </a:r>
          </a:p>
          <a:p>
            <a:r>
              <a:rPr lang="en-US" dirty="0" smtClean="0"/>
              <a:t>Distance from Pat: ∣1.6−1.8∣=0.2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12. Todd</a:t>
            </a:r>
          </a:p>
          <a:p>
            <a:endParaRPr lang="en-US" dirty="0" smtClean="0"/>
          </a:p>
          <a:p>
            <a:r>
              <a:rPr lang="en-US" dirty="0" smtClean="0"/>
              <a:t>Height: 1.95 m</a:t>
            </a:r>
          </a:p>
          <a:p>
            <a:r>
              <a:rPr lang="en-US" dirty="0" smtClean="0"/>
              <a:t>Distance from Pat: ∣1.6−1.95∣=0.35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13. Kim</a:t>
            </a:r>
          </a:p>
          <a:p>
            <a:endParaRPr lang="en-US" dirty="0" smtClean="0"/>
          </a:p>
          <a:p>
            <a:r>
              <a:rPr lang="en-US" dirty="0" smtClean="0"/>
              <a:t>Height: 1.9 m</a:t>
            </a:r>
          </a:p>
          <a:p>
            <a:r>
              <a:rPr lang="en-US" dirty="0" smtClean="0"/>
              <a:t>Distance from Pat: ∣1.6−1.9∣=0.3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14. Amy</a:t>
            </a:r>
          </a:p>
          <a:p>
            <a:endParaRPr lang="en-US" dirty="0" smtClean="0"/>
          </a:p>
          <a:p>
            <a:r>
              <a:rPr lang="en-US" dirty="0" smtClean="0"/>
              <a:t>Height: 1.8 m</a:t>
            </a:r>
          </a:p>
          <a:p>
            <a:r>
              <a:rPr lang="en-US" dirty="0" smtClean="0"/>
              <a:t>Distance from Pat: ∣1.6−1.8∣=0.2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15. </a:t>
            </a:r>
            <a:r>
              <a:rPr lang="en-US" dirty="0" err="1" smtClean="0"/>
              <a:t>Wynette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Height: 1.75 m</a:t>
            </a:r>
          </a:p>
          <a:p>
            <a:r>
              <a:rPr lang="en-US" dirty="0" smtClean="0"/>
              <a:t>Distance from Pat: ∣1.6−1.75∣=0.15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Step 3: Select the nearest k=5 neighbors</a:t>
            </a:r>
          </a:p>
          <a:p>
            <a:endParaRPr lang="en-US" dirty="0" smtClean="0"/>
          </a:p>
          <a:p>
            <a:r>
              <a:rPr lang="en-US" dirty="0" smtClean="0"/>
              <a:t>1. Kristina</a:t>
            </a:r>
          </a:p>
          <a:p>
            <a:endParaRPr lang="en-US" dirty="0" smtClean="0"/>
          </a:p>
          <a:p>
            <a:r>
              <a:rPr lang="en-US" dirty="0" smtClean="0"/>
              <a:t>Gender: Female</a:t>
            </a:r>
          </a:p>
          <a:p>
            <a:r>
              <a:rPr lang="en-US" dirty="0" smtClean="0"/>
              <a:t>Height: 1.6 m</a:t>
            </a:r>
          </a:p>
          <a:p>
            <a:r>
              <a:rPr lang="en-US" dirty="0" smtClean="0"/>
              <a:t>Distance from Pat: 0.0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2. Kathy</a:t>
            </a:r>
          </a:p>
          <a:p>
            <a:endParaRPr lang="en-US" dirty="0" smtClean="0"/>
          </a:p>
          <a:p>
            <a:r>
              <a:rPr lang="en-US" dirty="0" smtClean="0"/>
              <a:t>Gender: Female</a:t>
            </a:r>
          </a:p>
          <a:p>
            <a:r>
              <a:rPr lang="en-US" dirty="0" smtClean="0"/>
              <a:t>Height: 1.6 m</a:t>
            </a:r>
          </a:p>
          <a:p>
            <a:r>
              <a:rPr lang="en-US" dirty="0" smtClean="0"/>
              <a:t>Distance from Pat: 0.0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3. Stephanie</a:t>
            </a:r>
          </a:p>
          <a:p>
            <a:endParaRPr lang="en-US" dirty="0" smtClean="0"/>
          </a:p>
          <a:p>
            <a:r>
              <a:rPr lang="en-US" dirty="0" smtClean="0"/>
              <a:t>Gender: Female</a:t>
            </a:r>
          </a:p>
          <a:p>
            <a:r>
              <a:rPr lang="en-US" dirty="0" smtClean="0"/>
              <a:t>Height: 1.7 m</a:t>
            </a:r>
          </a:p>
          <a:p>
            <a:r>
              <a:rPr lang="en-US" dirty="0" smtClean="0"/>
              <a:t>Distance from Pat: 0.1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4. Dave</a:t>
            </a:r>
          </a:p>
          <a:p>
            <a:endParaRPr lang="en-US" dirty="0" smtClean="0"/>
          </a:p>
          <a:p>
            <a:r>
              <a:rPr lang="en-US" dirty="0" smtClean="0"/>
              <a:t>Gender: Male</a:t>
            </a:r>
          </a:p>
          <a:p>
            <a:r>
              <a:rPr lang="en-US" dirty="0" smtClean="0"/>
              <a:t>Height: 1.7 m</a:t>
            </a:r>
          </a:p>
          <a:p>
            <a:r>
              <a:rPr lang="en-US" dirty="0" smtClean="0"/>
              <a:t>Distance from Pat: 0.1</a:t>
            </a:r>
          </a:p>
          <a:p>
            <a:r>
              <a:rPr lang="en-US" dirty="0" smtClean="0"/>
              <a:t>Output: Short</a:t>
            </a:r>
          </a:p>
          <a:p>
            <a:endParaRPr lang="en-US" dirty="0" smtClean="0"/>
          </a:p>
          <a:p>
            <a:r>
              <a:rPr lang="en-US" dirty="0" smtClean="0"/>
              <a:t>5. </a:t>
            </a:r>
            <a:r>
              <a:rPr lang="en-US" dirty="0" err="1" smtClean="0"/>
              <a:t>Wynette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Gender: Female</a:t>
            </a:r>
          </a:p>
          <a:p>
            <a:r>
              <a:rPr lang="en-US" dirty="0" smtClean="0"/>
              <a:t>Height: 1.75 m</a:t>
            </a:r>
          </a:p>
          <a:p>
            <a:r>
              <a:rPr lang="en-US" dirty="0" smtClean="0"/>
              <a:t>Distance from Pat: 0.15</a:t>
            </a:r>
          </a:p>
          <a:p>
            <a:r>
              <a:rPr lang="en-US" dirty="0" smtClean="0"/>
              <a:t>Output: Medium</a:t>
            </a:r>
          </a:p>
          <a:p>
            <a:endParaRPr lang="en-US" dirty="0" smtClean="0"/>
          </a:p>
          <a:p>
            <a:r>
              <a:rPr lang="en-US" dirty="0" smtClean="0"/>
              <a:t>Step 4: Classify based on the majority class</a:t>
            </a:r>
          </a:p>
          <a:p>
            <a:r>
              <a:rPr lang="en-US" dirty="0" smtClean="0"/>
              <a:t>From the 5 nearest neighbors:</a:t>
            </a:r>
          </a:p>
          <a:p>
            <a:endParaRPr lang="en-US" dirty="0" smtClean="0"/>
          </a:p>
          <a:p>
            <a:r>
              <a:rPr lang="en-US" dirty="0" smtClean="0"/>
              <a:t>Short: 4 neighbors (Kristina, Kathy, Stephanie, Dave)</a:t>
            </a:r>
          </a:p>
          <a:p>
            <a:r>
              <a:rPr lang="en-US" dirty="0" smtClean="0"/>
              <a:t>Medium: 1 neighbor (</a:t>
            </a:r>
            <a:r>
              <a:rPr lang="en-US" dirty="0" err="1" smtClean="0"/>
              <a:t>Wynette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majority class is Short.</a:t>
            </a:r>
          </a:p>
          <a:p>
            <a:endParaRPr lang="en-US" dirty="0" smtClean="0"/>
          </a:p>
          <a:p>
            <a:r>
              <a:rPr lang="en-US" dirty="0" smtClean="0"/>
              <a:t>Final Classification</a:t>
            </a:r>
          </a:p>
          <a:p>
            <a:r>
              <a:rPr lang="en-US" dirty="0" smtClean="0"/>
              <a:t>The instance (Pat, F, 1.6) is classified as Short.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617CB-E6A9-4E37-A5A5-639A7FCBD5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44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1175208"/>
            <a:ext cx="8374549" cy="656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1199" y="1757806"/>
            <a:ext cx="82216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408" y="871254"/>
            <a:ext cx="584898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5" dirty="0">
                <a:solidFill>
                  <a:srgbClr val="000000"/>
                </a:solidFill>
              </a:rPr>
              <a:t>K-Nearest</a:t>
            </a:r>
            <a:r>
              <a:rPr sz="5200" spc="-95" dirty="0">
                <a:solidFill>
                  <a:srgbClr val="000000"/>
                </a:solidFill>
              </a:rPr>
              <a:t> </a:t>
            </a:r>
            <a:r>
              <a:rPr sz="5200" spc="-5" dirty="0">
                <a:solidFill>
                  <a:srgbClr val="000000"/>
                </a:solidFill>
              </a:rPr>
              <a:t>Neighbor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192008" y="2837025"/>
            <a:ext cx="6755130" cy="125920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078355" marR="2072639" indent="3175" algn="ctr">
              <a:lnSpc>
                <a:spcPts val="2280"/>
              </a:lnSpc>
              <a:spcBef>
                <a:spcPts val="655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Sadia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Islam 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Assistant</a:t>
            </a:r>
            <a:r>
              <a:rPr sz="235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Professor</a:t>
            </a:r>
            <a:endParaRPr sz="2350">
              <a:latin typeface="Arial MT"/>
              <a:cs typeface="Arial MT"/>
            </a:endParaRPr>
          </a:p>
          <a:p>
            <a:pPr marL="12700" marR="5080" algn="ctr">
              <a:lnSpc>
                <a:spcPts val="2280"/>
              </a:lnSpc>
              <a:spcBef>
                <a:spcPts val="10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Department of Computer Science and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engineering </a:t>
            </a:r>
            <a:r>
              <a:rPr sz="2350" spc="-6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United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International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7004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KNN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pc="-5" dirty="0"/>
              <a:t>The K-Nearest Neighbors </a:t>
            </a:r>
            <a:r>
              <a:rPr dirty="0"/>
              <a:t>(KNN) </a:t>
            </a:r>
            <a:r>
              <a:rPr spc="-5" dirty="0"/>
              <a:t>algorithm is </a:t>
            </a:r>
            <a:r>
              <a:rPr dirty="0"/>
              <a:t>a simple, yet </a:t>
            </a:r>
            <a:r>
              <a:rPr spc="-5" dirty="0"/>
              <a:t>powerful, </a:t>
            </a:r>
            <a:r>
              <a:rPr dirty="0"/>
              <a:t>machine </a:t>
            </a:r>
            <a:r>
              <a:rPr spc="5" dirty="0"/>
              <a:t> </a:t>
            </a:r>
            <a:r>
              <a:rPr spc="-5" dirty="0"/>
              <a:t>learning</a:t>
            </a:r>
            <a:r>
              <a:rPr spc="-15" dirty="0"/>
              <a:t> </a:t>
            </a:r>
            <a:r>
              <a:rPr spc="-5" dirty="0"/>
              <a:t>algorithm</a:t>
            </a:r>
            <a:r>
              <a:rPr spc="-10" dirty="0"/>
              <a:t> </a:t>
            </a:r>
            <a:r>
              <a:rPr dirty="0"/>
              <a:t>commonly</a:t>
            </a:r>
            <a:r>
              <a:rPr spc="-15" dirty="0"/>
              <a:t> </a:t>
            </a:r>
            <a:r>
              <a:rPr spc="-5" dirty="0"/>
              <a:t>used</a:t>
            </a:r>
            <a:r>
              <a:rPr spc="-1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both</a:t>
            </a:r>
            <a:r>
              <a:rPr spc="-10" dirty="0"/>
              <a:t> </a:t>
            </a:r>
            <a:r>
              <a:rPr dirty="0"/>
              <a:t>classification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dirty="0"/>
              <a:t>regression</a:t>
            </a:r>
            <a:r>
              <a:rPr spc="-15" dirty="0"/>
              <a:t> </a:t>
            </a:r>
            <a:r>
              <a:rPr spc="-5" dirty="0"/>
              <a:t>tasks.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356" y="2265636"/>
            <a:ext cx="6222309" cy="2259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03327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7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classifier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62290" cy="31972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00330" algn="just">
              <a:lnSpc>
                <a:spcPts val="2270"/>
              </a:lnSpc>
              <a:spcBef>
                <a:spcPts val="8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KNN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classifier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works by finding the 'k'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closest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 points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(neighbors)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 the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want to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classify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 then assigns it to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most common class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among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those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Steps:</a:t>
            </a:r>
            <a:endParaRPr sz="1800" dirty="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Choose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number 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 smtClean="0">
                <a:solidFill>
                  <a:srgbClr val="595959"/>
                </a:solidFill>
                <a:latin typeface="Arial MT"/>
                <a:cs typeface="Arial MT"/>
              </a:rPr>
              <a:t>neighbors</a:t>
            </a:r>
            <a:r>
              <a:rPr sz="1800" spc="-10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 smtClean="0">
                <a:solidFill>
                  <a:srgbClr val="595959"/>
                </a:solidFill>
                <a:latin typeface="Arial MT"/>
                <a:cs typeface="Arial MT"/>
              </a:rPr>
              <a:t>(k):</a:t>
            </a:r>
            <a:r>
              <a:rPr sz="1800" spc="-35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typically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small,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odd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number.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05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 the distance: Compute the distance between the new point and all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points in the dataset.</a:t>
            </a:r>
            <a:endParaRPr sz="1800" dirty="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1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neighbors: Choose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'k'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 are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closest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new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point.</a:t>
            </a:r>
            <a:endParaRPr sz="1800" dirty="0">
              <a:latin typeface="Arial MT"/>
              <a:cs typeface="Arial MT"/>
            </a:endParaRPr>
          </a:p>
          <a:p>
            <a:pPr marL="469900" marR="20320" indent="-367030">
              <a:lnSpc>
                <a:spcPct val="105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Majority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vote:</a:t>
            </a:r>
            <a:r>
              <a:rPr sz="1800" spc="-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Assign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 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most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common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among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selected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'k' neighbors.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343789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KNN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classifier-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example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765810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Let's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say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 have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small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dataset with two features and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binary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label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(either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or 1):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348" y="1871375"/>
            <a:ext cx="7623600" cy="3214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5261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classifier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3093720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Classify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715" dirty="0">
                <a:solidFill>
                  <a:srgbClr val="595959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00" y="1657350"/>
            <a:ext cx="8715374" cy="1828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5261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classifier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205383"/>
            <a:ext cx="8131175" cy="321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ts val="2105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Distances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ts val="205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will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Euclidean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endParaRPr sz="1800">
              <a:latin typeface="Arial MT"/>
              <a:cs typeface="Arial MT"/>
            </a:endParaRPr>
          </a:p>
          <a:p>
            <a:pPr marL="379095" marR="457200" indent="-367030">
              <a:lnSpc>
                <a:spcPts val="2050"/>
              </a:lnSpc>
              <a:spcBef>
                <a:spcPts val="10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Euclidean distance formula is: distance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 sqrt{(x_2 - x_1)^2 + (y_2 -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y_1)^2}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ts val="2005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A: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sqrt{(4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1)^2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(4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2)^2}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\sqrt{9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4}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\sqrt{13}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3.6</a:t>
            </a:r>
            <a:endParaRPr sz="1800">
              <a:latin typeface="Arial MT"/>
              <a:cs typeface="Arial MT"/>
            </a:endParaRPr>
          </a:p>
          <a:p>
            <a:pPr marL="379095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same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way: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ts val="2105"/>
              </a:lnSpc>
              <a:spcBef>
                <a:spcPts val="109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2.2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ts val="205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1.4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ts val="205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2.2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ts val="205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5.0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ts val="2105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6.4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5261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classifier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5913755" cy="9131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Choose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Find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Nearest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Assume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k=3.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choose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3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nearest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X:</a:t>
            </a:r>
            <a:endParaRPr sz="1800">
              <a:latin typeface="Arial MT"/>
              <a:cs typeface="Arial MT"/>
            </a:endParaRPr>
          </a:p>
          <a:p>
            <a:pPr marL="836294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Neighbors: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(1.4),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(2.2),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(2.2)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52615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classifier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3602990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Classify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Based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Majority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Vote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715" dirty="0">
                <a:solidFill>
                  <a:srgbClr val="595959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1612250"/>
            <a:ext cx="8524874" cy="20573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4066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8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Regression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05383"/>
            <a:ext cx="8124190" cy="26898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30480">
              <a:lnSpc>
                <a:spcPts val="2050"/>
              </a:lnSpc>
              <a:spcBef>
                <a:spcPts val="26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KNN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regression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predicts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new data point based on the average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(or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sometimes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weighted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average) of 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'k' nearest neighbors.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Steps: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ts val="2105"/>
              </a:lnSpc>
              <a:spcBef>
                <a:spcPts val="109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Choose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number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(k):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small,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odd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number.</a:t>
            </a:r>
            <a:endParaRPr sz="1800">
              <a:latin typeface="Arial MT"/>
              <a:cs typeface="Arial MT"/>
            </a:endParaRPr>
          </a:p>
          <a:p>
            <a:pPr marL="469900" marR="5080" indent="-367030">
              <a:lnSpc>
                <a:spcPts val="2050"/>
              </a:lnSpc>
              <a:spcBef>
                <a:spcPts val="10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 the distance: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Measure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distance between the new point and all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points in the dataset.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ts val="195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neighbors: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Identify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'k'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closest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new point.</a:t>
            </a:r>
            <a:endParaRPr sz="1800">
              <a:latin typeface="Arial MT"/>
              <a:cs typeface="Arial MT"/>
            </a:endParaRPr>
          </a:p>
          <a:p>
            <a:pPr marL="469900" marR="471170" indent="-367030">
              <a:lnSpc>
                <a:spcPts val="2050"/>
              </a:lnSpc>
              <a:spcBef>
                <a:spcPts val="10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Average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values: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Compute the average of the target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the 'k'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38989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latin typeface="Arial MT"/>
                <a:cs typeface="Arial MT"/>
              </a:rPr>
              <a:t>KNN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Regression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-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example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15" dirty="0">
                <a:solidFill>
                  <a:srgbClr val="595959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1009650"/>
            <a:ext cx="8477249" cy="41338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8989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3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Regression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3004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Point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Predict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1695450"/>
            <a:ext cx="8439149" cy="17525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8989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3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Regression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80070" cy="312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Distances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spc="-35" dirty="0">
                <a:latin typeface="Arial MT"/>
                <a:cs typeface="Arial MT"/>
              </a:rPr>
              <a:t>W</a:t>
            </a:r>
            <a:r>
              <a:rPr sz="1800" spc="-5" dirty="0">
                <a:latin typeface="Arial MT"/>
                <a:cs typeface="Arial MT"/>
              </a:rPr>
              <a:t>e'l</a:t>
            </a:r>
            <a:r>
              <a:rPr sz="1800" dirty="0">
                <a:latin typeface="Arial MT"/>
                <a:cs typeface="Arial MT"/>
              </a:rPr>
              <a:t>l</a:t>
            </a:r>
            <a:r>
              <a:rPr sz="1800" spc="-5" dirty="0">
                <a:latin typeface="Arial MT"/>
                <a:cs typeface="Arial MT"/>
              </a:rPr>
              <a:t> us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Euclidea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distanc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t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5" dirty="0">
                <a:latin typeface="Arial MT"/>
                <a:cs typeface="Arial MT"/>
              </a:rPr>
              <a:t> fin</a:t>
            </a:r>
            <a:r>
              <a:rPr sz="1800" dirty="0">
                <a:latin typeface="Arial MT"/>
                <a:cs typeface="Arial MT"/>
              </a:rPr>
              <a:t>d</a:t>
            </a:r>
            <a:r>
              <a:rPr sz="1800" spc="-5" dirty="0">
                <a:latin typeface="Arial MT"/>
                <a:cs typeface="Arial MT"/>
              </a:rPr>
              <a:t> th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distance</a:t>
            </a:r>
            <a:r>
              <a:rPr sz="1800" dirty="0">
                <a:latin typeface="Arial MT"/>
                <a:cs typeface="Arial MT"/>
              </a:rPr>
              <a:t>s</a:t>
            </a:r>
            <a:r>
              <a:rPr sz="1800" spc="-5" dirty="0">
                <a:latin typeface="Arial MT"/>
                <a:cs typeface="Arial MT"/>
              </a:rPr>
              <a:t> betwee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X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 MT"/>
                <a:cs typeface="Arial MT"/>
              </a:rPr>
              <a:t>an</a:t>
            </a:r>
            <a:r>
              <a:rPr sz="1800" dirty="0">
                <a:latin typeface="Arial MT"/>
                <a:cs typeface="Arial MT"/>
              </a:rPr>
              <a:t>d</a:t>
            </a:r>
            <a:r>
              <a:rPr sz="1800" spc="-5" dirty="0">
                <a:latin typeface="Arial MT"/>
                <a:cs typeface="Arial MT"/>
              </a:rPr>
              <a:t> al</a:t>
            </a:r>
            <a:r>
              <a:rPr sz="1800" dirty="0">
                <a:latin typeface="Arial MT"/>
                <a:cs typeface="Arial MT"/>
              </a:rPr>
              <a:t>l</a:t>
            </a:r>
            <a:r>
              <a:rPr sz="1800" spc="-5" dirty="0">
                <a:latin typeface="Arial MT"/>
                <a:cs typeface="Arial MT"/>
              </a:rPr>
              <a:t> th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point</a:t>
            </a:r>
            <a:r>
              <a:rPr sz="1800" dirty="0">
                <a:latin typeface="Arial MT"/>
                <a:cs typeface="Arial MT"/>
              </a:rPr>
              <a:t>s</a:t>
            </a:r>
            <a:r>
              <a:rPr sz="1800" spc="-5" dirty="0">
                <a:latin typeface="Arial MT"/>
                <a:cs typeface="Arial MT"/>
              </a:rPr>
              <a:t> in  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dataset.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latin typeface="Arial MT"/>
                <a:cs typeface="Arial MT"/>
              </a:rPr>
              <a:t>Distanc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fro</a:t>
            </a:r>
            <a:r>
              <a:rPr sz="1800" dirty="0">
                <a:latin typeface="Arial MT"/>
                <a:cs typeface="Arial MT"/>
              </a:rPr>
              <a:t>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X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 MT"/>
                <a:cs typeface="Arial MT"/>
              </a:rPr>
              <a:t>t</a:t>
            </a:r>
            <a:r>
              <a:rPr sz="1800" dirty="0">
                <a:latin typeface="Arial MT"/>
                <a:cs typeface="Arial MT"/>
              </a:rPr>
              <a:t>o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A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3.6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  <a:tab pos="469900" algn="l"/>
                <a:tab pos="2672080" algn="l"/>
              </a:tabLst>
            </a:pPr>
            <a:r>
              <a:rPr sz="1800" spc="-5" dirty="0">
                <a:latin typeface="Arial MT"/>
                <a:cs typeface="Arial MT"/>
              </a:rPr>
              <a:t>Distance from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X</a:t>
            </a:r>
            <a:r>
              <a:rPr sz="1800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 MT"/>
                <a:cs typeface="Arial MT"/>
              </a:rPr>
              <a:t>to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B	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2.2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  <a:tab pos="469900" algn="l"/>
                <a:tab pos="2672080" algn="l"/>
              </a:tabLst>
            </a:pPr>
            <a:r>
              <a:rPr sz="1800" spc="-5" dirty="0">
                <a:latin typeface="Arial MT"/>
                <a:cs typeface="Arial MT"/>
              </a:rPr>
              <a:t>Distance from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X</a:t>
            </a:r>
            <a:r>
              <a:rPr sz="1800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 MT"/>
                <a:cs typeface="Arial MT"/>
              </a:rPr>
              <a:t>to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C	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1.4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latin typeface="Arial MT"/>
                <a:cs typeface="Arial MT"/>
              </a:rPr>
              <a:t>Distanc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fro</a:t>
            </a:r>
            <a:r>
              <a:rPr sz="1800" dirty="0">
                <a:latin typeface="Arial MT"/>
                <a:cs typeface="Arial MT"/>
              </a:rPr>
              <a:t>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X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 MT"/>
                <a:cs typeface="Arial MT"/>
              </a:rPr>
              <a:t>t</a:t>
            </a:r>
            <a:r>
              <a:rPr sz="1800" dirty="0">
                <a:latin typeface="Arial MT"/>
                <a:cs typeface="Arial MT"/>
              </a:rPr>
              <a:t>o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2.2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latin typeface="Arial MT"/>
                <a:cs typeface="Arial MT"/>
              </a:rPr>
              <a:t>Distanc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fro</a:t>
            </a:r>
            <a:r>
              <a:rPr sz="1800" dirty="0">
                <a:latin typeface="Arial MT"/>
                <a:cs typeface="Arial MT"/>
              </a:rPr>
              <a:t>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X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 MT"/>
                <a:cs typeface="Arial MT"/>
              </a:rPr>
              <a:t>t</a:t>
            </a:r>
            <a:r>
              <a:rPr sz="1800" dirty="0">
                <a:latin typeface="Arial MT"/>
                <a:cs typeface="Arial MT"/>
              </a:rPr>
              <a:t>o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E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5.0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latin typeface="Arial MT"/>
                <a:cs typeface="Arial MT"/>
              </a:rPr>
              <a:t>Distanc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fro</a:t>
            </a:r>
            <a:r>
              <a:rPr sz="1800" dirty="0">
                <a:latin typeface="Arial MT"/>
                <a:cs typeface="Arial MT"/>
              </a:rPr>
              <a:t>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X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Arial MT"/>
                <a:cs typeface="Arial MT"/>
              </a:rPr>
              <a:t>t</a:t>
            </a:r>
            <a:r>
              <a:rPr sz="1800" dirty="0">
                <a:latin typeface="Arial MT"/>
                <a:cs typeface="Arial MT"/>
              </a:rPr>
              <a:t>o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F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6.4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8989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3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Regression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427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Choose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Find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Nearest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038350"/>
            <a:ext cx="8381999" cy="1066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8989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KNN</a:t>
            </a:r>
            <a:r>
              <a:rPr sz="2500" spc="-3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Regression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-</a:t>
            </a:r>
            <a:r>
              <a:rPr sz="2500" spc="-2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94040" cy="233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Predict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Value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spc="-1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predict 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for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X,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 take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average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target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nearest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neighbors: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Values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nearest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neighbors: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3.5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(C),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2.0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(B),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6.0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(D)</a:t>
            </a:r>
            <a:endParaRPr sz="1800">
              <a:latin typeface="Arial MT"/>
              <a:cs typeface="Arial MT"/>
            </a:endParaRPr>
          </a:p>
          <a:p>
            <a:pPr marL="469900" indent="-367030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Predicted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value: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(3.5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2.0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6.0)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/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3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11.5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/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3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3.83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So,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predicted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KNN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approximately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3.83.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85305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Measuring</a:t>
            </a:r>
            <a:r>
              <a:rPr sz="2500" spc="-50" dirty="0">
                <a:solidFill>
                  <a:srgbClr val="000000"/>
                </a:solidFill>
              </a:rPr>
              <a:t> </a:t>
            </a:r>
            <a:r>
              <a:rPr sz="2500" dirty="0">
                <a:solidFill>
                  <a:srgbClr val="000000"/>
                </a:solidFill>
              </a:rPr>
              <a:t>Distance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191012"/>
            <a:ext cx="8096249" cy="1904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7475" y="3576499"/>
            <a:ext cx="2636424" cy="9624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90450" y="3890768"/>
            <a:ext cx="205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Minkowski</a:t>
            </a:r>
            <a:r>
              <a:rPr sz="1800" spc="-8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distance,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83464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Minkowski</a:t>
            </a:r>
            <a:r>
              <a:rPr sz="2500" spc="-50" dirty="0">
                <a:solidFill>
                  <a:srgbClr val="000000"/>
                </a:solidFill>
              </a:rPr>
              <a:t> </a:t>
            </a:r>
            <a:r>
              <a:rPr sz="2500" dirty="0">
                <a:solidFill>
                  <a:srgbClr val="000000"/>
                </a:solidFill>
              </a:rPr>
              <a:t>Distance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8875" y="1896837"/>
            <a:ext cx="236855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05192D"/>
                </a:solidFill>
                <a:latin typeface="Arial MT"/>
                <a:cs typeface="Arial MT"/>
              </a:rPr>
              <a:t>Considering</a:t>
            </a:r>
            <a:r>
              <a:rPr sz="1100" spc="-20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05192D"/>
                </a:solidFill>
                <a:latin typeface="Arial MT"/>
                <a:cs typeface="Arial MT"/>
              </a:rPr>
              <a:t>two</a:t>
            </a:r>
            <a:r>
              <a:rPr sz="1100" spc="-1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05192D"/>
                </a:solidFill>
                <a:latin typeface="Arial MT"/>
                <a:cs typeface="Arial MT"/>
              </a:rPr>
              <a:t>points</a:t>
            </a:r>
            <a:r>
              <a:rPr sz="1100" spc="-1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05192D"/>
                </a:solidFill>
                <a:latin typeface="Arial MT"/>
                <a:cs typeface="Arial MT"/>
              </a:rPr>
              <a:t>in</a:t>
            </a:r>
            <a:r>
              <a:rPr sz="1100" spc="-1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5192D"/>
                </a:solidFill>
                <a:latin typeface="Arial MT"/>
                <a:cs typeface="Arial MT"/>
              </a:rPr>
              <a:t>a</a:t>
            </a:r>
            <a:r>
              <a:rPr sz="1100" spc="-20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05192D"/>
                </a:solidFill>
                <a:latin typeface="Arial MT"/>
                <a:cs typeface="Arial MT"/>
              </a:rPr>
              <a:t>2D</a:t>
            </a:r>
            <a:r>
              <a:rPr sz="1100" spc="-1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5192D"/>
                </a:solidFill>
                <a:latin typeface="Arial MT"/>
                <a:cs typeface="Arial MT"/>
              </a:rPr>
              <a:t>space: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MT"/>
              <a:cs typeface="Arial MT"/>
            </a:endParaRPr>
          </a:p>
          <a:p>
            <a:pPr marL="469900" indent="-33274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350" spc="-5" dirty="0">
                <a:solidFill>
                  <a:srgbClr val="05192D"/>
                </a:solidFill>
                <a:latin typeface="Arial MT"/>
                <a:cs typeface="Arial MT"/>
              </a:rPr>
              <a:t>Poin</a:t>
            </a:r>
            <a:r>
              <a:rPr sz="1350" dirty="0">
                <a:solidFill>
                  <a:srgbClr val="05192D"/>
                </a:solidFill>
                <a:latin typeface="Arial MT"/>
                <a:cs typeface="Arial MT"/>
              </a:rPr>
              <a:t>t</a:t>
            </a:r>
            <a:r>
              <a:rPr sz="1350" spc="-80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05192D"/>
                </a:solidFill>
                <a:latin typeface="Arial MT"/>
                <a:cs typeface="Arial MT"/>
              </a:rPr>
              <a:t>A</a:t>
            </a:r>
            <a:r>
              <a:rPr sz="1350" dirty="0">
                <a:solidFill>
                  <a:srgbClr val="05192D"/>
                </a:solidFill>
                <a:latin typeface="Arial MT"/>
                <a:cs typeface="Arial MT"/>
              </a:rPr>
              <a:t>:</a:t>
            </a:r>
            <a:r>
              <a:rPr sz="1350" spc="-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5192D"/>
                </a:solidFill>
                <a:latin typeface="Arial MT"/>
                <a:cs typeface="Arial MT"/>
              </a:rPr>
              <a:t>(2,</a:t>
            </a:r>
            <a:r>
              <a:rPr sz="1350" spc="-5" dirty="0">
                <a:solidFill>
                  <a:srgbClr val="05192D"/>
                </a:solidFill>
                <a:latin typeface="Arial MT"/>
                <a:cs typeface="Arial MT"/>
              </a:rPr>
              <a:t> 3)</a:t>
            </a:r>
            <a:endParaRPr sz="1350">
              <a:latin typeface="Arial MT"/>
              <a:cs typeface="Arial MT"/>
            </a:endParaRPr>
          </a:p>
          <a:p>
            <a:pPr marL="469900" indent="-332740">
              <a:lnSpc>
                <a:spcPct val="100000"/>
              </a:lnSpc>
              <a:spcBef>
                <a:spcPts val="245"/>
              </a:spcBef>
              <a:buChar char="●"/>
              <a:tabLst>
                <a:tab pos="469265" algn="l"/>
                <a:tab pos="469900" algn="l"/>
              </a:tabLst>
            </a:pPr>
            <a:r>
              <a:rPr sz="1350" spc="-5" dirty="0">
                <a:solidFill>
                  <a:srgbClr val="05192D"/>
                </a:solidFill>
                <a:latin typeface="Arial MT"/>
                <a:cs typeface="Arial MT"/>
              </a:rPr>
              <a:t>Point</a:t>
            </a:r>
            <a:r>
              <a:rPr sz="1350" spc="-3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05192D"/>
                </a:solidFill>
                <a:latin typeface="Arial MT"/>
                <a:cs typeface="Arial MT"/>
              </a:rPr>
              <a:t>B:</a:t>
            </a:r>
            <a:r>
              <a:rPr sz="1350" spc="-3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5192D"/>
                </a:solidFill>
                <a:latin typeface="Arial MT"/>
                <a:cs typeface="Arial MT"/>
              </a:rPr>
              <a:t>(5,</a:t>
            </a:r>
            <a:r>
              <a:rPr sz="1350" spc="-35" dirty="0">
                <a:solidFill>
                  <a:srgbClr val="05192D"/>
                </a:solidFill>
                <a:latin typeface="Arial MT"/>
                <a:cs typeface="Arial MT"/>
              </a:rPr>
              <a:t> </a:t>
            </a:r>
            <a:r>
              <a:rPr sz="1350" spc="-5" dirty="0">
                <a:solidFill>
                  <a:srgbClr val="05192D"/>
                </a:solidFill>
                <a:latin typeface="Arial MT"/>
                <a:cs typeface="Arial MT"/>
              </a:rPr>
              <a:t>7)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5852" y="1232606"/>
            <a:ext cx="4687757" cy="35032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99" y="3241250"/>
            <a:ext cx="2636423" cy="9624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85305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Measuring</a:t>
            </a:r>
            <a:r>
              <a:rPr sz="2500" spc="-50" dirty="0">
                <a:solidFill>
                  <a:srgbClr val="000000"/>
                </a:solidFill>
              </a:rPr>
              <a:t> </a:t>
            </a:r>
            <a:r>
              <a:rPr sz="2500" dirty="0">
                <a:solidFill>
                  <a:srgbClr val="000000"/>
                </a:solidFill>
              </a:rPr>
              <a:t>Distance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0837" y="1081900"/>
            <a:ext cx="5182320" cy="3820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5518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>
                <a:solidFill>
                  <a:srgbClr val="000000"/>
                </a:solidFill>
              </a:rPr>
              <a:t>Measuring</a:t>
            </a:r>
            <a:r>
              <a:rPr sz="2500" spc="-1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Distance</a:t>
            </a:r>
            <a:r>
              <a:rPr sz="2500" spc="-10" dirty="0">
                <a:solidFill>
                  <a:srgbClr val="000000"/>
                </a:solidFill>
              </a:rPr>
              <a:t> </a:t>
            </a:r>
            <a:r>
              <a:rPr sz="2500" dirty="0">
                <a:solidFill>
                  <a:srgbClr val="000000"/>
                </a:solidFill>
              </a:rPr>
              <a:t>for</a:t>
            </a:r>
            <a:r>
              <a:rPr sz="2500" spc="-1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two</a:t>
            </a:r>
            <a:r>
              <a:rPr sz="2500" spc="-15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data</a:t>
            </a:r>
            <a:r>
              <a:rPr sz="2500" spc="-5" dirty="0">
                <a:solidFill>
                  <a:srgbClr val="000000"/>
                </a:solidFill>
              </a:rPr>
              <a:t> </a:t>
            </a:r>
            <a:r>
              <a:rPr sz="2500" dirty="0">
                <a:solidFill>
                  <a:srgbClr val="000000"/>
                </a:solidFill>
              </a:rPr>
              <a:t>points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1662" y="1143062"/>
            <a:ext cx="5807430" cy="36971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65087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solidFill>
                  <a:srgbClr val="000000"/>
                </a:solidFill>
              </a:rPr>
              <a:t>Advantages</a:t>
            </a:r>
            <a:r>
              <a:rPr sz="2500" spc="-2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and</a:t>
            </a:r>
            <a:r>
              <a:rPr sz="2500" spc="-1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Disadvantages</a:t>
            </a:r>
            <a:r>
              <a:rPr sz="2500" spc="-1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of</a:t>
            </a:r>
            <a:r>
              <a:rPr sz="2500" spc="-1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using</a:t>
            </a:r>
            <a:r>
              <a:rPr sz="2500" spc="-10" dirty="0">
                <a:solidFill>
                  <a:srgbClr val="000000"/>
                </a:solidFill>
              </a:rPr>
              <a:t> </a:t>
            </a:r>
            <a:r>
              <a:rPr sz="2500" spc="5" dirty="0">
                <a:solidFill>
                  <a:srgbClr val="000000"/>
                </a:solidFill>
              </a:rPr>
              <a:t>KNN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84725" y="1208400"/>
            <a:ext cx="8369300" cy="29171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770"/>
              </a:lnSpc>
              <a:spcBef>
                <a:spcPts val="130"/>
              </a:spcBef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Advantages:</a:t>
            </a:r>
            <a:endParaRPr sz="1500" dirty="0">
              <a:latin typeface="Arial MT"/>
              <a:cs typeface="Arial MT"/>
            </a:endParaRPr>
          </a:p>
          <a:p>
            <a:pPr marL="469900" indent="-346075">
              <a:lnSpc>
                <a:spcPts val="1745"/>
              </a:lnSpc>
              <a:buChar char="●"/>
              <a:tabLst>
                <a:tab pos="469265" algn="l"/>
                <a:tab pos="469900" algn="l"/>
              </a:tabLst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algorithm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simple.</a:t>
            </a:r>
            <a:endParaRPr sz="1500" dirty="0">
              <a:latin typeface="Arial MT"/>
              <a:cs typeface="Arial MT"/>
            </a:endParaRPr>
          </a:p>
          <a:p>
            <a:pPr marL="469900" indent="-346075">
              <a:lnSpc>
                <a:spcPts val="1770"/>
              </a:lnSpc>
              <a:buChar char="●"/>
              <a:tabLst>
                <a:tab pos="469265" algn="l"/>
                <a:tab pos="469900" algn="l"/>
              </a:tabLst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Requires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no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assumptions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about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1700" dirty="0">
              <a:latin typeface="Arial MT"/>
              <a:cs typeface="Arial MT"/>
            </a:endParaRPr>
          </a:p>
          <a:p>
            <a:pPr marL="12700">
              <a:lnSpc>
                <a:spcPts val="1770"/>
              </a:lnSpc>
              <a:spcBef>
                <a:spcPts val="1475"/>
              </a:spcBef>
            </a:pP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Disadvantages:</a:t>
            </a:r>
            <a:endParaRPr sz="1500" dirty="0">
              <a:latin typeface="Arial MT"/>
              <a:cs typeface="Arial MT"/>
            </a:endParaRPr>
          </a:p>
          <a:p>
            <a:pPr marL="469900" marR="87630" indent="-346075" algn="just">
              <a:lnSpc>
                <a:spcPts val="1739"/>
              </a:lnSpc>
              <a:spcBef>
                <a:spcPts val="80"/>
              </a:spcBef>
              <a:buChar char="●"/>
              <a:tabLst>
                <a:tab pos="469900" algn="l"/>
              </a:tabLst>
            </a:pP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main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disadvantage of the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kNN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classifier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that it is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500" b="1" spc="10" dirty="0">
                <a:solidFill>
                  <a:srgbClr val="595959"/>
                </a:solidFill>
                <a:latin typeface="Arial"/>
                <a:cs typeface="Arial"/>
              </a:rPr>
              <a:t>lazy learner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,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i.e. it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does not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learn </a:t>
            </a:r>
            <a:r>
              <a:rPr sz="1500" spc="-4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anything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training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data and simply uses the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training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data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itself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for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classification.</a:t>
            </a:r>
            <a:endParaRPr sz="1500" dirty="0">
              <a:latin typeface="Arial MT"/>
              <a:cs typeface="Arial MT"/>
            </a:endParaRPr>
          </a:p>
          <a:p>
            <a:pPr marL="469900" marR="5080" indent="-346075" algn="just">
              <a:lnSpc>
                <a:spcPts val="1739"/>
              </a:lnSpc>
              <a:spcBef>
                <a:spcPts val="10"/>
              </a:spcBef>
              <a:buChar char="●"/>
              <a:tabLst>
                <a:tab pos="469900" algn="l"/>
              </a:tabLst>
            </a:pP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serious drawback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associated with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(k)NN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technique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complexity,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(O(kN))2,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search 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of the nearest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neighbour(s)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among the 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N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available training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samples.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Although,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due to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its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asymptotic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error 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performance, the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kNN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rule achieves good results when the data set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large,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the performance of the classifier </a:t>
            </a:r>
            <a:r>
              <a:rPr sz="1500" spc="15" dirty="0">
                <a:solidFill>
                  <a:srgbClr val="595959"/>
                </a:solidFill>
                <a:latin typeface="Arial MT"/>
                <a:cs typeface="Arial MT"/>
              </a:rPr>
              <a:t>may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degrade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dramatically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when the value of </a:t>
            </a:r>
            <a:r>
              <a:rPr sz="1500" spc="20" dirty="0">
                <a:solidFill>
                  <a:srgbClr val="595959"/>
                </a:solidFill>
                <a:latin typeface="Arial MT"/>
                <a:cs typeface="Arial MT"/>
              </a:rPr>
              <a:t>N </a:t>
            </a:r>
            <a:r>
              <a:rPr sz="15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5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instances is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relatively</a:t>
            </a:r>
            <a:r>
              <a:rPr sz="15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595959"/>
                </a:solidFill>
                <a:latin typeface="Arial MT"/>
                <a:cs typeface="Arial MT"/>
              </a:rPr>
              <a:t>small.</a:t>
            </a:r>
            <a:endParaRPr sz="15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2687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solidFill>
                  <a:srgbClr val="000000"/>
                </a:solidFill>
              </a:rPr>
              <a:t>Example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9438" y="900717"/>
            <a:ext cx="3796367" cy="37120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1199" y="1757806"/>
            <a:ext cx="397256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Classify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instance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(Pat,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0" dirty="0">
                <a:solidFill>
                  <a:srgbClr val="595959"/>
                </a:solidFill>
                <a:latin typeface="Arial MT"/>
                <a:cs typeface="Arial MT"/>
              </a:rPr>
              <a:t>F,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1.6)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using </a:t>
            </a:r>
            <a:r>
              <a:rPr sz="1800" spc="-48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KNN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Classifier.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Considering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1206</Words>
  <Application>Microsoft Office PowerPoint</Application>
  <PresentationFormat>On-screen Show (16:9)</PresentationFormat>
  <Paragraphs>265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MT</vt:lpstr>
      <vt:lpstr>Calibri</vt:lpstr>
      <vt:lpstr>Courier New</vt:lpstr>
      <vt:lpstr>Office Theme</vt:lpstr>
      <vt:lpstr>K-Nearest Neighbor</vt:lpstr>
      <vt:lpstr>The K-Nearest Neighbors (KNN) algorithm is a simple, yet powerful, machine  learning algorithm commonly used for both classification and regression tasks.</vt:lpstr>
      <vt:lpstr>KNN classifier</vt:lpstr>
      <vt:lpstr>PowerPoint Presentation</vt:lpstr>
      <vt:lpstr>KNN classifier - example</vt:lpstr>
      <vt:lpstr>KNN classifier - example</vt:lpstr>
      <vt:lpstr>KNN classifier - example</vt:lpstr>
      <vt:lpstr>KNN classifier - example</vt:lpstr>
      <vt:lpstr>KNN Regression</vt:lpstr>
      <vt:lpstr>PowerPoint Presentation</vt:lpstr>
      <vt:lpstr>KNN Regression - example</vt:lpstr>
      <vt:lpstr>KNN Regression - example</vt:lpstr>
      <vt:lpstr>KNN Regression - example</vt:lpstr>
      <vt:lpstr>KNN Regression - example</vt:lpstr>
      <vt:lpstr>Measuring Distance</vt:lpstr>
      <vt:lpstr>Minkowski Distance</vt:lpstr>
      <vt:lpstr>Measuring Distance</vt:lpstr>
      <vt:lpstr>Measuring Distance for two data points</vt:lpstr>
      <vt:lpstr>Advantages and Disadvantages of using KNN</vt:lpstr>
      <vt:lpstr>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KNN Classifier</dc:title>
  <cp:lastModifiedBy>Microsoft account</cp:lastModifiedBy>
  <cp:revision>10</cp:revision>
  <dcterms:created xsi:type="dcterms:W3CDTF">2024-11-28T06:11:40Z</dcterms:created>
  <dcterms:modified xsi:type="dcterms:W3CDTF">2024-12-12T14:35:09Z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