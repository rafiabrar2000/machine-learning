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2360" autoAdjust="0"/>
  </p:normalViewPr>
  <p:slideViewPr>
    <p:cSldViewPr>
      <p:cViewPr varScale="1">
        <p:scale>
          <a:sx n="66" d="100"/>
          <a:sy n="66" d="100"/>
        </p:scale>
        <p:origin x="1280" y="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B6B200-7A69-4ADA-843F-A25DF8635B21}" type="datetimeFigureOut">
              <a:rPr lang="en-US" smtClean="0"/>
              <a:t>12/14/2024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1E7307-444E-40D3-BDAB-147D327D3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25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Repetitive Branches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Different branches split on the same or similar features, making the tree complex.</a:t>
            </a:r>
          </a:p>
          <a:p>
            <a:pPr lvl="1"/>
            <a:r>
              <a:rPr lang="en-US" b="1" dirty="0" smtClean="0"/>
              <a:t>Solution</a:t>
            </a:r>
            <a:r>
              <a:rPr lang="en-US" dirty="0" smtClean="0"/>
              <a:t>: Pruning removes these branches to simplify the tree.</a:t>
            </a:r>
          </a:p>
          <a:p>
            <a:r>
              <a:rPr lang="en-US" b="1" dirty="0" smtClean="0"/>
              <a:t>Repetitive Patterns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Same patterns create similar splits in multiple places.</a:t>
            </a:r>
          </a:p>
          <a:p>
            <a:pPr lvl="1"/>
            <a:r>
              <a:rPr lang="en-US" b="1" dirty="0" smtClean="0"/>
              <a:t>Solution</a:t>
            </a:r>
            <a:r>
              <a:rPr lang="en-US" dirty="0" smtClean="0"/>
              <a:t>: Pruning combines these patterns for efficiency and clarity.</a:t>
            </a:r>
          </a:p>
          <a:p>
            <a:r>
              <a:rPr lang="en-US" b="1" dirty="0" smtClean="0"/>
              <a:t>Tip</a:t>
            </a:r>
            <a:r>
              <a:rPr lang="en-US" dirty="0" smtClean="0"/>
              <a:t>: Pruning cleans up unnecessary duplication in the tree!"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1E7307-444E-40D3-BDAB-147D327D325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0054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Validation Sets</a:t>
            </a:r>
            <a:r>
              <a:rPr lang="en-US" dirty="0" smtClean="0"/>
              <a:t>:</a:t>
            </a:r>
          </a:p>
          <a:p>
            <a:r>
              <a:rPr lang="en-US" dirty="0" smtClean="0"/>
              <a:t>Use a separate dataset to test the pruned tree, simulating unseen data.</a:t>
            </a:r>
          </a:p>
          <a:p>
            <a:r>
              <a:rPr lang="en-US" b="1" dirty="0" smtClean="0"/>
              <a:t>Key Idea</a:t>
            </a:r>
            <a:r>
              <a:rPr lang="en-US" dirty="0" smtClean="0"/>
              <a:t>: Ensures the pruned tree works well in real-world scenarios.</a:t>
            </a:r>
          </a:p>
          <a:p>
            <a:r>
              <a:rPr lang="en-US" b="1" dirty="0" smtClean="0"/>
              <a:t>Cross-Validation</a:t>
            </a:r>
            <a:r>
              <a:rPr lang="en-US" dirty="0" smtClean="0"/>
              <a:t>:</a:t>
            </a:r>
          </a:p>
          <a:p>
            <a:r>
              <a:rPr lang="en-US" dirty="0" smtClean="0"/>
              <a:t>Split data into multiple parts (e.g., K-fold), train, and test on different subsets.</a:t>
            </a:r>
          </a:p>
          <a:p>
            <a:r>
              <a:rPr lang="en-US" b="1" dirty="0" smtClean="0"/>
              <a:t>Key Idea</a:t>
            </a:r>
            <a:r>
              <a:rPr lang="en-US" dirty="0" smtClean="0"/>
              <a:t>: Tests the model multiple times for reliable and generalized performance.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1E7307-444E-40D3-BDAB-147D327D325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92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Read </a:t>
            </a:r>
            <a:r>
              <a:rPr lang="en-US" dirty="0" err="1" smtClean="0"/>
              <a:t>faiyaz</a:t>
            </a:r>
            <a:r>
              <a:rPr lang="en-US" dirty="0" smtClean="0"/>
              <a:t> Abdullah note.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1E7307-444E-40D3-BDAB-147D327D325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5276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1E7307-444E-40D3-BDAB-147D327D325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1478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4725" y="505248"/>
            <a:ext cx="3011804" cy="4095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595959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595959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12/13/2024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12/13/2024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12/13/2024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505248"/>
            <a:ext cx="5643880" cy="4095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4725" y="1205383"/>
            <a:ext cx="8368665" cy="290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595959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2889" y="748203"/>
            <a:ext cx="3816985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200" dirty="0"/>
              <a:t>Tree</a:t>
            </a:r>
            <a:r>
              <a:rPr sz="5200" spc="-220" dirty="0"/>
              <a:t> </a:t>
            </a:r>
            <a:r>
              <a:rPr sz="5200" spc="-10" dirty="0"/>
              <a:t>Pruning</a:t>
            </a:r>
            <a:endParaRPr sz="5200"/>
          </a:p>
        </p:txBody>
      </p:sp>
      <p:sp>
        <p:nvSpPr>
          <p:cNvPr id="3" name="object 3"/>
          <p:cNvSpPr txBox="1"/>
          <p:nvPr/>
        </p:nvSpPr>
        <p:spPr>
          <a:xfrm>
            <a:off x="1192008" y="2648725"/>
            <a:ext cx="6758305" cy="1259205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2078355" marR="2070100" indent="1270" algn="ctr">
              <a:lnSpc>
                <a:spcPts val="2280"/>
              </a:lnSpc>
              <a:spcBef>
                <a:spcPts val="655"/>
              </a:spcBef>
            </a:pPr>
            <a:r>
              <a:rPr sz="2350" dirty="0">
                <a:solidFill>
                  <a:srgbClr val="595959"/>
                </a:solidFill>
                <a:latin typeface="Arial MT"/>
                <a:cs typeface="Arial MT"/>
              </a:rPr>
              <a:t>Sadia</a:t>
            </a:r>
            <a:r>
              <a:rPr sz="2350" spc="4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350" spc="-20" dirty="0">
                <a:solidFill>
                  <a:srgbClr val="595959"/>
                </a:solidFill>
                <a:latin typeface="Arial MT"/>
                <a:cs typeface="Arial MT"/>
              </a:rPr>
              <a:t>Islam </a:t>
            </a:r>
            <a:r>
              <a:rPr sz="2350" dirty="0">
                <a:solidFill>
                  <a:srgbClr val="595959"/>
                </a:solidFill>
                <a:latin typeface="Arial MT"/>
                <a:cs typeface="Arial MT"/>
              </a:rPr>
              <a:t>Assistant</a:t>
            </a:r>
            <a:r>
              <a:rPr sz="2350" spc="5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350" spc="-10" dirty="0">
                <a:solidFill>
                  <a:srgbClr val="595959"/>
                </a:solidFill>
                <a:latin typeface="Arial MT"/>
                <a:cs typeface="Arial MT"/>
              </a:rPr>
              <a:t>Professor</a:t>
            </a:r>
            <a:endParaRPr sz="2350">
              <a:latin typeface="Arial MT"/>
              <a:cs typeface="Arial MT"/>
            </a:endParaRPr>
          </a:p>
          <a:p>
            <a:pPr marL="12700" marR="5080" algn="ctr">
              <a:lnSpc>
                <a:spcPts val="2280"/>
              </a:lnSpc>
              <a:spcBef>
                <a:spcPts val="10"/>
              </a:spcBef>
            </a:pPr>
            <a:r>
              <a:rPr sz="2350" dirty="0">
                <a:solidFill>
                  <a:srgbClr val="595959"/>
                </a:solidFill>
                <a:latin typeface="Arial MT"/>
                <a:cs typeface="Arial MT"/>
              </a:rPr>
              <a:t>Department</a:t>
            </a:r>
            <a:r>
              <a:rPr sz="235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350" dirty="0">
                <a:solidFill>
                  <a:srgbClr val="595959"/>
                </a:solidFill>
                <a:latin typeface="Arial MT"/>
                <a:cs typeface="Arial MT"/>
              </a:rPr>
              <a:t>of Computer</a:t>
            </a:r>
            <a:r>
              <a:rPr sz="2350" spc="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350" dirty="0">
                <a:solidFill>
                  <a:srgbClr val="595959"/>
                </a:solidFill>
                <a:latin typeface="Arial MT"/>
                <a:cs typeface="Arial MT"/>
              </a:rPr>
              <a:t>Science</a:t>
            </a:r>
            <a:r>
              <a:rPr sz="2350" spc="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350" dirty="0">
                <a:solidFill>
                  <a:srgbClr val="595959"/>
                </a:solidFill>
                <a:latin typeface="Arial MT"/>
                <a:cs typeface="Arial MT"/>
              </a:rPr>
              <a:t>and</a:t>
            </a:r>
            <a:r>
              <a:rPr sz="2350" spc="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350" spc="-10" dirty="0">
                <a:solidFill>
                  <a:srgbClr val="595959"/>
                </a:solidFill>
                <a:latin typeface="Arial MT"/>
                <a:cs typeface="Arial MT"/>
              </a:rPr>
              <a:t>engineering </a:t>
            </a:r>
            <a:r>
              <a:rPr sz="2350" dirty="0">
                <a:solidFill>
                  <a:srgbClr val="595959"/>
                </a:solidFill>
                <a:latin typeface="Arial MT"/>
                <a:cs typeface="Arial MT"/>
              </a:rPr>
              <a:t>United</a:t>
            </a:r>
            <a:r>
              <a:rPr sz="2350" spc="-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350" dirty="0">
                <a:solidFill>
                  <a:srgbClr val="595959"/>
                </a:solidFill>
                <a:latin typeface="Arial MT"/>
                <a:cs typeface="Arial MT"/>
              </a:rPr>
              <a:t>International</a:t>
            </a:r>
            <a:r>
              <a:rPr sz="235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350" spc="-10" dirty="0">
                <a:solidFill>
                  <a:srgbClr val="595959"/>
                </a:solidFill>
                <a:latin typeface="Arial MT"/>
                <a:cs typeface="Arial MT"/>
              </a:rPr>
              <a:t>University</a:t>
            </a:r>
            <a:endParaRPr sz="23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What</a:t>
            </a:r>
            <a:r>
              <a:rPr spc="-40" dirty="0"/>
              <a:t> </a:t>
            </a:r>
            <a:r>
              <a:rPr dirty="0"/>
              <a:t>is</a:t>
            </a:r>
            <a:r>
              <a:rPr spc="-80" dirty="0"/>
              <a:t> </a:t>
            </a:r>
            <a:r>
              <a:rPr dirty="0"/>
              <a:t>Tree</a:t>
            </a:r>
            <a:r>
              <a:rPr spc="-35" dirty="0"/>
              <a:t> </a:t>
            </a:r>
            <a:r>
              <a:rPr spc="-10" dirty="0"/>
              <a:t>Pruning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75208"/>
            <a:ext cx="8060690" cy="972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Tree</a:t>
            </a:r>
            <a:r>
              <a:rPr sz="18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pruning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is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sz="18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crucial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step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in</a:t>
            </a:r>
            <a:r>
              <a:rPr sz="18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building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decision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trees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8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ensure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model</a:t>
            </a:r>
            <a:r>
              <a:rPr sz="18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isn't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overfitting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training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data.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Essentially,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it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involves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trimming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down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tree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to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make</a:t>
            </a:r>
            <a:r>
              <a:rPr sz="1800" spc="-4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it</a:t>
            </a:r>
            <a:r>
              <a:rPr sz="18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simpler</a:t>
            </a:r>
            <a:r>
              <a:rPr sz="18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and</a:t>
            </a:r>
            <a:r>
              <a:rPr sz="18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more</a:t>
            </a:r>
            <a:r>
              <a:rPr sz="18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generalizable</a:t>
            </a:r>
            <a:r>
              <a:rPr sz="18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8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new,</a:t>
            </a:r>
            <a:r>
              <a:rPr sz="18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unseen</a:t>
            </a:r>
            <a:r>
              <a:rPr sz="18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data.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Why</a:t>
            </a:r>
            <a:r>
              <a:rPr spc="-5" dirty="0"/>
              <a:t> </a:t>
            </a:r>
            <a:r>
              <a:rPr dirty="0"/>
              <a:t>pruning</a:t>
            </a:r>
            <a:r>
              <a:rPr spc="-5" dirty="0"/>
              <a:t> </a:t>
            </a:r>
            <a:r>
              <a:rPr dirty="0"/>
              <a:t>is</a:t>
            </a:r>
            <a:r>
              <a:rPr spc="-5" dirty="0"/>
              <a:t> </a:t>
            </a:r>
            <a:r>
              <a:rPr spc="-10" dirty="0"/>
              <a:t>important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75208"/>
            <a:ext cx="8151495" cy="1602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376555" indent="-367030">
              <a:lnSpc>
                <a:spcPct val="114999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Reduce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Overfitting:</a:t>
            </a:r>
            <a:r>
              <a:rPr sz="1800" spc="-1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sz="1800" spc="-1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complex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tree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might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perfectly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fit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training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data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but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perform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poorly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on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test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data.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Improve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Interpretability: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Simpler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trees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are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easier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interpret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and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understand.</a:t>
            </a:r>
            <a:endParaRPr sz="1800">
              <a:latin typeface="Arial MT"/>
              <a:cs typeface="Arial MT"/>
            </a:endParaRPr>
          </a:p>
          <a:p>
            <a:pPr marL="379095" marR="5080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Reduce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Computational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Cost: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Smaller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trees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are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faster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evaluate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and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require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less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memory.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Types</a:t>
            </a:r>
            <a:r>
              <a:rPr spc="-75" dirty="0"/>
              <a:t> </a:t>
            </a:r>
            <a:r>
              <a:rPr dirty="0"/>
              <a:t>of</a:t>
            </a:r>
            <a:r>
              <a:rPr spc="-75" dirty="0"/>
              <a:t> </a:t>
            </a:r>
            <a:r>
              <a:rPr spc="-10" dirty="0"/>
              <a:t>Pruning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08400"/>
            <a:ext cx="8255634" cy="337439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00" b="1" dirty="0">
                <a:solidFill>
                  <a:srgbClr val="595959"/>
                </a:solidFill>
                <a:latin typeface="Arial"/>
                <a:cs typeface="Arial"/>
              </a:rPr>
              <a:t>Pre-Pruning</a:t>
            </a:r>
            <a:r>
              <a:rPr sz="1500" b="1" spc="7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595959"/>
                </a:solidFill>
                <a:latin typeface="Arial"/>
                <a:cs typeface="Arial"/>
              </a:rPr>
              <a:t>(Early</a:t>
            </a:r>
            <a:r>
              <a:rPr sz="1500" b="1" spc="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595959"/>
                </a:solidFill>
                <a:latin typeface="Arial"/>
                <a:cs typeface="Arial"/>
              </a:rPr>
              <a:t>Stopping):</a:t>
            </a:r>
            <a:endParaRPr sz="1500" dirty="0">
              <a:latin typeface="Arial"/>
              <a:cs typeface="Arial"/>
            </a:endParaRPr>
          </a:p>
          <a:p>
            <a:pPr marL="469900" marR="429895" indent="-346075">
              <a:lnSpc>
                <a:spcPts val="1739"/>
              </a:lnSpc>
              <a:spcBef>
                <a:spcPts val="1250"/>
              </a:spcBef>
              <a:buChar char="●"/>
              <a:tabLst>
                <a:tab pos="469900" algn="l"/>
              </a:tabLst>
            </a:pP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This</a:t>
            </a:r>
            <a:r>
              <a:rPr sz="1500" spc="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method</a:t>
            </a:r>
            <a:r>
              <a:rPr sz="1500" spc="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involves</a:t>
            </a:r>
            <a:r>
              <a:rPr sz="1500" spc="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 smtClean="0">
                <a:solidFill>
                  <a:srgbClr val="595959"/>
                </a:solidFill>
                <a:latin typeface="Arial MT"/>
                <a:cs typeface="Arial MT"/>
              </a:rPr>
              <a:t>halting</a:t>
            </a:r>
            <a:r>
              <a:rPr lang="en-US" sz="1500" dirty="0" smtClean="0">
                <a:solidFill>
                  <a:srgbClr val="595959"/>
                </a:solidFill>
                <a:latin typeface="Arial MT"/>
                <a:cs typeface="Arial MT"/>
              </a:rPr>
              <a:t>/stop</a:t>
            </a:r>
            <a:r>
              <a:rPr sz="1500" spc="30" dirty="0" smtClean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500" spc="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growth</a:t>
            </a:r>
            <a:r>
              <a:rPr sz="1500" spc="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sz="1500" spc="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500" spc="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decision</a:t>
            </a:r>
            <a:r>
              <a:rPr sz="1500" spc="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tree</a:t>
            </a:r>
            <a:r>
              <a:rPr sz="1500" spc="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before</a:t>
            </a:r>
            <a:r>
              <a:rPr sz="1500" spc="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it</a:t>
            </a:r>
            <a:r>
              <a:rPr sz="1500" spc="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reaches</a:t>
            </a:r>
            <a:r>
              <a:rPr sz="1500" spc="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its</a:t>
            </a:r>
            <a:r>
              <a:rPr sz="1500" spc="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-20" dirty="0">
                <a:solidFill>
                  <a:srgbClr val="595959"/>
                </a:solidFill>
                <a:latin typeface="Arial MT"/>
                <a:cs typeface="Arial MT"/>
              </a:rPr>
              <a:t>full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complexity.</a:t>
            </a:r>
            <a:r>
              <a:rPr sz="1500" spc="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It</a:t>
            </a:r>
            <a:r>
              <a:rPr sz="1500" spc="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stops</a:t>
            </a:r>
            <a:r>
              <a:rPr sz="1500" spc="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splitting</a:t>
            </a:r>
            <a:r>
              <a:rPr sz="1500" spc="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sz="1500" spc="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node</a:t>
            </a:r>
            <a:r>
              <a:rPr sz="1500" spc="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when</a:t>
            </a:r>
            <a:r>
              <a:rPr sz="1500" spc="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further</a:t>
            </a:r>
            <a:r>
              <a:rPr sz="1500" spc="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splits</a:t>
            </a:r>
            <a:r>
              <a:rPr sz="1500" spc="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do</a:t>
            </a:r>
            <a:r>
              <a:rPr sz="1500" spc="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not</a:t>
            </a:r>
            <a:r>
              <a:rPr sz="1500" spc="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significantly</a:t>
            </a:r>
            <a:r>
              <a:rPr sz="1500" spc="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improve</a:t>
            </a:r>
            <a:r>
              <a:rPr sz="1500" spc="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-25" dirty="0">
                <a:solidFill>
                  <a:srgbClr val="595959"/>
                </a:solidFill>
                <a:latin typeface="Arial MT"/>
                <a:cs typeface="Arial MT"/>
              </a:rPr>
              <a:t>the </a:t>
            </a:r>
            <a:r>
              <a:rPr sz="1500" spc="-10" dirty="0">
                <a:solidFill>
                  <a:srgbClr val="595959"/>
                </a:solidFill>
                <a:latin typeface="Arial MT"/>
                <a:cs typeface="Arial MT"/>
              </a:rPr>
              <a:t>model.</a:t>
            </a:r>
            <a:endParaRPr sz="1500" dirty="0">
              <a:latin typeface="Arial MT"/>
              <a:cs typeface="Arial MT"/>
            </a:endParaRPr>
          </a:p>
          <a:p>
            <a:pPr marL="469900" marR="534670" indent="-346075">
              <a:lnSpc>
                <a:spcPts val="1739"/>
              </a:lnSpc>
              <a:spcBef>
                <a:spcPts val="15"/>
              </a:spcBef>
              <a:buChar char="●"/>
              <a:tabLst>
                <a:tab pos="469900" algn="l"/>
              </a:tabLst>
            </a:pP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Criteria</a:t>
            </a:r>
            <a:r>
              <a:rPr sz="1500" spc="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for</a:t>
            </a:r>
            <a:r>
              <a:rPr sz="1500" spc="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stopping</a:t>
            </a:r>
            <a:r>
              <a:rPr sz="1500" spc="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could</a:t>
            </a:r>
            <a:r>
              <a:rPr sz="1500" spc="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include</a:t>
            </a:r>
            <a:r>
              <a:rPr sz="1500" spc="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sz="1500" spc="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maximum</a:t>
            </a:r>
            <a:r>
              <a:rPr sz="1500" spc="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depth,</a:t>
            </a:r>
            <a:r>
              <a:rPr sz="1500" spc="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sz="1500" spc="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minimum</a:t>
            </a:r>
            <a:r>
              <a:rPr sz="1500" spc="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number</a:t>
            </a:r>
            <a:r>
              <a:rPr sz="1500" spc="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sz="1500" spc="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595959"/>
                </a:solidFill>
                <a:latin typeface="Arial MT"/>
                <a:cs typeface="Arial MT"/>
              </a:rPr>
              <a:t>samples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required</a:t>
            </a:r>
            <a:r>
              <a:rPr sz="1500" spc="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500" spc="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split</a:t>
            </a:r>
            <a:r>
              <a:rPr sz="1500" spc="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sz="1500" spc="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node,</a:t>
            </a:r>
            <a:r>
              <a:rPr sz="1500" spc="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or</a:t>
            </a:r>
            <a:r>
              <a:rPr sz="1500" spc="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sz="1500" spc="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minimum</a:t>
            </a:r>
            <a:r>
              <a:rPr sz="1500" spc="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improvement</a:t>
            </a:r>
            <a:r>
              <a:rPr sz="1500" spc="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in</a:t>
            </a:r>
            <a:r>
              <a:rPr sz="1500" spc="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595959"/>
                </a:solidFill>
                <a:latin typeface="Arial MT"/>
                <a:cs typeface="Arial MT"/>
              </a:rPr>
              <a:t>impurity.</a:t>
            </a:r>
            <a:endParaRPr sz="15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1500" b="1" dirty="0">
                <a:solidFill>
                  <a:srgbClr val="595959"/>
                </a:solidFill>
                <a:latin typeface="Arial"/>
                <a:cs typeface="Arial"/>
              </a:rPr>
              <a:t>Post-Pruning</a:t>
            </a:r>
            <a:r>
              <a:rPr sz="1500" b="1" spc="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595959"/>
                </a:solidFill>
                <a:latin typeface="Arial"/>
                <a:cs typeface="Arial"/>
              </a:rPr>
              <a:t>(Pruning</a:t>
            </a:r>
            <a:r>
              <a:rPr sz="1500" b="1" spc="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595959"/>
                </a:solidFill>
                <a:latin typeface="Arial"/>
                <a:cs typeface="Arial"/>
              </a:rPr>
              <a:t>After</a:t>
            </a:r>
            <a:r>
              <a:rPr sz="1500" b="1" spc="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595959"/>
                </a:solidFill>
                <a:latin typeface="Arial"/>
                <a:cs typeface="Arial"/>
              </a:rPr>
              <a:t>Training):</a:t>
            </a:r>
            <a:endParaRPr sz="1500" dirty="0">
              <a:latin typeface="Arial"/>
              <a:cs typeface="Arial"/>
            </a:endParaRPr>
          </a:p>
          <a:p>
            <a:pPr marL="469900" marR="5080" indent="-346075">
              <a:lnSpc>
                <a:spcPts val="1739"/>
              </a:lnSpc>
              <a:spcBef>
                <a:spcPts val="1250"/>
              </a:spcBef>
              <a:buChar char="●"/>
              <a:tabLst>
                <a:tab pos="469900" algn="l"/>
              </a:tabLst>
            </a:pP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This</a:t>
            </a:r>
            <a:r>
              <a:rPr sz="1500" spc="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method</a:t>
            </a:r>
            <a:r>
              <a:rPr sz="1500" spc="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involves</a:t>
            </a:r>
            <a:r>
              <a:rPr sz="1500" spc="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growing</a:t>
            </a:r>
            <a:r>
              <a:rPr sz="1500" spc="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500" spc="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decision</a:t>
            </a:r>
            <a:r>
              <a:rPr sz="1500" spc="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tree</a:t>
            </a:r>
            <a:r>
              <a:rPr sz="1500" spc="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500" spc="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its</a:t>
            </a:r>
            <a:r>
              <a:rPr sz="1500" spc="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full</a:t>
            </a:r>
            <a:r>
              <a:rPr sz="1500" spc="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depth</a:t>
            </a:r>
            <a:r>
              <a:rPr sz="1500" spc="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and</a:t>
            </a:r>
            <a:r>
              <a:rPr sz="1500" spc="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then</a:t>
            </a:r>
            <a:r>
              <a:rPr sz="1500" spc="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cutting</a:t>
            </a:r>
            <a:r>
              <a:rPr sz="1500" spc="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back</a:t>
            </a:r>
            <a:r>
              <a:rPr sz="1500" spc="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-20" dirty="0">
                <a:solidFill>
                  <a:srgbClr val="595959"/>
                </a:solidFill>
                <a:latin typeface="Arial MT"/>
                <a:cs typeface="Arial MT"/>
              </a:rPr>
              <a:t>some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sz="1500" spc="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500" spc="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branches</a:t>
            </a:r>
            <a:r>
              <a:rPr sz="1500" spc="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after</a:t>
            </a:r>
            <a:r>
              <a:rPr sz="1500" spc="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500" spc="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tree</a:t>
            </a:r>
            <a:r>
              <a:rPr sz="1500" spc="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has</a:t>
            </a:r>
            <a:r>
              <a:rPr sz="1500" spc="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been</a:t>
            </a:r>
            <a:r>
              <a:rPr sz="1500" spc="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595959"/>
                </a:solidFill>
                <a:latin typeface="Arial MT"/>
                <a:cs typeface="Arial MT"/>
              </a:rPr>
              <a:t>built.</a:t>
            </a:r>
            <a:endParaRPr sz="1500" dirty="0">
              <a:latin typeface="Arial MT"/>
              <a:cs typeface="Arial MT"/>
            </a:endParaRPr>
          </a:p>
          <a:p>
            <a:pPr marL="469900" marR="944244" indent="-346075">
              <a:lnSpc>
                <a:spcPts val="1739"/>
              </a:lnSpc>
              <a:spcBef>
                <a:spcPts val="10"/>
              </a:spcBef>
              <a:buChar char="●"/>
              <a:tabLst>
                <a:tab pos="469900" algn="l"/>
              </a:tabLst>
            </a:pP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500" spc="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process</a:t>
            </a:r>
            <a:r>
              <a:rPr sz="1500" spc="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starts</a:t>
            </a:r>
            <a:r>
              <a:rPr sz="1500" spc="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with</a:t>
            </a:r>
            <a:r>
              <a:rPr sz="1500" spc="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500" spc="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complete</a:t>
            </a:r>
            <a:r>
              <a:rPr sz="1500" spc="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tree</a:t>
            </a:r>
            <a:r>
              <a:rPr sz="1500" spc="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and</a:t>
            </a:r>
            <a:r>
              <a:rPr sz="1500" spc="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removes</a:t>
            </a:r>
            <a:r>
              <a:rPr sz="1500" spc="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branches</a:t>
            </a:r>
            <a:r>
              <a:rPr sz="1500" spc="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that</a:t>
            </a:r>
            <a:r>
              <a:rPr sz="1500" spc="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have</a:t>
            </a:r>
            <a:r>
              <a:rPr sz="1500" spc="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595959"/>
                </a:solidFill>
                <a:latin typeface="Arial MT"/>
                <a:cs typeface="Arial MT"/>
              </a:rPr>
              <a:t>little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importance,</a:t>
            </a:r>
            <a:r>
              <a:rPr sz="1500" spc="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one</a:t>
            </a:r>
            <a:r>
              <a:rPr sz="1500" spc="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by</a:t>
            </a:r>
            <a:r>
              <a:rPr sz="1500" spc="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one,</a:t>
            </a:r>
            <a:r>
              <a:rPr sz="1500" spc="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using</a:t>
            </a:r>
            <a:r>
              <a:rPr sz="1500" spc="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sz="1500" spc="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pruning</a:t>
            </a:r>
            <a:r>
              <a:rPr sz="1500" spc="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metric</a:t>
            </a:r>
            <a:r>
              <a:rPr sz="1500" spc="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such</a:t>
            </a:r>
            <a:r>
              <a:rPr sz="1500" spc="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as</a:t>
            </a:r>
            <a:r>
              <a:rPr sz="1500" spc="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cost</a:t>
            </a:r>
            <a:r>
              <a:rPr sz="1500" spc="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595959"/>
                </a:solidFill>
                <a:latin typeface="Arial MT"/>
                <a:cs typeface="Arial MT"/>
              </a:rPr>
              <a:t>complexity.</a:t>
            </a:r>
            <a:endParaRPr sz="1500" dirty="0">
              <a:latin typeface="Arial MT"/>
              <a:cs typeface="Arial MT"/>
            </a:endParaRPr>
          </a:p>
          <a:p>
            <a:pPr marL="469900" marR="47625" indent="-346075">
              <a:lnSpc>
                <a:spcPts val="1739"/>
              </a:lnSpc>
              <a:spcBef>
                <a:spcPts val="10"/>
              </a:spcBef>
              <a:buChar char="●"/>
              <a:tabLst>
                <a:tab pos="469900" algn="l"/>
              </a:tabLst>
            </a:pP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Techniques</a:t>
            </a:r>
            <a:r>
              <a:rPr sz="1500" spc="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include</a:t>
            </a:r>
            <a:r>
              <a:rPr sz="1500" spc="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reduced</a:t>
            </a:r>
            <a:r>
              <a:rPr sz="1500" spc="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error</a:t>
            </a:r>
            <a:r>
              <a:rPr sz="1500" spc="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pruning</a:t>
            </a:r>
            <a:r>
              <a:rPr sz="1500" spc="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(removing</a:t>
            </a:r>
            <a:r>
              <a:rPr sz="1500" spc="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nodes</a:t>
            </a:r>
            <a:r>
              <a:rPr sz="1500" spc="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if</a:t>
            </a:r>
            <a:r>
              <a:rPr sz="1500" spc="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it</a:t>
            </a:r>
            <a:r>
              <a:rPr sz="1500" spc="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 smtClean="0">
                <a:solidFill>
                  <a:srgbClr val="595959"/>
                </a:solidFill>
                <a:latin typeface="Arial MT"/>
                <a:cs typeface="Arial MT"/>
              </a:rPr>
              <a:t>reduces</a:t>
            </a:r>
            <a:r>
              <a:rPr sz="1500" spc="20" dirty="0" smtClean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 smtClean="0">
                <a:solidFill>
                  <a:srgbClr val="595959"/>
                </a:solidFill>
                <a:latin typeface="Arial MT"/>
                <a:cs typeface="Arial MT"/>
              </a:rPr>
              <a:t>error</a:t>
            </a:r>
            <a:r>
              <a:rPr sz="1500" spc="20" dirty="0" smtClean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 smtClean="0">
                <a:solidFill>
                  <a:srgbClr val="595959"/>
                </a:solidFill>
                <a:latin typeface="Arial MT"/>
                <a:cs typeface="Arial MT"/>
              </a:rPr>
              <a:t>on</a:t>
            </a:r>
            <a:r>
              <a:rPr sz="1500" spc="25" dirty="0" smtClean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595959"/>
                </a:solidFill>
                <a:latin typeface="Arial MT"/>
                <a:cs typeface="Arial MT"/>
              </a:rPr>
              <a:t>validation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data)</a:t>
            </a:r>
            <a:r>
              <a:rPr sz="1500" spc="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and</a:t>
            </a:r>
            <a:r>
              <a:rPr sz="1500" spc="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cost</a:t>
            </a:r>
            <a:r>
              <a:rPr sz="1500" spc="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complexity</a:t>
            </a:r>
            <a:r>
              <a:rPr sz="1500" spc="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pruning</a:t>
            </a:r>
            <a:r>
              <a:rPr sz="1500" spc="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(penalizing</a:t>
            </a:r>
            <a:r>
              <a:rPr sz="1500" spc="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500" spc="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tree</a:t>
            </a:r>
            <a:r>
              <a:rPr sz="1500" spc="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for</a:t>
            </a:r>
            <a:r>
              <a:rPr sz="1500" spc="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having</a:t>
            </a:r>
            <a:r>
              <a:rPr sz="1500" spc="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too</a:t>
            </a:r>
            <a:r>
              <a:rPr sz="1500" spc="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many</a:t>
            </a:r>
            <a:r>
              <a:rPr sz="1500" spc="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595959"/>
                </a:solidFill>
                <a:latin typeface="Arial MT"/>
                <a:cs typeface="Arial MT"/>
              </a:rPr>
              <a:t>branches).</a:t>
            </a:r>
            <a:endParaRPr sz="15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Decision</a:t>
            </a:r>
            <a:r>
              <a:rPr spc="30" dirty="0"/>
              <a:t> </a:t>
            </a:r>
            <a:r>
              <a:rPr dirty="0"/>
              <a:t>trees</a:t>
            </a:r>
            <a:r>
              <a:rPr spc="30" dirty="0"/>
              <a:t> </a:t>
            </a:r>
            <a:r>
              <a:rPr spc="-10" dirty="0"/>
              <a:t>suffers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8331200" cy="275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595959"/>
                </a:solidFill>
                <a:latin typeface="Arial"/>
                <a:cs typeface="Arial"/>
              </a:rPr>
              <a:t>Repetition</a:t>
            </a:r>
            <a:endParaRPr sz="1800" dirty="0">
              <a:latin typeface="Arial"/>
              <a:cs typeface="Arial"/>
            </a:endParaRPr>
          </a:p>
          <a:p>
            <a:pPr marL="469900" marR="139065" indent="-367030">
              <a:lnSpc>
                <a:spcPct val="105000"/>
              </a:lnSpc>
              <a:spcBef>
                <a:spcPts val="1200"/>
              </a:spcBef>
              <a:buFont typeface="Arial MT"/>
              <a:buChar char="●"/>
              <a:tabLst>
                <a:tab pos="469900" algn="l"/>
              </a:tabLst>
            </a:pP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Repetitive</a:t>
            </a:r>
            <a:r>
              <a:rPr sz="18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Branches:</a:t>
            </a:r>
            <a:r>
              <a:rPr sz="1800" b="1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Sometimes,</a:t>
            </a:r>
            <a:r>
              <a:rPr sz="18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different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branches</a:t>
            </a:r>
            <a:r>
              <a:rPr sz="18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sz="18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tree</a:t>
            </a:r>
            <a:r>
              <a:rPr sz="18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might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learn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same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or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very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similar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splits.</a:t>
            </a:r>
            <a:r>
              <a:rPr sz="1800" spc="-4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This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redundancy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can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make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tree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unnecessarily</a:t>
            </a:r>
            <a:r>
              <a:rPr sz="18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complex.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Pruning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can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help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by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removing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these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repetitive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branches,</a:t>
            </a:r>
            <a:r>
              <a:rPr sz="1800" spc="-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simplifying</a:t>
            </a:r>
            <a:r>
              <a:rPr sz="18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model</a:t>
            </a:r>
            <a:r>
              <a:rPr sz="1800" spc="-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without</a:t>
            </a:r>
            <a:r>
              <a:rPr sz="18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losing</a:t>
            </a:r>
            <a:r>
              <a:rPr sz="18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predictive</a:t>
            </a:r>
            <a:r>
              <a:rPr sz="18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power.</a:t>
            </a:r>
            <a:endParaRPr sz="1800" dirty="0">
              <a:latin typeface="Arial MT"/>
              <a:cs typeface="Arial MT"/>
            </a:endParaRPr>
          </a:p>
          <a:p>
            <a:pPr marL="469900" marR="5080" indent="-367030">
              <a:lnSpc>
                <a:spcPct val="105000"/>
              </a:lnSpc>
              <a:buFont typeface="Arial MT"/>
              <a:buChar char="●"/>
              <a:tabLst>
                <a:tab pos="469900" algn="l"/>
              </a:tabLst>
            </a:pP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Repetitive</a:t>
            </a:r>
            <a:r>
              <a:rPr sz="1800" b="1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Patterns:</a:t>
            </a:r>
            <a:r>
              <a:rPr sz="1800" b="1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 MT"/>
                <a:cs typeface="Arial MT"/>
              </a:rPr>
              <a:t>If</a:t>
            </a:r>
            <a:r>
              <a:rPr sz="1800" b="1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b="1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 MT"/>
                <a:cs typeface="Arial MT"/>
              </a:rPr>
              <a:t>model</a:t>
            </a:r>
            <a:r>
              <a:rPr sz="1800" b="1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 MT"/>
                <a:cs typeface="Arial MT"/>
              </a:rPr>
              <a:t>encounters</a:t>
            </a:r>
            <a:r>
              <a:rPr sz="1800" b="1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 MT"/>
                <a:cs typeface="Arial MT"/>
              </a:rPr>
              <a:t>repetitive</a:t>
            </a:r>
            <a:r>
              <a:rPr sz="1800" b="1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 MT"/>
                <a:cs typeface="Arial MT"/>
              </a:rPr>
              <a:t>patterns</a:t>
            </a:r>
            <a:r>
              <a:rPr sz="1800" b="1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 MT"/>
                <a:cs typeface="Arial MT"/>
              </a:rPr>
              <a:t>in</a:t>
            </a:r>
            <a:r>
              <a:rPr sz="1800" b="1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b="1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 MT"/>
                <a:cs typeface="Arial MT"/>
              </a:rPr>
              <a:t>data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,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it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might</a:t>
            </a:r>
            <a:r>
              <a:rPr sz="18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create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similar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splits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in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different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parts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tree.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Pruning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can </a:t>
            </a:r>
            <a:r>
              <a:rPr sz="1800" dirty="0" smtClean="0">
                <a:solidFill>
                  <a:srgbClr val="595959"/>
                </a:solidFill>
                <a:latin typeface="Arial MT"/>
                <a:cs typeface="Arial MT"/>
              </a:rPr>
              <a:t>consolidate</a:t>
            </a:r>
            <a:r>
              <a:rPr lang="en-US" sz="1800" dirty="0" smtClean="0">
                <a:solidFill>
                  <a:srgbClr val="595959"/>
                </a:solidFill>
                <a:latin typeface="Arial MT"/>
                <a:cs typeface="Arial MT"/>
              </a:rPr>
              <a:t>/combine</a:t>
            </a:r>
            <a:r>
              <a:rPr sz="1800" spc="-40" dirty="0" smtClean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these</a:t>
            </a:r>
            <a:r>
              <a:rPr sz="18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patterns,</a:t>
            </a:r>
            <a:r>
              <a:rPr sz="18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ensuring</a:t>
            </a:r>
            <a:r>
              <a:rPr sz="18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model</a:t>
            </a:r>
            <a:r>
              <a:rPr sz="18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remains</a:t>
            </a:r>
            <a:r>
              <a:rPr sz="18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efficient</a:t>
            </a:r>
            <a:r>
              <a:rPr sz="18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and 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interpretable.</a:t>
            </a: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Decision</a:t>
            </a:r>
            <a:r>
              <a:rPr spc="30" dirty="0"/>
              <a:t> </a:t>
            </a:r>
            <a:r>
              <a:rPr dirty="0"/>
              <a:t>trees</a:t>
            </a:r>
            <a:r>
              <a:rPr spc="30" dirty="0"/>
              <a:t> </a:t>
            </a:r>
            <a:r>
              <a:rPr spc="-10" dirty="0"/>
              <a:t>suffers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8345170" cy="33373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 smtClean="0">
                <a:solidFill>
                  <a:srgbClr val="595959"/>
                </a:solidFill>
                <a:latin typeface="Arial"/>
                <a:cs typeface="Arial"/>
              </a:rPr>
              <a:t>Replication</a:t>
            </a:r>
            <a:endParaRPr lang="en-US" sz="1800" b="1" spc="-10" dirty="0" smtClean="0">
              <a:solidFill>
                <a:srgbClr val="595959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b="1" spc="-10" dirty="0" smtClean="0">
                <a:solidFill>
                  <a:srgbClr val="595959"/>
                </a:solidFill>
                <a:latin typeface="Arial"/>
                <a:cs typeface="Arial"/>
              </a:rPr>
              <a:t>Presence of duplicate </a:t>
            </a:r>
            <a:r>
              <a:rPr lang="en-US" b="1" spc="-10" dirty="0" err="1" smtClean="0">
                <a:solidFill>
                  <a:srgbClr val="595959"/>
                </a:solidFill>
                <a:latin typeface="Arial"/>
                <a:cs typeface="Arial"/>
              </a:rPr>
              <a:t>subtrees</a:t>
            </a:r>
            <a:r>
              <a:rPr lang="en-US" b="1" spc="-10" dirty="0" smtClean="0">
                <a:solidFill>
                  <a:srgbClr val="595959"/>
                </a:solidFill>
                <a:latin typeface="Arial"/>
                <a:cs typeface="Arial"/>
              </a:rPr>
              <a:t> within the tree makes the decision tree more complex and difficult to interpret.</a:t>
            </a:r>
            <a:endParaRPr sz="1800" dirty="0">
              <a:latin typeface="Arial"/>
              <a:cs typeface="Arial"/>
            </a:endParaRPr>
          </a:p>
          <a:p>
            <a:pPr marL="469900" marR="5080" indent="-367030">
              <a:lnSpc>
                <a:spcPct val="105000"/>
              </a:lnSpc>
              <a:spcBef>
                <a:spcPts val="1200"/>
              </a:spcBef>
              <a:buChar char="●"/>
              <a:tabLst>
                <a:tab pos="469900" algn="l"/>
              </a:tabLst>
            </a:pPr>
            <a:r>
              <a:rPr sz="1800" b="1" spc="-10" dirty="0">
                <a:solidFill>
                  <a:srgbClr val="595959"/>
                </a:solidFill>
                <a:latin typeface="Arial"/>
                <a:cs typeface="Arial"/>
              </a:rPr>
              <a:t>Validation</a:t>
            </a:r>
            <a:r>
              <a:rPr sz="1800" b="1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Sets: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When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pruning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tree,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model's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performance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is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often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validated</a:t>
            </a:r>
            <a:r>
              <a:rPr sz="18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using</a:t>
            </a:r>
            <a:r>
              <a:rPr sz="18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separate</a:t>
            </a:r>
            <a:r>
              <a:rPr sz="18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validation</a:t>
            </a:r>
            <a:r>
              <a:rPr sz="18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set.</a:t>
            </a:r>
            <a:r>
              <a:rPr sz="1800" spc="-6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This</a:t>
            </a:r>
            <a:r>
              <a:rPr sz="18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"replicates"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real-world</a:t>
            </a:r>
            <a:r>
              <a:rPr sz="1800" spc="50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scenarios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where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model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encounters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unseen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data,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ensuring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pruned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tree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generalizes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well.</a:t>
            </a:r>
            <a:endParaRPr sz="1800" dirty="0">
              <a:latin typeface="Arial MT"/>
              <a:cs typeface="Arial MT"/>
            </a:endParaRPr>
          </a:p>
          <a:p>
            <a:pPr marL="469900" marR="282575" indent="-367030">
              <a:lnSpc>
                <a:spcPct val="105000"/>
              </a:lnSpc>
              <a:buChar char="●"/>
              <a:tabLst>
                <a:tab pos="469900" algn="l"/>
              </a:tabLst>
            </a:pPr>
            <a:r>
              <a:rPr sz="1800" b="1" spc="-10" dirty="0">
                <a:solidFill>
                  <a:srgbClr val="595959"/>
                </a:solidFill>
                <a:latin typeface="Arial"/>
                <a:cs typeface="Arial"/>
              </a:rPr>
              <a:t>Cross-Validation:</a:t>
            </a:r>
            <a:r>
              <a:rPr sz="1800" b="1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Techniques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like</a:t>
            </a:r>
            <a:r>
              <a:rPr sz="18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k-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fold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cross-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validation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replicate</a:t>
            </a:r>
            <a:r>
              <a:rPr sz="18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the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training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process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across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multiple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subsets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data,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providing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robust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assessment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model's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performance.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Pruning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can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be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informed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by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these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replicated</a:t>
            </a:r>
            <a:r>
              <a:rPr sz="18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experiments,</a:t>
            </a:r>
            <a:r>
              <a:rPr sz="18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leading</a:t>
            </a:r>
            <a:r>
              <a:rPr sz="18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8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sz="18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more</a:t>
            </a:r>
            <a:r>
              <a:rPr sz="18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reliable</a:t>
            </a:r>
            <a:r>
              <a:rPr sz="18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and</a:t>
            </a:r>
            <a:r>
              <a:rPr sz="18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generalized</a:t>
            </a:r>
            <a:r>
              <a:rPr sz="18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model.</a:t>
            </a: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4725" y="1208400"/>
            <a:ext cx="8374380" cy="313880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 marR="6350" algn="just">
              <a:lnSpc>
                <a:spcPts val="1739"/>
              </a:lnSpc>
              <a:spcBef>
                <a:spcPts val="235"/>
              </a:spcBef>
            </a:pPr>
            <a:r>
              <a:rPr sz="1500" b="1" dirty="0">
                <a:solidFill>
                  <a:srgbClr val="595959"/>
                </a:solidFill>
                <a:latin typeface="Arial"/>
                <a:cs typeface="Arial"/>
              </a:rPr>
              <a:t>Tree</a:t>
            </a:r>
            <a:r>
              <a:rPr sz="1500" b="1" spc="3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595959"/>
                </a:solidFill>
                <a:latin typeface="Arial"/>
                <a:cs typeface="Arial"/>
              </a:rPr>
              <a:t>Growth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:</a:t>
            </a:r>
            <a:r>
              <a:rPr sz="1500" spc="3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First,</a:t>
            </a:r>
            <a:r>
              <a:rPr sz="1500" spc="3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sz="1500" spc="3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decision</a:t>
            </a:r>
            <a:r>
              <a:rPr sz="1500" spc="3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tree</a:t>
            </a:r>
            <a:r>
              <a:rPr sz="1500" spc="3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is</a:t>
            </a:r>
            <a:r>
              <a:rPr sz="1500" spc="3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grown</a:t>
            </a:r>
            <a:r>
              <a:rPr sz="1500" spc="3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500" spc="3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its</a:t>
            </a:r>
            <a:r>
              <a:rPr sz="1500" spc="3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maximum</a:t>
            </a:r>
            <a:r>
              <a:rPr sz="1500" spc="3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size</a:t>
            </a:r>
            <a:r>
              <a:rPr sz="1500" spc="3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without</a:t>
            </a:r>
            <a:r>
              <a:rPr sz="1500" spc="3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any</a:t>
            </a:r>
            <a:r>
              <a:rPr sz="1500" spc="3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pruning.</a:t>
            </a:r>
            <a:r>
              <a:rPr sz="1500" spc="29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-20" dirty="0">
                <a:solidFill>
                  <a:srgbClr val="595959"/>
                </a:solidFill>
                <a:latin typeface="Arial MT"/>
                <a:cs typeface="Arial MT"/>
              </a:rPr>
              <a:t>This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means</a:t>
            </a:r>
            <a:r>
              <a:rPr sz="1500" spc="5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it</a:t>
            </a:r>
            <a:r>
              <a:rPr sz="1500" spc="5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continues</a:t>
            </a:r>
            <a:r>
              <a:rPr sz="1500" spc="5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500" spc="5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split</a:t>
            </a:r>
            <a:r>
              <a:rPr sz="1500" spc="5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nodes</a:t>
            </a:r>
            <a:r>
              <a:rPr sz="1500" spc="5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until</a:t>
            </a:r>
            <a:r>
              <a:rPr sz="1500" spc="5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either</a:t>
            </a:r>
            <a:r>
              <a:rPr sz="1500" spc="5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each</a:t>
            </a:r>
            <a:r>
              <a:rPr sz="1500" spc="5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node</a:t>
            </a:r>
            <a:r>
              <a:rPr sz="1500" spc="5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has</a:t>
            </a:r>
            <a:r>
              <a:rPr sz="1500" spc="5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fewer</a:t>
            </a:r>
            <a:r>
              <a:rPr sz="1500" spc="5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than</a:t>
            </a:r>
            <a:r>
              <a:rPr sz="1500" spc="5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sz="1500" spc="5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set</a:t>
            </a:r>
            <a:r>
              <a:rPr sz="1500" spc="5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minimum</a:t>
            </a:r>
            <a:r>
              <a:rPr sz="1500" spc="5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number</a:t>
            </a:r>
            <a:r>
              <a:rPr sz="1500" spc="5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-25" dirty="0">
                <a:solidFill>
                  <a:srgbClr val="595959"/>
                </a:solidFill>
                <a:latin typeface="Arial MT"/>
                <a:cs typeface="Arial MT"/>
              </a:rPr>
              <a:t>of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observations</a:t>
            </a:r>
            <a:r>
              <a:rPr sz="1500" spc="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or</a:t>
            </a:r>
            <a:r>
              <a:rPr sz="1500" spc="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until</a:t>
            </a:r>
            <a:r>
              <a:rPr sz="1500" spc="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it</a:t>
            </a:r>
            <a:r>
              <a:rPr sz="1500" spc="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perfectly</a:t>
            </a:r>
            <a:r>
              <a:rPr sz="1500" spc="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classifies</a:t>
            </a:r>
            <a:r>
              <a:rPr sz="1500" spc="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500" spc="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training</a:t>
            </a:r>
            <a:r>
              <a:rPr sz="1500" spc="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595959"/>
                </a:solidFill>
                <a:latin typeface="Arial MT"/>
                <a:cs typeface="Arial MT"/>
              </a:rPr>
              <a:t>data.</a:t>
            </a:r>
            <a:endParaRPr sz="1500">
              <a:latin typeface="Arial MT"/>
              <a:cs typeface="Arial MT"/>
            </a:endParaRPr>
          </a:p>
          <a:p>
            <a:pPr marL="12700" marR="6350" algn="just">
              <a:lnSpc>
                <a:spcPts val="1739"/>
              </a:lnSpc>
              <a:spcBef>
                <a:spcPts val="15"/>
              </a:spcBef>
            </a:pPr>
            <a:r>
              <a:rPr sz="1500" b="1" dirty="0">
                <a:solidFill>
                  <a:srgbClr val="595959"/>
                </a:solidFill>
                <a:latin typeface="Arial"/>
                <a:cs typeface="Arial"/>
              </a:rPr>
              <a:t>Cost</a:t>
            </a:r>
            <a:r>
              <a:rPr sz="1500" b="1" spc="20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595959"/>
                </a:solidFill>
                <a:latin typeface="Arial"/>
                <a:cs typeface="Arial"/>
              </a:rPr>
              <a:t>Complexity</a:t>
            </a:r>
            <a:r>
              <a:rPr sz="1500" b="1" spc="20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595959"/>
                </a:solidFill>
                <a:latin typeface="Arial"/>
                <a:cs typeface="Arial"/>
              </a:rPr>
              <a:t>Calculation:</a:t>
            </a:r>
            <a:r>
              <a:rPr sz="1500" b="1" spc="19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For</a:t>
            </a:r>
            <a:r>
              <a:rPr sz="1500" spc="20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each</a:t>
            </a:r>
            <a:r>
              <a:rPr sz="1500" spc="20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subtree</a:t>
            </a:r>
            <a:r>
              <a:rPr sz="1500" spc="204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within</a:t>
            </a:r>
            <a:r>
              <a:rPr sz="1500" spc="20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500" spc="20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fully</a:t>
            </a:r>
            <a:r>
              <a:rPr sz="1500" spc="20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grown</a:t>
            </a:r>
            <a:r>
              <a:rPr sz="1500" spc="20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tree,</a:t>
            </a:r>
            <a:r>
              <a:rPr sz="1500" spc="19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calculate</a:t>
            </a:r>
            <a:r>
              <a:rPr sz="1500" spc="204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500" spc="20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-20" dirty="0">
                <a:solidFill>
                  <a:srgbClr val="595959"/>
                </a:solidFill>
                <a:latin typeface="Arial MT"/>
                <a:cs typeface="Arial MT"/>
              </a:rPr>
              <a:t>cost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complexity</a:t>
            </a:r>
            <a:r>
              <a:rPr sz="1500" spc="1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measure,</a:t>
            </a:r>
            <a:r>
              <a:rPr sz="1500" spc="1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which</a:t>
            </a:r>
            <a:r>
              <a:rPr sz="1500" spc="114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combines</a:t>
            </a:r>
            <a:r>
              <a:rPr sz="1500" spc="1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500" spc="1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error</a:t>
            </a:r>
            <a:r>
              <a:rPr sz="1500" spc="114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rate</a:t>
            </a:r>
            <a:r>
              <a:rPr sz="1500" spc="1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sz="1500" spc="1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500" spc="114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subtree</a:t>
            </a:r>
            <a:r>
              <a:rPr sz="1500" spc="1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with</a:t>
            </a:r>
            <a:r>
              <a:rPr sz="1500" spc="1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sz="1500" spc="114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penalty</a:t>
            </a:r>
            <a:r>
              <a:rPr sz="1500" spc="1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for</a:t>
            </a:r>
            <a:r>
              <a:rPr sz="1500" spc="1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500" spc="114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595959"/>
                </a:solidFill>
                <a:latin typeface="Arial MT"/>
                <a:cs typeface="Arial MT"/>
              </a:rPr>
              <a:t>number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sz="1500" spc="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terminal</a:t>
            </a:r>
            <a:r>
              <a:rPr sz="1500" spc="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nodes</a:t>
            </a:r>
            <a:r>
              <a:rPr sz="1500" spc="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595959"/>
                </a:solidFill>
                <a:latin typeface="Arial MT"/>
                <a:cs typeface="Arial MT"/>
              </a:rPr>
              <a:t>(leaves).</a:t>
            </a:r>
            <a:endParaRPr sz="1500">
              <a:latin typeface="Arial MT"/>
              <a:cs typeface="Arial MT"/>
            </a:endParaRPr>
          </a:p>
          <a:p>
            <a:pPr marL="12700" marR="11430" algn="just">
              <a:lnSpc>
                <a:spcPts val="1739"/>
              </a:lnSpc>
              <a:spcBef>
                <a:spcPts val="10"/>
              </a:spcBef>
            </a:pPr>
            <a:r>
              <a:rPr sz="1500" b="1" dirty="0">
                <a:solidFill>
                  <a:srgbClr val="595959"/>
                </a:solidFill>
                <a:latin typeface="Arial"/>
                <a:cs typeface="Arial"/>
              </a:rPr>
              <a:t>Subtree</a:t>
            </a:r>
            <a:r>
              <a:rPr sz="1500" b="1" spc="40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595959"/>
                </a:solidFill>
                <a:latin typeface="Arial"/>
                <a:cs typeface="Arial"/>
              </a:rPr>
              <a:t>Pruning:</a:t>
            </a:r>
            <a:r>
              <a:rPr sz="1500" b="1" spc="40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Starting</a:t>
            </a:r>
            <a:r>
              <a:rPr sz="1500" spc="40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from</a:t>
            </a:r>
            <a:r>
              <a:rPr sz="1500" spc="40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500" spc="40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leaves,</a:t>
            </a:r>
            <a:r>
              <a:rPr sz="1500" spc="40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prune</a:t>
            </a:r>
            <a:r>
              <a:rPr sz="1500" spc="40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nodes</a:t>
            </a:r>
            <a:r>
              <a:rPr sz="1500" spc="40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and</a:t>
            </a:r>
            <a:r>
              <a:rPr sz="1500" spc="40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subtrees</a:t>
            </a:r>
            <a:r>
              <a:rPr sz="1500" spc="40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that</a:t>
            </a:r>
            <a:r>
              <a:rPr sz="1500" spc="40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do</a:t>
            </a:r>
            <a:r>
              <a:rPr sz="1500" spc="40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not</a:t>
            </a:r>
            <a:r>
              <a:rPr sz="1500" spc="40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595959"/>
                </a:solidFill>
                <a:latin typeface="Arial MT"/>
                <a:cs typeface="Arial MT"/>
              </a:rPr>
              <a:t>provide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significant</a:t>
            </a:r>
            <a:r>
              <a:rPr sz="1500" spc="2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information</a:t>
            </a:r>
            <a:r>
              <a:rPr sz="1500" spc="2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gain.</a:t>
            </a:r>
            <a:r>
              <a:rPr sz="1500" spc="18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This</a:t>
            </a:r>
            <a:r>
              <a:rPr sz="1500" spc="2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involves</a:t>
            </a:r>
            <a:r>
              <a:rPr sz="1500" spc="2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replacing</a:t>
            </a:r>
            <a:r>
              <a:rPr sz="1500" spc="2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subtrees</a:t>
            </a:r>
            <a:r>
              <a:rPr sz="1500" spc="2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with</a:t>
            </a:r>
            <a:r>
              <a:rPr sz="1500" spc="2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leaf</a:t>
            </a:r>
            <a:r>
              <a:rPr sz="1500" spc="2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nodes</a:t>
            </a:r>
            <a:r>
              <a:rPr sz="1500" spc="2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if</a:t>
            </a:r>
            <a:r>
              <a:rPr sz="1500" spc="2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500" spc="2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pruned</a:t>
            </a:r>
            <a:r>
              <a:rPr sz="1500" spc="2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-20" dirty="0">
                <a:solidFill>
                  <a:srgbClr val="595959"/>
                </a:solidFill>
                <a:latin typeface="Arial MT"/>
                <a:cs typeface="Arial MT"/>
              </a:rPr>
              <a:t>tree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has</a:t>
            </a:r>
            <a:r>
              <a:rPr sz="1500" spc="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sz="1500" spc="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lower</a:t>
            </a:r>
            <a:r>
              <a:rPr sz="1500" spc="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cost</a:t>
            </a:r>
            <a:r>
              <a:rPr sz="1500" spc="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595959"/>
                </a:solidFill>
                <a:latin typeface="Arial MT"/>
                <a:cs typeface="Arial MT"/>
              </a:rPr>
              <a:t>complexity.</a:t>
            </a:r>
            <a:endParaRPr sz="1500">
              <a:latin typeface="Arial MT"/>
              <a:cs typeface="Arial MT"/>
            </a:endParaRPr>
          </a:p>
          <a:p>
            <a:pPr marL="12700" marR="5080" algn="just">
              <a:lnSpc>
                <a:spcPts val="1739"/>
              </a:lnSpc>
              <a:spcBef>
                <a:spcPts val="15"/>
              </a:spcBef>
            </a:pPr>
            <a:r>
              <a:rPr sz="1500" b="1" dirty="0">
                <a:solidFill>
                  <a:srgbClr val="595959"/>
                </a:solidFill>
                <a:latin typeface="Arial"/>
                <a:cs typeface="Arial"/>
              </a:rPr>
              <a:t>Validation:</a:t>
            </a:r>
            <a:r>
              <a:rPr sz="1500" b="1" spc="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Use</a:t>
            </a:r>
            <a:r>
              <a:rPr sz="1500" spc="5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cross-validation</a:t>
            </a:r>
            <a:r>
              <a:rPr sz="1500" spc="5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500" spc="5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evaluate</a:t>
            </a:r>
            <a:r>
              <a:rPr sz="1500" spc="5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500" spc="5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performance</a:t>
            </a:r>
            <a:r>
              <a:rPr sz="1500" spc="5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sz="1500" spc="5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500" spc="5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pruned</a:t>
            </a:r>
            <a:r>
              <a:rPr sz="1500" spc="5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tree</a:t>
            </a:r>
            <a:r>
              <a:rPr sz="1500" spc="5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on</a:t>
            </a:r>
            <a:r>
              <a:rPr sz="1500" spc="5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unseen</a:t>
            </a:r>
            <a:r>
              <a:rPr sz="1500" spc="5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595959"/>
                </a:solidFill>
                <a:latin typeface="Arial MT"/>
                <a:cs typeface="Arial MT"/>
              </a:rPr>
              <a:t>data.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This</a:t>
            </a:r>
            <a:r>
              <a:rPr sz="1500" spc="1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ensures</a:t>
            </a:r>
            <a:r>
              <a:rPr sz="1500" spc="1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that</a:t>
            </a:r>
            <a:r>
              <a:rPr sz="1500" spc="1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500" spc="1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pruning</a:t>
            </a:r>
            <a:r>
              <a:rPr sz="1500" spc="1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process</a:t>
            </a:r>
            <a:r>
              <a:rPr sz="1500" spc="1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maintains</a:t>
            </a:r>
            <a:r>
              <a:rPr sz="1500" spc="1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or</a:t>
            </a:r>
            <a:r>
              <a:rPr sz="1500" spc="1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improves</a:t>
            </a:r>
            <a:r>
              <a:rPr sz="1500" spc="1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500" spc="1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predictive</a:t>
            </a:r>
            <a:r>
              <a:rPr sz="1500" spc="1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accuracy</a:t>
            </a:r>
            <a:r>
              <a:rPr sz="1500" spc="1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sz="1500" spc="1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500" spc="1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-20" dirty="0">
                <a:solidFill>
                  <a:srgbClr val="595959"/>
                </a:solidFill>
                <a:latin typeface="Arial MT"/>
                <a:cs typeface="Arial MT"/>
              </a:rPr>
              <a:t>tree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on</a:t>
            </a:r>
            <a:r>
              <a:rPr sz="1500" spc="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new</a:t>
            </a:r>
            <a:r>
              <a:rPr sz="1500" spc="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595959"/>
                </a:solidFill>
                <a:latin typeface="Arial MT"/>
                <a:cs typeface="Arial MT"/>
              </a:rPr>
              <a:t>data.</a:t>
            </a:r>
            <a:endParaRPr sz="1500">
              <a:latin typeface="Arial MT"/>
              <a:cs typeface="Arial MT"/>
            </a:endParaRPr>
          </a:p>
          <a:p>
            <a:pPr marL="12700" marR="31115" algn="just">
              <a:lnSpc>
                <a:spcPts val="1739"/>
              </a:lnSpc>
              <a:spcBef>
                <a:spcPts val="10"/>
              </a:spcBef>
            </a:pPr>
            <a:r>
              <a:rPr sz="1500" b="1" dirty="0">
                <a:solidFill>
                  <a:srgbClr val="595959"/>
                </a:solidFill>
                <a:latin typeface="Arial"/>
                <a:cs typeface="Arial"/>
              </a:rPr>
              <a:t>Select</a:t>
            </a:r>
            <a:r>
              <a:rPr sz="1500" b="1" spc="1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595959"/>
                </a:solidFill>
                <a:latin typeface="Arial"/>
                <a:cs typeface="Arial"/>
              </a:rPr>
              <a:t>Optimal</a:t>
            </a:r>
            <a:r>
              <a:rPr sz="1500" b="1" spc="1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595959"/>
                </a:solidFill>
                <a:latin typeface="Arial"/>
                <a:cs typeface="Arial"/>
              </a:rPr>
              <a:t>Tree:</a:t>
            </a:r>
            <a:r>
              <a:rPr sz="1500" b="1" spc="1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500" spc="16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tree</a:t>
            </a:r>
            <a:r>
              <a:rPr sz="1500" spc="16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with</a:t>
            </a:r>
            <a:r>
              <a:rPr sz="1500" spc="15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500" spc="16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best</a:t>
            </a:r>
            <a:r>
              <a:rPr sz="1500" spc="15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performance</a:t>
            </a:r>
            <a:r>
              <a:rPr sz="1500" spc="16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on</a:t>
            </a:r>
            <a:r>
              <a:rPr sz="1500" spc="16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validation</a:t>
            </a:r>
            <a:r>
              <a:rPr sz="1500" spc="15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data</a:t>
            </a:r>
            <a:r>
              <a:rPr sz="1500" spc="16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is</a:t>
            </a:r>
            <a:r>
              <a:rPr sz="1500" spc="15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selected</a:t>
            </a:r>
            <a:r>
              <a:rPr sz="1500" spc="16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as</a:t>
            </a:r>
            <a:r>
              <a:rPr sz="1500" spc="16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-25" dirty="0">
                <a:solidFill>
                  <a:srgbClr val="595959"/>
                </a:solidFill>
                <a:latin typeface="Arial MT"/>
                <a:cs typeface="Arial MT"/>
              </a:rPr>
              <a:t>the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final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595959"/>
                </a:solidFill>
                <a:latin typeface="Arial MT"/>
                <a:cs typeface="Arial MT"/>
              </a:rPr>
              <a:t>model.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0" dirty="0"/>
              <a:t>Post-</a:t>
            </a:r>
            <a:r>
              <a:rPr dirty="0"/>
              <a:t>pruning</a:t>
            </a:r>
            <a:r>
              <a:rPr spc="-5" dirty="0"/>
              <a:t> </a:t>
            </a:r>
            <a:r>
              <a:rPr dirty="0"/>
              <a:t>or</a:t>
            </a:r>
            <a:r>
              <a:rPr spc="-5" dirty="0"/>
              <a:t> </a:t>
            </a:r>
            <a:r>
              <a:rPr dirty="0"/>
              <a:t>cost</a:t>
            </a:r>
            <a:r>
              <a:rPr spc="-5" dirty="0"/>
              <a:t> </a:t>
            </a:r>
            <a:r>
              <a:rPr dirty="0"/>
              <a:t>complexity</a:t>
            </a:r>
            <a:r>
              <a:rPr spc="-5" dirty="0"/>
              <a:t> </a:t>
            </a:r>
            <a:r>
              <a:rPr spc="-10" dirty="0"/>
              <a:t>pruning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/>
              <a:t>A</a:t>
            </a:r>
            <a:r>
              <a:rPr spc="-130" dirty="0"/>
              <a:t> </a:t>
            </a:r>
            <a:r>
              <a:rPr dirty="0"/>
              <a:t>prune</a:t>
            </a:r>
            <a:r>
              <a:rPr spc="-15" dirty="0"/>
              <a:t> </a:t>
            </a:r>
            <a:r>
              <a:rPr dirty="0"/>
              <a:t>set</a:t>
            </a:r>
            <a:r>
              <a:rPr spc="-20" dirty="0"/>
              <a:t> </a:t>
            </a:r>
            <a:r>
              <a:rPr dirty="0"/>
              <a:t>is</a:t>
            </a:r>
            <a:r>
              <a:rPr spc="-15" dirty="0"/>
              <a:t> </a:t>
            </a:r>
            <a:r>
              <a:rPr dirty="0"/>
              <a:t>a</a:t>
            </a:r>
            <a:r>
              <a:rPr spc="-20" dirty="0"/>
              <a:t> </a:t>
            </a:r>
            <a:r>
              <a:rPr dirty="0"/>
              <a:t>subset</a:t>
            </a:r>
            <a:r>
              <a:rPr spc="-20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training</a:t>
            </a:r>
            <a:r>
              <a:rPr spc="-15" dirty="0"/>
              <a:t> </a:t>
            </a:r>
            <a:r>
              <a:rPr dirty="0"/>
              <a:t>data</a:t>
            </a:r>
            <a:r>
              <a:rPr spc="-20" dirty="0"/>
              <a:t> </a:t>
            </a:r>
            <a:r>
              <a:rPr dirty="0"/>
              <a:t>used</a:t>
            </a:r>
            <a:r>
              <a:rPr spc="-20" dirty="0"/>
              <a:t> </a:t>
            </a:r>
            <a:r>
              <a:rPr dirty="0"/>
              <a:t>in</a:t>
            </a:r>
            <a:r>
              <a:rPr spc="-15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pruning</a:t>
            </a:r>
            <a:r>
              <a:rPr spc="-15" dirty="0"/>
              <a:t> </a:t>
            </a:r>
            <a:r>
              <a:rPr dirty="0"/>
              <a:t>phase</a:t>
            </a:r>
            <a:r>
              <a:rPr spc="-20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spc="-10" dirty="0"/>
              <a:t>building </a:t>
            </a:r>
            <a:r>
              <a:rPr dirty="0"/>
              <a:t>decision</a:t>
            </a:r>
            <a:r>
              <a:rPr spc="-35" dirty="0"/>
              <a:t> </a:t>
            </a:r>
            <a:r>
              <a:rPr dirty="0"/>
              <a:t>trees.</a:t>
            </a:r>
            <a:r>
              <a:rPr spc="-55" dirty="0"/>
              <a:t> </a:t>
            </a:r>
            <a:r>
              <a:rPr dirty="0"/>
              <a:t>This</a:t>
            </a:r>
            <a:r>
              <a:rPr spc="-20" dirty="0"/>
              <a:t> </a:t>
            </a:r>
            <a:r>
              <a:rPr dirty="0"/>
              <a:t>set</a:t>
            </a:r>
            <a:r>
              <a:rPr spc="-20" dirty="0"/>
              <a:t> </a:t>
            </a:r>
            <a:r>
              <a:rPr dirty="0"/>
              <a:t>is</a:t>
            </a:r>
            <a:r>
              <a:rPr spc="-20" dirty="0"/>
              <a:t> </a:t>
            </a:r>
            <a:r>
              <a:rPr dirty="0"/>
              <a:t>separate</a:t>
            </a:r>
            <a:r>
              <a:rPr spc="-20" dirty="0"/>
              <a:t> </a:t>
            </a:r>
            <a:r>
              <a:rPr dirty="0"/>
              <a:t>from</a:t>
            </a:r>
            <a:r>
              <a:rPr spc="-20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data</a:t>
            </a:r>
            <a:r>
              <a:rPr spc="-20" dirty="0"/>
              <a:t> </a:t>
            </a:r>
            <a:r>
              <a:rPr dirty="0"/>
              <a:t>used</a:t>
            </a:r>
            <a:r>
              <a:rPr spc="-20" dirty="0"/>
              <a:t> </a:t>
            </a:r>
            <a:r>
              <a:rPr dirty="0"/>
              <a:t>to</a:t>
            </a:r>
            <a:r>
              <a:rPr spc="-20" dirty="0"/>
              <a:t> </a:t>
            </a:r>
            <a:r>
              <a:rPr dirty="0"/>
              <a:t>construct</a:t>
            </a:r>
            <a:r>
              <a:rPr spc="-20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tree.</a:t>
            </a:r>
            <a:r>
              <a:rPr spc="-50" dirty="0"/>
              <a:t> </a:t>
            </a:r>
            <a:r>
              <a:rPr spc="-25" dirty="0"/>
              <a:t>The </a:t>
            </a:r>
            <a:r>
              <a:rPr dirty="0"/>
              <a:t>purpose</a:t>
            </a:r>
            <a:r>
              <a:rPr spc="-20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prune</a:t>
            </a:r>
            <a:r>
              <a:rPr spc="-20" dirty="0"/>
              <a:t> </a:t>
            </a:r>
            <a:r>
              <a:rPr dirty="0"/>
              <a:t>set</a:t>
            </a:r>
            <a:r>
              <a:rPr spc="-15" dirty="0"/>
              <a:t> </a:t>
            </a:r>
            <a:r>
              <a:rPr dirty="0"/>
              <a:t>is</a:t>
            </a:r>
            <a:r>
              <a:rPr spc="-20" dirty="0"/>
              <a:t> </a:t>
            </a:r>
            <a:r>
              <a:rPr dirty="0"/>
              <a:t>to</a:t>
            </a:r>
            <a:r>
              <a:rPr spc="-20" dirty="0"/>
              <a:t> </a:t>
            </a:r>
            <a:r>
              <a:rPr dirty="0"/>
              <a:t>help</a:t>
            </a:r>
            <a:r>
              <a:rPr spc="-20" dirty="0"/>
              <a:t> </a:t>
            </a:r>
            <a:r>
              <a:rPr dirty="0"/>
              <a:t>determine</a:t>
            </a:r>
            <a:r>
              <a:rPr spc="-20" dirty="0"/>
              <a:t> </a:t>
            </a:r>
            <a:r>
              <a:rPr dirty="0"/>
              <a:t>which</a:t>
            </a:r>
            <a:r>
              <a:rPr spc="-15" dirty="0"/>
              <a:t> </a:t>
            </a:r>
            <a:r>
              <a:rPr dirty="0"/>
              <a:t>branches</a:t>
            </a:r>
            <a:r>
              <a:rPr spc="-20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tree</a:t>
            </a:r>
            <a:r>
              <a:rPr spc="-20" dirty="0"/>
              <a:t> </a:t>
            </a:r>
            <a:r>
              <a:rPr dirty="0"/>
              <a:t>should</a:t>
            </a:r>
            <a:r>
              <a:rPr spc="-15" dirty="0"/>
              <a:t> </a:t>
            </a:r>
            <a:r>
              <a:rPr spc="-25" dirty="0"/>
              <a:t>be </a:t>
            </a:r>
            <a:r>
              <a:rPr dirty="0"/>
              <a:t>pruned</a:t>
            </a:r>
            <a:r>
              <a:rPr spc="-20" dirty="0"/>
              <a:t> </a:t>
            </a:r>
            <a:r>
              <a:rPr dirty="0"/>
              <a:t>in</a:t>
            </a:r>
            <a:r>
              <a:rPr spc="-15" dirty="0"/>
              <a:t> </a:t>
            </a:r>
            <a:r>
              <a:rPr dirty="0"/>
              <a:t>order</a:t>
            </a:r>
            <a:r>
              <a:rPr spc="-20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dirty="0"/>
              <a:t>reduce</a:t>
            </a:r>
            <a:r>
              <a:rPr spc="-15" dirty="0"/>
              <a:t> </a:t>
            </a:r>
            <a:r>
              <a:rPr spc="-10" dirty="0"/>
              <a:t>overfitting.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Prune</a:t>
            </a:r>
            <a:r>
              <a:rPr spc="-20" dirty="0"/>
              <a:t> </a:t>
            </a:r>
            <a:r>
              <a:rPr spc="-25" dirty="0"/>
              <a:t>Set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384725" y="1205383"/>
            <a:ext cx="8368665" cy="2457083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12065" algn="just">
              <a:lnSpc>
                <a:spcPts val="2050"/>
              </a:lnSpc>
              <a:spcBef>
                <a:spcPts val="260"/>
              </a:spcBef>
            </a:pPr>
            <a:r>
              <a:rPr b="1" dirty="0">
                <a:latin typeface="Arial"/>
                <a:cs typeface="Arial"/>
              </a:rPr>
              <a:t>Error</a:t>
            </a:r>
            <a:r>
              <a:rPr b="1" spc="12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Calculation:</a:t>
            </a:r>
            <a:r>
              <a:rPr b="1" spc="125" dirty="0">
                <a:latin typeface="Arial"/>
                <a:cs typeface="Arial"/>
              </a:rPr>
              <a:t> </a:t>
            </a:r>
            <a:r>
              <a:rPr dirty="0"/>
              <a:t>For</a:t>
            </a:r>
            <a:r>
              <a:rPr spc="120" dirty="0"/>
              <a:t> </a:t>
            </a:r>
            <a:r>
              <a:rPr dirty="0"/>
              <a:t>each</a:t>
            </a:r>
            <a:r>
              <a:rPr spc="125" dirty="0"/>
              <a:t> </a:t>
            </a:r>
            <a:r>
              <a:rPr dirty="0"/>
              <a:t>node</a:t>
            </a:r>
            <a:r>
              <a:rPr spc="120" dirty="0"/>
              <a:t> </a:t>
            </a:r>
            <a:r>
              <a:rPr dirty="0"/>
              <a:t>in</a:t>
            </a:r>
            <a:r>
              <a:rPr spc="125" dirty="0"/>
              <a:t> </a:t>
            </a:r>
            <a:r>
              <a:rPr dirty="0"/>
              <a:t>the</a:t>
            </a:r>
            <a:r>
              <a:rPr spc="120" dirty="0"/>
              <a:t> </a:t>
            </a:r>
            <a:r>
              <a:rPr dirty="0"/>
              <a:t>tree,</a:t>
            </a:r>
            <a:r>
              <a:rPr spc="120" dirty="0"/>
              <a:t> </a:t>
            </a:r>
            <a:r>
              <a:rPr dirty="0"/>
              <a:t>calculate</a:t>
            </a:r>
            <a:r>
              <a:rPr spc="120" dirty="0"/>
              <a:t> </a:t>
            </a:r>
            <a:r>
              <a:rPr dirty="0"/>
              <a:t>the</a:t>
            </a:r>
            <a:r>
              <a:rPr spc="125" dirty="0"/>
              <a:t> </a:t>
            </a:r>
            <a:r>
              <a:rPr dirty="0"/>
              <a:t>error</a:t>
            </a:r>
            <a:r>
              <a:rPr spc="120" dirty="0"/>
              <a:t> </a:t>
            </a:r>
            <a:r>
              <a:rPr dirty="0"/>
              <a:t>rate</a:t>
            </a:r>
            <a:r>
              <a:rPr spc="125" dirty="0"/>
              <a:t> </a:t>
            </a:r>
            <a:r>
              <a:rPr spc="-10" dirty="0"/>
              <a:t>(proportion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misclassified</a:t>
            </a:r>
            <a:r>
              <a:rPr spc="-35" dirty="0"/>
              <a:t> </a:t>
            </a:r>
            <a:r>
              <a:rPr spc="-10" dirty="0"/>
              <a:t>instances).</a:t>
            </a:r>
          </a:p>
          <a:p>
            <a:pPr marL="12700" marR="27940" algn="just">
              <a:lnSpc>
                <a:spcPts val="2050"/>
              </a:lnSpc>
            </a:pPr>
            <a:r>
              <a:rPr b="1" dirty="0">
                <a:latin typeface="Arial"/>
                <a:cs typeface="Arial"/>
              </a:rPr>
              <a:t>Subtree</a:t>
            </a:r>
            <a:r>
              <a:rPr b="1" spc="36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Error</a:t>
            </a:r>
            <a:r>
              <a:rPr b="1" spc="37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Rate:</a:t>
            </a:r>
            <a:r>
              <a:rPr b="1" spc="380" dirty="0">
                <a:latin typeface="Arial"/>
                <a:cs typeface="Arial"/>
              </a:rPr>
              <a:t> </a:t>
            </a:r>
            <a:r>
              <a:rPr dirty="0"/>
              <a:t>Calculate</a:t>
            </a:r>
            <a:r>
              <a:rPr spc="375" dirty="0"/>
              <a:t> </a:t>
            </a:r>
            <a:r>
              <a:rPr dirty="0"/>
              <a:t>the</a:t>
            </a:r>
            <a:r>
              <a:rPr spc="375" dirty="0"/>
              <a:t> </a:t>
            </a:r>
            <a:r>
              <a:rPr dirty="0"/>
              <a:t>combined</a:t>
            </a:r>
            <a:r>
              <a:rPr spc="375" dirty="0"/>
              <a:t> </a:t>
            </a:r>
            <a:r>
              <a:rPr dirty="0"/>
              <a:t>error</a:t>
            </a:r>
            <a:r>
              <a:rPr spc="380" dirty="0"/>
              <a:t> </a:t>
            </a:r>
            <a:r>
              <a:rPr dirty="0"/>
              <a:t>rate</a:t>
            </a:r>
            <a:r>
              <a:rPr spc="375" dirty="0"/>
              <a:t> </a:t>
            </a:r>
            <a:r>
              <a:rPr dirty="0"/>
              <a:t>of</a:t>
            </a:r>
            <a:r>
              <a:rPr spc="370" dirty="0"/>
              <a:t> </a:t>
            </a:r>
            <a:r>
              <a:rPr dirty="0"/>
              <a:t>the</a:t>
            </a:r>
            <a:r>
              <a:rPr spc="375" dirty="0"/>
              <a:t> </a:t>
            </a:r>
            <a:r>
              <a:rPr dirty="0"/>
              <a:t>leaves</a:t>
            </a:r>
            <a:r>
              <a:rPr spc="375" dirty="0"/>
              <a:t> </a:t>
            </a:r>
            <a:r>
              <a:rPr dirty="0"/>
              <a:t>in</a:t>
            </a:r>
            <a:r>
              <a:rPr spc="380" dirty="0"/>
              <a:t> </a:t>
            </a:r>
            <a:r>
              <a:rPr spc="-20" dirty="0"/>
              <a:t>each </a:t>
            </a:r>
            <a:r>
              <a:rPr spc="-10" dirty="0"/>
              <a:t>subtree.</a:t>
            </a:r>
          </a:p>
          <a:p>
            <a:pPr marL="12700" marR="8890" algn="just">
              <a:lnSpc>
                <a:spcPts val="2050"/>
              </a:lnSpc>
              <a:spcBef>
                <a:spcPts val="5"/>
              </a:spcBef>
            </a:pPr>
            <a:r>
              <a:rPr b="1" dirty="0">
                <a:latin typeface="Arial"/>
                <a:cs typeface="Arial"/>
              </a:rPr>
              <a:t>Prune</a:t>
            </a:r>
            <a:r>
              <a:rPr b="1" spc="6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Decision:</a:t>
            </a:r>
            <a:r>
              <a:rPr b="1" spc="70" dirty="0">
                <a:latin typeface="Arial"/>
                <a:cs typeface="Arial"/>
              </a:rPr>
              <a:t> </a:t>
            </a:r>
            <a:r>
              <a:rPr dirty="0"/>
              <a:t>If</a:t>
            </a:r>
            <a:r>
              <a:rPr spc="65" dirty="0"/>
              <a:t> </a:t>
            </a:r>
            <a:r>
              <a:rPr dirty="0"/>
              <a:t>the</a:t>
            </a:r>
            <a:r>
              <a:rPr spc="70" dirty="0"/>
              <a:t> </a:t>
            </a:r>
            <a:r>
              <a:rPr dirty="0"/>
              <a:t>error</a:t>
            </a:r>
            <a:r>
              <a:rPr spc="65" dirty="0"/>
              <a:t> </a:t>
            </a:r>
            <a:r>
              <a:rPr dirty="0"/>
              <a:t>rate</a:t>
            </a:r>
            <a:r>
              <a:rPr spc="65" dirty="0"/>
              <a:t> </a:t>
            </a:r>
            <a:r>
              <a:rPr dirty="0"/>
              <a:t>of</a:t>
            </a:r>
            <a:r>
              <a:rPr spc="70" dirty="0"/>
              <a:t> </a:t>
            </a:r>
            <a:r>
              <a:rPr dirty="0"/>
              <a:t>a</a:t>
            </a:r>
            <a:r>
              <a:rPr spc="65" dirty="0"/>
              <a:t> </a:t>
            </a:r>
            <a:r>
              <a:rPr dirty="0"/>
              <a:t>subtree</a:t>
            </a:r>
            <a:r>
              <a:rPr spc="65" dirty="0"/>
              <a:t> </a:t>
            </a:r>
            <a:r>
              <a:rPr dirty="0"/>
              <a:t>is</a:t>
            </a:r>
            <a:r>
              <a:rPr spc="70" dirty="0"/>
              <a:t> </a:t>
            </a:r>
            <a:r>
              <a:rPr dirty="0"/>
              <a:t>greater</a:t>
            </a:r>
            <a:r>
              <a:rPr spc="65" dirty="0"/>
              <a:t> </a:t>
            </a:r>
            <a:r>
              <a:rPr dirty="0"/>
              <a:t>than</a:t>
            </a:r>
            <a:r>
              <a:rPr spc="65" dirty="0"/>
              <a:t> </a:t>
            </a:r>
            <a:r>
              <a:rPr dirty="0"/>
              <a:t>or</a:t>
            </a:r>
            <a:r>
              <a:rPr spc="70" dirty="0"/>
              <a:t> </a:t>
            </a:r>
            <a:r>
              <a:rPr dirty="0"/>
              <a:t>equal</a:t>
            </a:r>
            <a:r>
              <a:rPr spc="65" dirty="0"/>
              <a:t> </a:t>
            </a:r>
            <a:r>
              <a:rPr dirty="0"/>
              <a:t>to</a:t>
            </a:r>
            <a:r>
              <a:rPr spc="65" dirty="0"/>
              <a:t> </a:t>
            </a:r>
            <a:r>
              <a:rPr dirty="0"/>
              <a:t>the</a:t>
            </a:r>
            <a:r>
              <a:rPr spc="70" dirty="0"/>
              <a:t> </a:t>
            </a:r>
            <a:r>
              <a:rPr spc="-10" dirty="0"/>
              <a:t>error </a:t>
            </a:r>
            <a:r>
              <a:rPr dirty="0"/>
              <a:t>rate</a:t>
            </a:r>
            <a:r>
              <a:rPr spc="235" dirty="0"/>
              <a:t> </a:t>
            </a:r>
            <a:r>
              <a:rPr dirty="0"/>
              <a:t>of</a:t>
            </a:r>
            <a:r>
              <a:rPr spc="240" dirty="0"/>
              <a:t> </a:t>
            </a:r>
            <a:r>
              <a:rPr dirty="0"/>
              <a:t>the</a:t>
            </a:r>
            <a:r>
              <a:rPr spc="240" dirty="0"/>
              <a:t> </a:t>
            </a:r>
            <a:r>
              <a:rPr dirty="0"/>
              <a:t>node</a:t>
            </a:r>
            <a:r>
              <a:rPr spc="240" dirty="0"/>
              <a:t> </a:t>
            </a:r>
            <a:r>
              <a:rPr dirty="0"/>
              <a:t>itself,</a:t>
            </a:r>
            <a:r>
              <a:rPr spc="240" dirty="0"/>
              <a:t> </a:t>
            </a:r>
            <a:r>
              <a:rPr dirty="0"/>
              <a:t>the</a:t>
            </a:r>
            <a:r>
              <a:rPr spc="240" dirty="0"/>
              <a:t> </a:t>
            </a:r>
            <a:r>
              <a:rPr dirty="0"/>
              <a:t>subtree</a:t>
            </a:r>
            <a:r>
              <a:rPr spc="240" dirty="0"/>
              <a:t> </a:t>
            </a:r>
            <a:r>
              <a:rPr dirty="0"/>
              <a:t>is</a:t>
            </a:r>
            <a:r>
              <a:rPr spc="240" dirty="0"/>
              <a:t> </a:t>
            </a:r>
            <a:r>
              <a:rPr dirty="0"/>
              <a:t>pruned,</a:t>
            </a:r>
            <a:r>
              <a:rPr spc="240" dirty="0"/>
              <a:t> </a:t>
            </a:r>
            <a:r>
              <a:rPr dirty="0"/>
              <a:t>meaning</a:t>
            </a:r>
            <a:r>
              <a:rPr spc="240" dirty="0"/>
              <a:t> </a:t>
            </a:r>
            <a:r>
              <a:rPr dirty="0"/>
              <a:t>it</a:t>
            </a:r>
            <a:r>
              <a:rPr spc="240" dirty="0"/>
              <a:t> </a:t>
            </a:r>
            <a:r>
              <a:rPr dirty="0"/>
              <a:t>is</a:t>
            </a:r>
            <a:r>
              <a:rPr spc="240" dirty="0"/>
              <a:t> </a:t>
            </a:r>
            <a:r>
              <a:rPr dirty="0"/>
              <a:t>replaced</a:t>
            </a:r>
            <a:r>
              <a:rPr spc="240" dirty="0"/>
              <a:t> </a:t>
            </a:r>
            <a:r>
              <a:rPr dirty="0"/>
              <a:t>with</a:t>
            </a:r>
            <a:r>
              <a:rPr spc="240" dirty="0"/>
              <a:t> </a:t>
            </a:r>
            <a:r>
              <a:rPr dirty="0"/>
              <a:t>a</a:t>
            </a:r>
            <a:r>
              <a:rPr spc="240" dirty="0"/>
              <a:t> </a:t>
            </a:r>
            <a:r>
              <a:rPr spc="-20" dirty="0"/>
              <a:t>leaf </a:t>
            </a:r>
            <a:r>
              <a:rPr spc="-10" dirty="0"/>
              <a:t>node.</a:t>
            </a:r>
          </a:p>
          <a:p>
            <a:pPr marL="12700" marR="5080" algn="just">
              <a:lnSpc>
                <a:spcPts val="2050"/>
              </a:lnSpc>
              <a:spcBef>
                <a:spcPts val="5"/>
              </a:spcBef>
            </a:pPr>
            <a:r>
              <a:rPr b="1" dirty="0">
                <a:latin typeface="Arial"/>
                <a:cs typeface="Arial"/>
              </a:rPr>
              <a:t>Bias</a:t>
            </a:r>
            <a:r>
              <a:rPr b="1" spc="65" dirty="0">
                <a:latin typeface="Arial"/>
                <a:cs typeface="Arial"/>
              </a:rPr>
              <a:t>  </a:t>
            </a:r>
            <a:r>
              <a:rPr b="1" dirty="0">
                <a:latin typeface="Arial"/>
                <a:cs typeface="Arial"/>
              </a:rPr>
              <a:t>Correction:</a:t>
            </a:r>
            <a:r>
              <a:rPr b="1" spc="55" dirty="0">
                <a:latin typeface="Arial"/>
                <a:cs typeface="Arial"/>
              </a:rPr>
              <a:t>  </a:t>
            </a:r>
            <a:r>
              <a:rPr lang="en-US" dirty="0"/>
              <a:t>Add a small correction (+0.5) to error rates to avoid underestimating </a:t>
            </a:r>
            <a:r>
              <a:rPr lang="en-US" dirty="0" smtClean="0"/>
              <a:t>errors </a:t>
            </a:r>
            <a:r>
              <a:rPr lang="en-US" dirty="0"/>
              <a:t>for small datasets.</a:t>
            </a:r>
            <a:endParaRPr spc="-1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Pessimistic</a:t>
            </a:r>
            <a:r>
              <a:rPr spc="-100" dirty="0"/>
              <a:t> </a:t>
            </a:r>
            <a:r>
              <a:rPr dirty="0"/>
              <a:t>Tree</a:t>
            </a:r>
            <a:r>
              <a:rPr spc="-55" dirty="0"/>
              <a:t> </a:t>
            </a:r>
            <a:r>
              <a:rPr spc="-10" dirty="0"/>
              <a:t>Pruning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30461" y="1473918"/>
            <a:ext cx="205803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595959"/>
                </a:solidFill>
              </a:rPr>
              <a:t>Thank</a:t>
            </a:r>
            <a:r>
              <a:rPr sz="3200" spc="-65" dirty="0">
                <a:solidFill>
                  <a:srgbClr val="595959"/>
                </a:solidFill>
              </a:rPr>
              <a:t> </a:t>
            </a:r>
            <a:r>
              <a:rPr sz="3200" spc="-60" dirty="0">
                <a:solidFill>
                  <a:srgbClr val="595959"/>
                </a:solidFill>
              </a:rPr>
              <a:t>You!</a:t>
            </a:r>
            <a:endParaRPr sz="3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</TotalTime>
  <Words>943</Words>
  <Application>Microsoft Office PowerPoint</Application>
  <PresentationFormat>On-screen Show (16:9)</PresentationFormat>
  <Paragraphs>58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Arial MT</vt:lpstr>
      <vt:lpstr>Calibri</vt:lpstr>
      <vt:lpstr>Office Theme</vt:lpstr>
      <vt:lpstr>Tree Pruning</vt:lpstr>
      <vt:lpstr>What is Tree Pruning</vt:lpstr>
      <vt:lpstr>Why pruning is important</vt:lpstr>
      <vt:lpstr>Types of Pruning</vt:lpstr>
      <vt:lpstr>Decision trees suffers</vt:lpstr>
      <vt:lpstr>Decision trees suffers</vt:lpstr>
      <vt:lpstr>Post-pruning or cost complexity pruning</vt:lpstr>
      <vt:lpstr>Prune Set</vt:lpstr>
      <vt:lpstr>Pessimistic Tree Pruning</vt:lpstr>
      <vt:lpstr>Thank You!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7. Tree Pruning</dc:title>
  <cp:lastModifiedBy>Microsoft account</cp:lastModifiedBy>
  <cp:revision>14</cp:revision>
  <dcterms:created xsi:type="dcterms:W3CDTF">2024-12-12T07:28:22Z</dcterms:created>
  <dcterms:modified xsi:type="dcterms:W3CDTF">2024-12-13T18:55:50Z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