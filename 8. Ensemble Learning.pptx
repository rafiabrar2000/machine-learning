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70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505248"/>
            <a:ext cx="8374549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5248"/>
            <a:ext cx="8374549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180796"/>
            <a:ext cx="8374549" cy="1147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4279" y="748203"/>
            <a:ext cx="570420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15" dirty="0"/>
              <a:t>Ensemble</a:t>
            </a:r>
            <a:r>
              <a:rPr sz="5200" spc="-95" dirty="0"/>
              <a:t> </a:t>
            </a:r>
            <a:r>
              <a:rPr sz="5200" spc="-5" dirty="0"/>
              <a:t>Learning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192008" y="2648725"/>
            <a:ext cx="6755130" cy="125920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078355" marR="2072639" indent="3175" algn="ctr">
              <a:lnSpc>
                <a:spcPts val="2280"/>
              </a:lnSpc>
              <a:spcBef>
                <a:spcPts val="655"/>
              </a:spcBef>
            </a:pPr>
            <a:r>
              <a:rPr sz="2350" spc="10" dirty="0">
                <a:solidFill>
                  <a:srgbClr val="595959"/>
                </a:solidFill>
                <a:latin typeface="Arial MT"/>
                <a:cs typeface="Arial MT"/>
              </a:rPr>
              <a:t>Sadia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Islam </a:t>
            </a:r>
            <a:r>
              <a:rPr sz="2350" spc="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Assistant</a:t>
            </a:r>
            <a:r>
              <a:rPr sz="235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Professor</a:t>
            </a:r>
            <a:endParaRPr sz="2350">
              <a:latin typeface="Arial MT"/>
              <a:cs typeface="Arial MT"/>
            </a:endParaRPr>
          </a:p>
          <a:p>
            <a:pPr marL="12700" marR="5080" algn="ctr">
              <a:lnSpc>
                <a:spcPts val="2280"/>
              </a:lnSpc>
              <a:spcBef>
                <a:spcPts val="10"/>
              </a:spcBef>
            </a:pPr>
            <a:r>
              <a:rPr sz="2350" spc="10" dirty="0">
                <a:solidFill>
                  <a:srgbClr val="595959"/>
                </a:solidFill>
                <a:latin typeface="Arial MT"/>
                <a:cs typeface="Arial MT"/>
              </a:rPr>
              <a:t>Department of Computer Science and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engineering </a:t>
            </a:r>
            <a:r>
              <a:rPr sz="2350" spc="-6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10" dirty="0">
                <a:solidFill>
                  <a:srgbClr val="595959"/>
                </a:solidFill>
                <a:latin typeface="Arial MT"/>
                <a:cs typeface="Arial MT"/>
              </a:rPr>
              <a:t>United</a:t>
            </a: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International</a:t>
            </a: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University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84797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Ensemble</a:t>
            </a:r>
            <a:r>
              <a:rPr spc="-50" dirty="0"/>
              <a:t> </a:t>
            </a:r>
            <a:r>
              <a:rPr dirty="0"/>
              <a:t>Classifier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5208"/>
            <a:ext cx="7906384" cy="1602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16510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It is the process of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combining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different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classification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techniques to build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powerful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composite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from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data.</a:t>
            </a:r>
            <a:endParaRPr sz="1800">
              <a:latin typeface="Arial MT"/>
              <a:cs typeface="Arial MT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returns a class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label prediction for new instances based on the individual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classifiers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vote.</a:t>
            </a:r>
            <a:endParaRPr sz="180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improves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classification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accuracy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class-imbalanced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data.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119824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Bagging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07929"/>
            <a:ext cx="8270240" cy="170751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298450">
              <a:lnSpc>
                <a:spcPts val="1789"/>
              </a:lnSpc>
              <a:spcBef>
                <a:spcPts val="240"/>
              </a:spcBef>
            </a:pPr>
            <a:r>
              <a:rPr sz="1550" spc="5" dirty="0">
                <a:solidFill>
                  <a:srgbClr val="595959"/>
                </a:solidFill>
                <a:latin typeface="Arial MT"/>
                <a:cs typeface="Arial MT"/>
              </a:rPr>
              <a:t>Bagging, short for Bootstrap Aggregating, is an ensemble </a:t>
            </a:r>
            <a:r>
              <a:rPr sz="1550" spc="10" dirty="0">
                <a:solidFill>
                  <a:srgbClr val="595959"/>
                </a:solidFill>
                <a:latin typeface="Arial MT"/>
                <a:cs typeface="Arial MT"/>
              </a:rPr>
              <a:t>method </a:t>
            </a:r>
            <a:r>
              <a:rPr sz="1550" spc="5" dirty="0">
                <a:solidFill>
                  <a:srgbClr val="595959"/>
                </a:solidFill>
                <a:latin typeface="Arial MT"/>
                <a:cs typeface="Arial MT"/>
              </a:rPr>
              <a:t>designed to improve the </a:t>
            </a:r>
            <a:r>
              <a:rPr sz="1550" spc="-4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50" spc="5" dirty="0">
                <a:solidFill>
                  <a:srgbClr val="595959"/>
                </a:solidFill>
                <a:latin typeface="Arial MT"/>
                <a:cs typeface="Arial MT"/>
              </a:rPr>
              <a:t>accuracy and stability of </a:t>
            </a:r>
            <a:r>
              <a:rPr sz="1550" spc="10" dirty="0">
                <a:solidFill>
                  <a:srgbClr val="595959"/>
                </a:solidFill>
                <a:latin typeface="Arial MT"/>
                <a:cs typeface="Arial MT"/>
              </a:rPr>
              <a:t>machine </a:t>
            </a:r>
            <a:r>
              <a:rPr sz="1550" spc="5" dirty="0">
                <a:solidFill>
                  <a:srgbClr val="595959"/>
                </a:solidFill>
                <a:latin typeface="Arial MT"/>
                <a:cs typeface="Arial MT"/>
              </a:rPr>
              <a:t>learning </a:t>
            </a:r>
            <a:r>
              <a:rPr sz="1550" spc="10" dirty="0">
                <a:solidFill>
                  <a:srgbClr val="595959"/>
                </a:solidFill>
                <a:latin typeface="Arial MT"/>
                <a:cs typeface="Arial MT"/>
              </a:rPr>
              <a:t>models. </a:t>
            </a:r>
            <a:r>
              <a:rPr sz="1550" dirty="0">
                <a:solidFill>
                  <a:srgbClr val="595959"/>
                </a:solidFill>
                <a:latin typeface="Arial MT"/>
                <a:cs typeface="Arial MT"/>
              </a:rPr>
              <a:t>It </a:t>
            </a:r>
            <a:r>
              <a:rPr sz="1550" spc="10" dirty="0">
                <a:solidFill>
                  <a:srgbClr val="595959"/>
                </a:solidFill>
                <a:latin typeface="Arial MT"/>
                <a:cs typeface="Arial MT"/>
              </a:rPr>
              <a:t>reduces variance </a:t>
            </a:r>
            <a:r>
              <a:rPr sz="1550" spc="5" dirty="0">
                <a:solidFill>
                  <a:srgbClr val="595959"/>
                </a:solidFill>
                <a:latin typeface="Arial MT"/>
                <a:cs typeface="Arial MT"/>
              </a:rPr>
              <a:t>and helps to avoid </a:t>
            </a:r>
            <a:r>
              <a:rPr sz="1550" spc="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595959"/>
                </a:solidFill>
                <a:latin typeface="Arial MT"/>
                <a:cs typeface="Arial MT"/>
              </a:rPr>
              <a:t>overfitting.</a:t>
            </a:r>
            <a:r>
              <a:rPr sz="155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50" spc="5" dirty="0">
                <a:solidFill>
                  <a:srgbClr val="595959"/>
                </a:solidFill>
                <a:latin typeface="Arial MT"/>
                <a:cs typeface="Arial MT"/>
              </a:rPr>
              <a:t>Here</a:t>
            </a:r>
            <a:r>
              <a:rPr sz="15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50" spc="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5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50" spc="10" dirty="0">
                <a:solidFill>
                  <a:srgbClr val="595959"/>
                </a:solidFill>
                <a:latin typeface="Arial MT"/>
                <a:cs typeface="Arial MT"/>
              </a:rPr>
              <a:t>how</a:t>
            </a:r>
            <a:r>
              <a:rPr sz="15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50" spc="5" dirty="0">
                <a:solidFill>
                  <a:srgbClr val="595959"/>
                </a:solidFill>
                <a:latin typeface="Arial MT"/>
                <a:cs typeface="Arial MT"/>
              </a:rPr>
              <a:t>Bagging</a:t>
            </a:r>
            <a:r>
              <a:rPr sz="15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550" spc="5" dirty="0">
                <a:solidFill>
                  <a:srgbClr val="595959"/>
                </a:solidFill>
                <a:latin typeface="Arial MT"/>
                <a:cs typeface="Arial MT"/>
              </a:rPr>
              <a:t>works:</a:t>
            </a:r>
            <a:endParaRPr sz="1550" dirty="0">
              <a:latin typeface="Arial MT"/>
              <a:cs typeface="Arial MT"/>
            </a:endParaRPr>
          </a:p>
          <a:p>
            <a:pPr marL="469900" indent="-339090">
              <a:lnSpc>
                <a:spcPts val="1660"/>
              </a:lnSpc>
              <a:spcBef>
                <a:spcPts val="1115"/>
              </a:spcBef>
              <a:buClr>
                <a:srgbClr val="595959"/>
              </a:buClr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400" b="1" spc="15" dirty="0">
                <a:latin typeface="Arial"/>
                <a:cs typeface="Arial"/>
              </a:rPr>
              <a:t>Bootstrap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15" dirty="0">
                <a:latin typeface="Arial"/>
                <a:cs typeface="Arial"/>
              </a:rPr>
              <a:t>Sampling</a:t>
            </a:r>
            <a:r>
              <a:rPr sz="1400" spc="15" dirty="0">
                <a:latin typeface="Arial MT"/>
                <a:cs typeface="Arial MT"/>
              </a:rPr>
              <a:t>:</a:t>
            </a:r>
            <a:endParaRPr sz="1400" dirty="0">
              <a:latin typeface="Arial MT"/>
              <a:cs typeface="Arial MT"/>
            </a:endParaRPr>
          </a:p>
          <a:p>
            <a:pPr marL="927100" marR="5080" lvl="1" indent="-339090">
              <a:lnSpc>
                <a:spcPts val="1639"/>
              </a:lnSpc>
              <a:spcBef>
                <a:spcPts val="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15" dirty="0">
                <a:latin typeface="Arial MT"/>
                <a:cs typeface="Arial MT"/>
              </a:rPr>
              <a:t>From the </a:t>
            </a:r>
            <a:r>
              <a:rPr sz="1400" spc="10" dirty="0">
                <a:latin typeface="Arial MT"/>
                <a:cs typeface="Arial MT"/>
              </a:rPr>
              <a:t>original dataset, </a:t>
            </a:r>
            <a:r>
              <a:rPr sz="1400" spc="15" dirty="0">
                <a:latin typeface="Arial MT"/>
                <a:cs typeface="Arial MT"/>
              </a:rPr>
              <a:t>create multiple </a:t>
            </a:r>
            <a:r>
              <a:rPr sz="1400" spc="20" dirty="0">
                <a:latin typeface="Arial MT"/>
                <a:cs typeface="Arial MT"/>
              </a:rPr>
              <a:t>new </a:t>
            </a:r>
            <a:r>
              <a:rPr sz="1400" spc="10" dirty="0">
                <a:latin typeface="Arial MT"/>
                <a:cs typeface="Arial MT"/>
              </a:rPr>
              <a:t>datasets </a:t>
            </a:r>
            <a:r>
              <a:rPr sz="1400" spc="15" dirty="0">
                <a:latin typeface="Arial MT"/>
                <a:cs typeface="Arial MT"/>
              </a:rPr>
              <a:t>by </a:t>
            </a:r>
            <a:r>
              <a:rPr sz="1400" spc="20" dirty="0" smtClean="0">
                <a:latin typeface="Arial MT"/>
                <a:cs typeface="Arial MT"/>
              </a:rPr>
              <a:t>random </a:t>
            </a:r>
            <a:r>
              <a:rPr sz="1400" spc="20" dirty="0">
                <a:latin typeface="Arial MT"/>
                <a:cs typeface="Arial MT"/>
              </a:rPr>
              <a:t>sampling </a:t>
            </a:r>
            <a:r>
              <a:rPr sz="1400" spc="10" dirty="0">
                <a:latin typeface="Arial MT"/>
                <a:cs typeface="Arial MT"/>
              </a:rPr>
              <a:t>with </a:t>
            </a:r>
            <a:r>
              <a:rPr sz="1400" spc="15" dirty="0">
                <a:latin typeface="Arial MT"/>
                <a:cs typeface="Arial MT"/>
              </a:rPr>
              <a:t> replacement. This </a:t>
            </a:r>
            <a:r>
              <a:rPr sz="1400" spc="20" dirty="0">
                <a:latin typeface="Arial MT"/>
                <a:cs typeface="Arial MT"/>
              </a:rPr>
              <a:t>means </a:t>
            </a:r>
            <a:r>
              <a:rPr sz="1400" spc="15" dirty="0">
                <a:latin typeface="Arial MT"/>
                <a:cs typeface="Arial MT"/>
              </a:rPr>
              <a:t>each </a:t>
            </a:r>
            <a:r>
              <a:rPr sz="1400" spc="20" dirty="0">
                <a:latin typeface="Arial MT"/>
                <a:cs typeface="Arial MT"/>
              </a:rPr>
              <a:t>new </a:t>
            </a:r>
            <a:r>
              <a:rPr sz="1400" spc="10" dirty="0">
                <a:latin typeface="Arial MT"/>
                <a:cs typeface="Arial MT"/>
              </a:rPr>
              <a:t>dataset </a:t>
            </a:r>
            <a:r>
              <a:rPr sz="1400" spc="15" dirty="0">
                <a:latin typeface="Arial MT"/>
                <a:cs typeface="Arial MT"/>
              </a:rPr>
              <a:t>(a </a:t>
            </a:r>
            <a:r>
              <a:rPr sz="1400" spc="10" dirty="0">
                <a:latin typeface="Arial MT"/>
                <a:cs typeface="Arial MT"/>
              </a:rPr>
              <a:t>bootstrap </a:t>
            </a:r>
            <a:r>
              <a:rPr sz="1400" spc="20" dirty="0">
                <a:latin typeface="Arial MT"/>
                <a:cs typeface="Arial MT"/>
              </a:rPr>
              <a:t>sample) </a:t>
            </a:r>
            <a:r>
              <a:rPr sz="1400" spc="10" dirty="0">
                <a:latin typeface="Arial MT"/>
                <a:cs typeface="Arial MT"/>
              </a:rPr>
              <a:t>will </a:t>
            </a:r>
            <a:r>
              <a:rPr sz="1400" spc="15" dirty="0">
                <a:latin typeface="Arial MT"/>
                <a:cs typeface="Arial MT"/>
              </a:rPr>
              <a:t>have </a:t>
            </a:r>
            <a:r>
              <a:rPr sz="1400" spc="20" dirty="0">
                <a:latin typeface="Arial MT"/>
                <a:cs typeface="Arial MT"/>
              </a:rPr>
              <a:t>same </a:t>
            </a:r>
            <a:r>
              <a:rPr sz="1400" spc="10" dirty="0">
                <a:latin typeface="Arial MT"/>
                <a:cs typeface="Arial MT"/>
              </a:rPr>
              <a:t>instances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15" dirty="0">
                <a:latin typeface="Arial MT"/>
                <a:cs typeface="Arial MT"/>
              </a:rPr>
              <a:t>as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15" dirty="0">
                <a:latin typeface="Arial MT"/>
                <a:cs typeface="Arial MT"/>
              </a:rPr>
              <a:t>the </a:t>
            </a:r>
            <a:r>
              <a:rPr sz="1400" spc="10" dirty="0">
                <a:latin typeface="Arial MT"/>
                <a:cs typeface="Arial MT"/>
              </a:rPr>
              <a:t>original dataset,</a:t>
            </a:r>
            <a:r>
              <a:rPr sz="1400" spc="15" dirty="0">
                <a:latin typeface="Arial MT"/>
                <a:cs typeface="Arial MT"/>
              </a:rPr>
              <a:t> but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20" dirty="0">
                <a:latin typeface="Arial MT"/>
                <a:cs typeface="Arial MT"/>
              </a:rPr>
              <a:t>some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spc="10" dirty="0">
                <a:latin typeface="Arial MT"/>
                <a:cs typeface="Arial MT"/>
              </a:rPr>
              <a:t>instances </a:t>
            </a:r>
            <a:r>
              <a:rPr sz="1400" spc="25" dirty="0">
                <a:latin typeface="Arial MT"/>
                <a:cs typeface="Arial MT"/>
              </a:rPr>
              <a:t>may</a:t>
            </a:r>
            <a:r>
              <a:rPr sz="1400" spc="15" dirty="0">
                <a:latin typeface="Arial MT"/>
                <a:cs typeface="Arial MT"/>
              </a:rPr>
              <a:t> be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15" dirty="0">
                <a:latin typeface="Arial MT"/>
                <a:cs typeface="Arial MT"/>
              </a:rPr>
              <a:t>repeated </a:t>
            </a:r>
            <a:r>
              <a:rPr sz="1400" spc="10" dirty="0">
                <a:latin typeface="Arial MT"/>
                <a:cs typeface="Arial MT"/>
              </a:rPr>
              <a:t>while others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spc="25" dirty="0">
                <a:latin typeface="Arial MT"/>
                <a:cs typeface="Arial MT"/>
              </a:rPr>
              <a:t>may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15" dirty="0">
                <a:latin typeface="Arial MT"/>
                <a:cs typeface="Arial MT"/>
              </a:rPr>
              <a:t>be </a:t>
            </a:r>
            <a:r>
              <a:rPr sz="1400" spc="5" dirty="0">
                <a:latin typeface="Arial MT"/>
                <a:cs typeface="Arial MT"/>
              </a:rPr>
              <a:t>left</a:t>
            </a:r>
            <a:r>
              <a:rPr sz="1400" spc="10" dirty="0">
                <a:latin typeface="Arial MT"/>
                <a:cs typeface="Arial MT"/>
              </a:rPr>
              <a:t> out.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3065020"/>
            <a:ext cx="4544943" cy="17314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119824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Bagging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0844" y="1173585"/>
            <a:ext cx="8150225" cy="263080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383540" indent="-371475">
              <a:lnSpc>
                <a:spcPct val="100000"/>
              </a:lnSpc>
              <a:spcBef>
                <a:spcPts val="440"/>
              </a:spcBef>
              <a:buFont typeface="Arial MT"/>
              <a:buChar char="●"/>
              <a:tabLst>
                <a:tab pos="383540" algn="l"/>
                <a:tab pos="384175" algn="l"/>
              </a:tabLst>
            </a:pPr>
            <a:r>
              <a:rPr sz="1850" b="1" spc="-15" dirty="0">
                <a:latin typeface="Arial"/>
                <a:cs typeface="Arial"/>
              </a:rPr>
              <a:t>Training</a:t>
            </a:r>
            <a:r>
              <a:rPr sz="1850" b="1" spc="-25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Models</a:t>
            </a:r>
            <a:r>
              <a:rPr sz="1850" dirty="0">
                <a:latin typeface="Arial MT"/>
                <a:cs typeface="Arial MT"/>
              </a:rPr>
              <a:t>:</a:t>
            </a:r>
          </a:p>
          <a:p>
            <a:pPr marL="840740" marR="5080" lvl="1" indent="-371475">
              <a:lnSpc>
                <a:spcPct val="115500"/>
              </a:lnSpc>
              <a:buChar char="○"/>
              <a:tabLst>
                <a:tab pos="840740" algn="l"/>
                <a:tab pos="841375" algn="l"/>
              </a:tabLst>
            </a:pPr>
            <a:r>
              <a:rPr sz="1850" spc="-15" dirty="0">
                <a:latin typeface="Arial MT"/>
                <a:cs typeface="Arial MT"/>
              </a:rPr>
              <a:t>Train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separate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model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on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each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of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these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bootstrap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samples.</a:t>
            </a:r>
            <a:r>
              <a:rPr sz="1850" spc="-25" dirty="0">
                <a:latin typeface="Arial MT"/>
                <a:cs typeface="Arial MT"/>
              </a:rPr>
              <a:t> Typically, </a:t>
            </a:r>
            <a:r>
              <a:rPr sz="1850" spc="-50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bagging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is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applied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to </a:t>
            </a:r>
            <a:r>
              <a:rPr sz="1850" spc="-5" dirty="0">
                <a:latin typeface="Arial MT"/>
                <a:cs typeface="Arial MT"/>
              </a:rPr>
              <a:t>high-variance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models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like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decision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trees.</a:t>
            </a:r>
            <a:endParaRPr sz="1850" dirty="0">
              <a:latin typeface="Arial MT"/>
              <a:cs typeface="Arial MT"/>
            </a:endParaRPr>
          </a:p>
          <a:p>
            <a:pPr marL="383540" indent="-371475">
              <a:lnSpc>
                <a:spcPct val="100000"/>
              </a:lnSpc>
              <a:spcBef>
                <a:spcPts val="345"/>
              </a:spcBef>
              <a:buFont typeface="Arial MT"/>
              <a:buChar char="●"/>
              <a:tabLst>
                <a:tab pos="383540" algn="l"/>
                <a:tab pos="384175" algn="l"/>
              </a:tabLst>
            </a:pPr>
            <a:r>
              <a:rPr sz="1850" b="1" spc="-5" dirty="0" smtClean="0">
                <a:latin typeface="Arial"/>
                <a:cs typeface="Arial"/>
              </a:rPr>
              <a:t>Aggregating</a:t>
            </a:r>
            <a:r>
              <a:rPr lang="en-US" sz="1850" b="1" spc="-5" dirty="0" smtClean="0">
                <a:latin typeface="Arial"/>
                <a:cs typeface="Arial"/>
              </a:rPr>
              <a:t>/combining</a:t>
            </a:r>
            <a:r>
              <a:rPr sz="1850" b="1" spc="-20" dirty="0" smtClean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Predictions</a:t>
            </a:r>
            <a:r>
              <a:rPr sz="1850" dirty="0">
                <a:latin typeface="Arial MT"/>
                <a:cs typeface="Arial MT"/>
              </a:rPr>
              <a:t>:</a:t>
            </a:r>
          </a:p>
          <a:p>
            <a:pPr marL="840740" marR="172085" lvl="1" indent="-371475">
              <a:lnSpc>
                <a:spcPct val="115500"/>
              </a:lnSpc>
              <a:buChar char="○"/>
              <a:tabLst>
                <a:tab pos="840740" algn="l"/>
                <a:tab pos="841375" algn="l"/>
              </a:tabLst>
            </a:pPr>
            <a:r>
              <a:rPr sz="1850" dirty="0">
                <a:latin typeface="Arial MT"/>
                <a:cs typeface="Arial MT"/>
              </a:rPr>
              <a:t>For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classification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problems,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aggregate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the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predictions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of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each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model </a:t>
            </a:r>
            <a:r>
              <a:rPr sz="1850" spc="-50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by</a:t>
            </a:r>
            <a:r>
              <a:rPr sz="1850" spc="-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majority voting.</a:t>
            </a:r>
          </a:p>
          <a:p>
            <a:pPr marL="840740" lvl="1" indent="-371475">
              <a:lnSpc>
                <a:spcPct val="100000"/>
              </a:lnSpc>
              <a:spcBef>
                <a:spcPts val="345"/>
              </a:spcBef>
              <a:buChar char="○"/>
              <a:tabLst>
                <a:tab pos="840740" algn="l"/>
                <a:tab pos="841375" algn="l"/>
              </a:tabLst>
            </a:pPr>
            <a:r>
              <a:rPr sz="1850" dirty="0">
                <a:latin typeface="Arial MT"/>
                <a:cs typeface="Arial MT"/>
              </a:rPr>
              <a:t>For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regression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problems,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aggregate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the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predictions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by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averaging.</a:t>
            </a:r>
            <a:endParaRPr sz="1850" dirty="0">
              <a:latin typeface="Arial MT"/>
              <a:cs typeface="Arial MT"/>
            </a:endParaRPr>
          </a:p>
          <a:p>
            <a:pPr marL="383540" indent="-371475">
              <a:lnSpc>
                <a:spcPct val="100000"/>
              </a:lnSpc>
              <a:spcBef>
                <a:spcPts val="345"/>
              </a:spcBef>
              <a:buFont typeface="Arial MT"/>
              <a:buChar char="●"/>
              <a:tabLst>
                <a:tab pos="383540" algn="l"/>
                <a:tab pos="384175" algn="l"/>
              </a:tabLst>
            </a:pPr>
            <a:r>
              <a:rPr sz="1850" b="1" dirty="0">
                <a:latin typeface="Arial"/>
                <a:cs typeface="Arial"/>
              </a:rPr>
              <a:t>Example</a:t>
            </a:r>
            <a:r>
              <a:rPr sz="1850" dirty="0">
                <a:latin typeface="Arial MT"/>
                <a:cs typeface="Arial MT"/>
              </a:rPr>
              <a:t>:</a:t>
            </a:r>
            <a:r>
              <a:rPr sz="1850" spc="-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Random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forest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using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Decision</a:t>
            </a:r>
            <a:r>
              <a:rPr sz="1850" spc="-30" dirty="0">
                <a:latin typeface="Arial MT"/>
                <a:cs typeface="Arial MT"/>
              </a:rPr>
              <a:t> </a:t>
            </a:r>
            <a:r>
              <a:rPr sz="1850" spc="-15" dirty="0">
                <a:latin typeface="Arial MT"/>
                <a:cs typeface="Arial MT"/>
              </a:rPr>
              <a:t>Trees</a:t>
            </a:r>
            <a:endParaRPr sz="18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05248"/>
            <a:ext cx="119824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>
                <a:latin typeface="Arial MT"/>
                <a:cs typeface="Arial MT"/>
              </a:rPr>
              <a:t>Bagging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0844" y="1216060"/>
            <a:ext cx="16827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-730" dirty="0">
                <a:latin typeface="Arial MT"/>
                <a:cs typeface="Arial MT"/>
              </a:rPr>
              <a:t>●</a:t>
            </a:r>
            <a:endParaRPr sz="18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675" y="1009650"/>
            <a:ext cx="8248649" cy="31241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22885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Random</a:t>
            </a:r>
            <a:r>
              <a:rPr spc="-45" dirty="0"/>
              <a:t> </a:t>
            </a:r>
            <a:r>
              <a:rPr dirty="0"/>
              <a:t>Forest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7372"/>
            <a:ext cx="8235950" cy="3187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How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Random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Forest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15" dirty="0">
                <a:latin typeface="Arial"/>
                <a:cs typeface="Arial"/>
              </a:rPr>
              <a:t>Works</a:t>
            </a:r>
            <a:endParaRPr sz="1600" dirty="0">
              <a:latin typeface="Arial"/>
              <a:cs typeface="Arial"/>
            </a:endParaRPr>
          </a:p>
          <a:p>
            <a:pPr marL="469900" marR="137795" indent="-351790">
              <a:lnSpc>
                <a:spcPct val="120000"/>
              </a:lnSpc>
              <a:spcBef>
                <a:spcPts val="1550"/>
              </a:spcBef>
              <a:buSzPct val="114285"/>
              <a:buChar char="●"/>
              <a:tabLst>
                <a:tab pos="469265" algn="l"/>
                <a:tab pos="469900" algn="l"/>
              </a:tabLst>
            </a:pPr>
            <a:r>
              <a:rPr sz="1400" b="1" spc="-5" dirty="0">
                <a:latin typeface="Arial"/>
                <a:cs typeface="Arial"/>
              </a:rPr>
              <a:t>Bootstrapping</a:t>
            </a:r>
            <a:r>
              <a:rPr sz="1400" spc="-5" dirty="0">
                <a:latin typeface="Arial MT"/>
                <a:cs typeface="Arial MT"/>
              </a:rPr>
              <a:t>: Random Forest </a:t>
            </a:r>
            <a:r>
              <a:rPr sz="1400" dirty="0">
                <a:latin typeface="Arial MT"/>
                <a:cs typeface="Arial MT"/>
              </a:rPr>
              <a:t>starts </a:t>
            </a:r>
            <a:r>
              <a:rPr sz="1400" spc="-5" dirty="0">
                <a:latin typeface="Arial MT"/>
                <a:cs typeface="Arial MT"/>
              </a:rPr>
              <a:t>by </a:t>
            </a:r>
            <a:r>
              <a:rPr sz="1400" dirty="0">
                <a:latin typeface="Arial MT"/>
                <a:cs typeface="Arial MT"/>
              </a:rPr>
              <a:t>creating several subsets </a:t>
            </a:r>
            <a:r>
              <a:rPr sz="1400" spc="-5" dirty="0">
                <a:latin typeface="Arial MT"/>
                <a:cs typeface="Arial MT"/>
              </a:rPr>
              <a:t>of the original dataset through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bootstrapping.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Bootstrapping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is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technique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where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random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samples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are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drawn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with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replacement.</a:t>
            </a:r>
          </a:p>
          <a:p>
            <a:pPr marL="469900" marR="5080" indent="-336550">
              <a:lnSpc>
                <a:spcPct val="114999"/>
              </a:lnSpc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400" b="1" spc="-5" dirty="0">
                <a:latin typeface="Arial"/>
                <a:cs typeface="Arial"/>
              </a:rPr>
              <a:t>Feature Selection</a:t>
            </a:r>
            <a:r>
              <a:rPr sz="1400" spc="-5" dirty="0">
                <a:latin typeface="Arial MT"/>
                <a:cs typeface="Arial MT"/>
              </a:rPr>
              <a:t>: At each node in the decision tree, Random Forest </a:t>
            </a:r>
            <a:r>
              <a:rPr sz="1400" dirty="0">
                <a:latin typeface="Arial MT"/>
                <a:cs typeface="Arial MT"/>
              </a:rPr>
              <a:t>selects a </a:t>
            </a:r>
            <a:r>
              <a:rPr sz="1400" b="1" spc="-5" dirty="0">
                <a:latin typeface="Arial"/>
                <a:cs typeface="Arial"/>
              </a:rPr>
              <a:t>random subset </a:t>
            </a:r>
            <a:r>
              <a:rPr sz="1400" spc="-5" dirty="0">
                <a:latin typeface="Arial MT"/>
                <a:cs typeface="Arial MT"/>
              </a:rPr>
              <a:t>of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features.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This helps in </a:t>
            </a:r>
            <a:r>
              <a:rPr sz="1400" dirty="0">
                <a:latin typeface="Arial MT"/>
                <a:cs typeface="Arial MT"/>
              </a:rPr>
              <a:t>making</a:t>
            </a:r>
            <a:r>
              <a:rPr sz="1400" spc="-5" dirty="0">
                <a:latin typeface="Arial MT"/>
                <a:cs typeface="Arial MT"/>
              </a:rPr>
              <a:t> the trees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less </a:t>
            </a:r>
            <a:r>
              <a:rPr sz="1400" dirty="0">
                <a:latin typeface="Arial MT"/>
                <a:cs typeface="Arial MT"/>
              </a:rPr>
              <a:t>correlated.</a:t>
            </a:r>
          </a:p>
          <a:p>
            <a:pPr marL="469900" marR="426084" indent="-336550">
              <a:lnSpc>
                <a:spcPct val="114999"/>
              </a:lnSpc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400" b="1" spc="-5" dirty="0">
                <a:latin typeface="Arial"/>
                <a:cs typeface="Arial"/>
              </a:rPr>
              <a:t>Building </a:t>
            </a:r>
            <a:r>
              <a:rPr sz="1400" b="1" spc="-20" dirty="0">
                <a:latin typeface="Arial"/>
                <a:cs typeface="Arial"/>
              </a:rPr>
              <a:t>Trees</a:t>
            </a:r>
            <a:r>
              <a:rPr sz="1400" spc="-20" dirty="0">
                <a:latin typeface="Arial MT"/>
                <a:cs typeface="Arial MT"/>
              </a:rPr>
              <a:t>: </a:t>
            </a:r>
            <a:r>
              <a:rPr sz="1400" spc="-5" dirty="0">
                <a:latin typeface="Arial MT"/>
                <a:cs typeface="Arial MT"/>
              </a:rPr>
              <a:t>Each bootstrapped </a:t>
            </a:r>
            <a:r>
              <a:rPr sz="1400" dirty="0">
                <a:latin typeface="Arial MT"/>
                <a:cs typeface="Arial MT"/>
              </a:rPr>
              <a:t>subset </a:t>
            </a:r>
            <a:r>
              <a:rPr sz="1400" spc="-5" dirty="0">
                <a:latin typeface="Arial MT"/>
                <a:cs typeface="Arial MT"/>
              </a:rPr>
              <a:t>is used to build </a:t>
            </a:r>
            <a:r>
              <a:rPr sz="1400" dirty="0">
                <a:latin typeface="Arial MT"/>
                <a:cs typeface="Arial MT"/>
              </a:rPr>
              <a:t>a </a:t>
            </a:r>
            <a:r>
              <a:rPr sz="1400" spc="-5" dirty="0">
                <a:latin typeface="Arial MT"/>
                <a:cs typeface="Arial MT"/>
              </a:rPr>
              <a:t>decision tree. Since each tree is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trained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on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slightly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different</a:t>
            </a:r>
            <a:r>
              <a:rPr sz="1400" spc="-5" dirty="0">
                <a:latin typeface="Arial MT"/>
                <a:cs typeface="Arial MT"/>
              </a:rPr>
              <a:t> dataset and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feature </a:t>
            </a:r>
            <a:r>
              <a:rPr sz="1400" dirty="0">
                <a:latin typeface="Arial MT"/>
                <a:cs typeface="Arial MT"/>
              </a:rPr>
              <a:t>set,</a:t>
            </a:r>
            <a:r>
              <a:rPr sz="1400" spc="-5" dirty="0">
                <a:latin typeface="Arial MT"/>
                <a:cs typeface="Arial MT"/>
              </a:rPr>
              <a:t> the trees are diverse.</a:t>
            </a:r>
            <a:endParaRPr sz="1400" dirty="0">
              <a:latin typeface="Arial MT"/>
              <a:cs typeface="Arial MT"/>
            </a:endParaRPr>
          </a:p>
          <a:p>
            <a:pPr marL="469900" indent="-336550">
              <a:lnSpc>
                <a:spcPct val="100000"/>
              </a:lnSpc>
              <a:spcBef>
                <a:spcPts val="250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400" b="1" spc="-5" dirty="0">
                <a:latin typeface="Arial"/>
                <a:cs typeface="Arial"/>
              </a:rPr>
              <a:t>Combining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Predictions</a:t>
            </a:r>
            <a:r>
              <a:rPr sz="1400" spc="-5" dirty="0">
                <a:latin typeface="Arial MT"/>
                <a:cs typeface="Arial MT"/>
              </a:rPr>
              <a:t>:</a:t>
            </a:r>
            <a:endParaRPr sz="1400" dirty="0">
              <a:latin typeface="Arial MT"/>
              <a:cs typeface="Arial MT"/>
            </a:endParaRPr>
          </a:p>
          <a:p>
            <a:pPr marL="927100" marR="176530" lvl="1" indent="-336550">
              <a:lnSpc>
                <a:spcPct val="114999"/>
              </a:lnSpc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latin typeface="Arial MT"/>
                <a:cs typeface="Arial MT"/>
              </a:rPr>
              <a:t>For </a:t>
            </a:r>
            <a:r>
              <a:rPr sz="1400" dirty="0">
                <a:latin typeface="Arial MT"/>
                <a:cs typeface="Arial MT"/>
              </a:rPr>
              <a:t>classification, </a:t>
            </a:r>
            <a:r>
              <a:rPr sz="1400" spc="-5" dirty="0">
                <a:latin typeface="Arial MT"/>
                <a:cs typeface="Arial MT"/>
              </a:rPr>
              <a:t>the final prediction is </a:t>
            </a:r>
            <a:r>
              <a:rPr sz="1400" dirty="0">
                <a:latin typeface="Arial MT"/>
                <a:cs typeface="Arial MT"/>
              </a:rPr>
              <a:t>made </a:t>
            </a:r>
            <a:r>
              <a:rPr sz="1400" spc="-5" dirty="0">
                <a:latin typeface="Arial MT"/>
                <a:cs typeface="Arial MT"/>
              </a:rPr>
              <a:t>by taking </a:t>
            </a:r>
            <a:r>
              <a:rPr sz="1400" dirty="0">
                <a:latin typeface="Arial MT"/>
                <a:cs typeface="Arial MT"/>
              </a:rPr>
              <a:t>a majority </a:t>
            </a:r>
            <a:r>
              <a:rPr sz="1400" dirty="0" smtClean="0">
                <a:latin typeface="Arial MT"/>
                <a:cs typeface="Arial MT"/>
              </a:rPr>
              <a:t>vote</a:t>
            </a:r>
            <a:r>
              <a:rPr lang="en-US" sz="1400" dirty="0" smtClean="0">
                <a:latin typeface="Arial MT"/>
                <a:cs typeface="Arial MT"/>
              </a:rPr>
              <a:t> </a:t>
            </a:r>
            <a:r>
              <a:rPr lang="en-US" sz="1400" smtClean="0">
                <a:latin typeface="Arial MT"/>
                <a:cs typeface="Arial MT"/>
              </a:rPr>
              <a:t>of predictions</a:t>
            </a:r>
            <a:r>
              <a:rPr sz="1400" smtClean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from all the decision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trees.</a:t>
            </a:r>
            <a:endParaRPr sz="1400">
              <a:latin typeface="Arial MT"/>
              <a:cs typeface="Arial MT"/>
            </a:endParaRPr>
          </a:p>
          <a:p>
            <a:pPr marL="927100" marR="254000" lvl="1" indent="-336550">
              <a:lnSpc>
                <a:spcPct val="114999"/>
              </a:lnSpc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latin typeface="Arial MT"/>
                <a:cs typeface="Arial MT"/>
              </a:rPr>
              <a:t>For </a:t>
            </a:r>
            <a:r>
              <a:rPr sz="1400" dirty="0">
                <a:latin typeface="Arial MT"/>
                <a:cs typeface="Arial MT"/>
              </a:rPr>
              <a:t>regression, </a:t>
            </a:r>
            <a:r>
              <a:rPr sz="1400" spc="-5" dirty="0">
                <a:latin typeface="Arial MT"/>
                <a:cs typeface="Arial MT"/>
              </a:rPr>
              <a:t>the final prediction is </a:t>
            </a:r>
            <a:r>
              <a:rPr sz="1400" dirty="0">
                <a:latin typeface="Arial MT"/>
                <a:cs typeface="Arial MT"/>
              </a:rPr>
              <a:t>made </a:t>
            </a:r>
            <a:r>
              <a:rPr sz="1400" spc="-5" dirty="0">
                <a:latin typeface="Arial MT"/>
                <a:cs typeface="Arial MT"/>
              </a:rPr>
              <a:t>by averaging the predictions of all the decision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trees.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372046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Random</a:t>
            </a:r>
            <a:r>
              <a:rPr spc="-25" dirty="0"/>
              <a:t> </a:t>
            </a:r>
            <a:r>
              <a:rPr spc="5" dirty="0"/>
              <a:t>Forest</a:t>
            </a:r>
            <a:r>
              <a:rPr spc="-25" dirty="0"/>
              <a:t> </a:t>
            </a:r>
            <a:r>
              <a:rPr spc="5" dirty="0"/>
              <a:t>-</a:t>
            </a:r>
            <a:r>
              <a:rPr spc="-25" dirty="0"/>
              <a:t> </a:t>
            </a:r>
            <a:r>
              <a:rPr spc="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80796"/>
            <a:ext cx="8223884" cy="3065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3025">
              <a:lnSpc>
                <a:spcPct val="114999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Imagine you have </a:t>
            </a:r>
            <a:r>
              <a:rPr sz="1600" b="1" dirty="0">
                <a:latin typeface="Arial"/>
                <a:cs typeface="Arial"/>
              </a:rPr>
              <a:t>a </a:t>
            </a:r>
            <a:r>
              <a:rPr sz="1600" b="1" spc="-5" dirty="0">
                <a:latin typeface="Arial"/>
                <a:cs typeface="Arial"/>
              </a:rPr>
              <a:t>dataset with 100 samples and </a:t>
            </a:r>
            <a:r>
              <a:rPr sz="1600" b="1" dirty="0">
                <a:latin typeface="Arial"/>
                <a:cs typeface="Arial"/>
              </a:rPr>
              <a:t>5 features (A, </a:t>
            </a:r>
            <a:r>
              <a:rPr sz="1600" b="1" spc="-5" dirty="0">
                <a:latin typeface="Arial"/>
                <a:cs typeface="Arial"/>
              </a:rPr>
              <a:t>B, C, D, E). Let's see </a:t>
            </a:r>
            <a:r>
              <a:rPr sz="1600" b="1" spc="-43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how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 Random Forest would be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created: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marL="469900" indent="-374650">
              <a:lnSpc>
                <a:spcPct val="100000"/>
              </a:lnSpc>
              <a:buSzPct val="135714"/>
              <a:buChar char="●"/>
              <a:tabLst>
                <a:tab pos="469265" algn="l"/>
                <a:tab pos="469900" algn="l"/>
              </a:tabLst>
            </a:pPr>
            <a:r>
              <a:rPr sz="1400" b="1" spc="-5" dirty="0">
                <a:latin typeface="Arial"/>
                <a:cs typeface="Arial"/>
              </a:rPr>
              <a:t>Create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Bootstrapped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Datasets</a:t>
            </a:r>
            <a:endParaRPr sz="1400">
              <a:latin typeface="Arial"/>
              <a:cs typeface="Arial"/>
            </a:endParaRPr>
          </a:p>
          <a:p>
            <a:pPr marL="927100" marR="275590" lvl="1" indent="-336550">
              <a:lnSpc>
                <a:spcPct val="114999"/>
              </a:lnSpc>
              <a:spcBef>
                <a:spcPts val="21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latin typeface="Arial MT"/>
                <a:cs typeface="Arial MT"/>
              </a:rPr>
              <a:t>Generate, </a:t>
            </a:r>
            <a:r>
              <a:rPr sz="1400" spc="-30" dirty="0">
                <a:latin typeface="Arial MT"/>
                <a:cs typeface="Arial MT"/>
              </a:rPr>
              <a:t>say, </a:t>
            </a:r>
            <a:r>
              <a:rPr sz="1400" spc="-5" dirty="0">
                <a:latin typeface="Arial MT"/>
                <a:cs typeface="Arial MT"/>
              </a:rPr>
              <a:t>10 bootstrapped datasets from the original 100 </a:t>
            </a:r>
            <a:r>
              <a:rPr sz="1400" dirty="0">
                <a:latin typeface="Arial MT"/>
                <a:cs typeface="Arial MT"/>
              </a:rPr>
              <a:t>samples. </a:t>
            </a:r>
            <a:r>
              <a:rPr sz="1400" spc="-5" dirty="0">
                <a:latin typeface="Arial MT"/>
                <a:cs typeface="Arial MT"/>
              </a:rPr>
              <a:t>Each dataset will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have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100 </a:t>
            </a:r>
            <a:r>
              <a:rPr sz="1400" dirty="0">
                <a:latin typeface="Arial MT"/>
                <a:cs typeface="Arial MT"/>
              </a:rPr>
              <a:t>samples</a:t>
            </a:r>
            <a:r>
              <a:rPr sz="1400" spc="-5" dirty="0">
                <a:latin typeface="Arial MT"/>
                <a:cs typeface="Arial MT"/>
              </a:rPr>
              <a:t> drawn with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replacement.</a:t>
            </a:r>
            <a:endParaRPr sz="1400">
              <a:latin typeface="Arial MT"/>
              <a:cs typeface="Arial MT"/>
            </a:endParaRPr>
          </a:p>
          <a:p>
            <a:pPr marL="469900" indent="-33655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400" b="1" spc="-5" dirty="0">
                <a:latin typeface="Arial"/>
                <a:cs typeface="Arial"/>
              </a:rPr>
              <a:t>Build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Decision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Trees</a:t>
            </a:r>
            <a:r>
              <a:rPr sz="1400" spc="-20" dirty="0">
                <a:latin typeface="Arial MT"/>
                <a:cs typeface="Arial MT"/>
              </a:rPr>
              <a:t>:</a:t>
            </a:r>
            <a:endParaRPr sz="1400">
              <a:latin typeface="Arial MT"/>
              <a:cs typeface="Arial MT"/>
            </a:endParaRPr>
          </a:p>
          <a:p>
            <a:pPr marL="927100" marR="5080" lvl="1" indent="-336550">
              <a:lnSpc>
                <a:spcPct val="114999"/>
              </a:lnSpc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latin typeface="Arial MT"/>
                <a:cs typeface="Arial MT"/>
              </a:rPr>
              <a:t>For each bootstrapped dataset, build </a:t>
            </a:r>
            <a:r>
              <a:rPr sz="1400" dirty="0">
                <a:latin typeface="Arial MT"/>
                <a:cs typeface="Arial MT"/>
              </a:rPr>
              <a:t>a </a:t>
            </a:r>
            <a:r>
              <a:rPr sz="1400" spc="-5" dirty="0">
                <a:latin typeface="Arial MT"/>
                <a:cs typeface="Arial MT"/>
              </a:rPr>
              <a:t>decision tree. At each </a:t>
            </a:r>
            <a:r>
              <a:rPr sz="1400" dirty="0">
                <a:latin typeface="Arial MT"/>
                <a:cs typeface="Arial MT"/>
              </a:rPr>
              <a:t>split </a:t>
            </a:r>
            <a:r>
              <a:rPr sz="1400" spc="-5" dirty="0">
                <a:latin typeface="Arial MT"/>
                <a:cs typeface="Arial MT"/>
              </a:rPr>
              <a:t>in the tree, only </a:t>
            </a:r>
            <a:r>
              <a:rPr sz="1400" dirty="0">
                <a:latin typeface="Arial MT"/>
                <a:cs typeface="Arial MT"/>
              </a:rPr>
              <a:t>consider a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random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subset</a:t>
            </a:r>
            <a:r>
              <a:rPr sz="1400" spc="-5" dirty="0">
                <a:latin typeface="Arial MT"/>
                <a:cs typeface="Arial MT"/>
              </a:rPr>
              <a:t> of, </a:t>
            </a:r>
            <a:r>
              <a:rPr sz="1400" spc="-30" dirty="0">
                <a:latin typeface="Arial MT"/>
                <a:cs typeface="Arial MT"/>
              </a:rPr>
              <a:t>say,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3</a:t>
            </a:r>
            <a:r>
              <a:rPr sz="1400" spc="-5" dirty="0">
                <a:latin typeface="Arial MT"/>
                <a:cs typeface="Arial MT"/>
              </a:rPr>
              <a:t> out of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the </a:t>
            </a:r>
            <a:r>
              <a:rPr sz="1400" dirty="0">
                <a:latin typeface="Arial MT"/>
                <a:cs typeface="Arial MT"/>
              </a:rPr>
              <a:t>5</a:t>
            </a:r>
            <a:r>
              <a:rPr sz="1400" spc="-5" dirty="0">
                <a:latin typeface="Arial MT"/>
                <a:cs typeface="Arial MT"/>
              </a:rPr>
              <a:t> features.</a:t>
            </a:r>
            <a:endParaRPr sz="1400">
              <a:latin typeface="Arial MT"/>
              <a:cs typeface="Arial MT"/>
            </a:endParaRPr>
          </a:p>
          <a:p>
            <a:pPr marL="469900" indent="-336550">
              <a:lnSpc>
                <a:spcPct val="100000"/>
              </a:lnSpc>
              <a:spcBef>
                <a:spcPts val="250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400" b="1" spc="-5" dirty="0">
                <a:latin typeface="Arial"/>
                <a:cs typeface="Arial"/>
              </a:rPr>
              <a:t>Combine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Predictions</a:t>
            </a:r>
            <a:r>
              <a:rPr sz="1400" spc="-5" dirty="0">
                <a:latin typeface="Arial MT"/>
                <a:cs typeface="Arial MT"/>
              </a:rPr>
              <a:t>:</a:t>
            </a:r>
            <a:endParaRPr sz="1400">
              <a:latin typeface="Arial MT"/>
              <a:cs typeface="Arial MT"/>
            </a:endParaRPr>
          </a:p>
          <a:p>
            <a:pPr marL="927100" marR="46355" lvl="1" indent="-336550">
              <a:lnSpc>
                <a:spcPct val="114999"/>
              </a:lnSpc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latin typeface="Arial MT"/>
                <a:cs typeface="Arial MT"/>
              </a:rPr>
              <a:t>If predicting whether to play tennis, each tree gives </a:t>
            </a:r>
            <a:r>
              <a:rPr sz="1400" dirty="0">
                <a:latin typeface="Arial MT"/>
                <a:cs typeface="Arial MT"/>
              </a:rPr>
              <a:t>a vote </a:t>
            </a:r>
            <a:r>
              <a:rPr sz="1400" spc="-35" dirty="0">
                <a:latin typeface="Arial MT"/>
                <a:cs typeface="Arial MT"/>
              </a:rPr>
              <a:t>(Yes </a:t>
            </a:r>
            <a:r>
              <a:rPr sz="1400" spc="-5" dirty="0">
                <a:latin typeface="Arial MT"/>
                <a:cs typeface="Arial MT"/>
              </a:rPr>
              <a:t>or No). The final prediction is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the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majority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vote</a:t>
            </a:r>
            <a:r>
              <a:rPr sz="1400" spc="-5" dirty="0">
                <a:latin typeface="Arial MT"/>
                <a:cs typeface="Arial MT"/>
              </a:rPr>
              <a:t> among the 10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trees.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126873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Boosting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pc="-5" dirty="0"/>
              <a:t>Boosting is another powerful ensemble technique that aims to improve the accuracy of </a:t>
            </a:r>
            <a:r>
              <a:rPr dirty="0"/>
              <a:t> machine </a:t>
            </a:r>
            <a:r>
              <a:rPr spc="-5" dirty="0"/>
              <a:t>learning </a:t>
            </a:r>
            <a:r>
              <a:rPr dirty="0"/>
              <a:t>models </a:t>
            </a:r>
            <a:r>
              <a:rPr spc="-5" dirty="0"/>
              <a:t>by </a:t>
            </a:r>
            <a:r>
              <a:rPr dirty="0"/>
              <a:t>combining </a:t>
            </a:r>
            <a:r>
              <a:rPr spc="-5" dirty="0"/>
              <a:t>the predictions of </a:t>
            </a:r>
            <a:r>
              <a:rPr dirty="0"/>
              <a:t>several </a:t>
            </a:r>
            <a:r>
              <a:rPr spc="-5" dirty="0"/>
              <a:t>weak learners to </a:t>
            </a:r>
            <a:r>
              <a:rPr dirty="0"/>
              <a:t>create a </a:t>
            </a:r>
            <a:r>
              <a:rPr spc="-430" dirty="0"/>
              <a:t> </a:t>
            </a:r>
            <a:r>
              <a:rPr dirty="0"/>
              <a:t>strong </a:t>
            </a:r>
            <a:r>
              <a:rPr spc="-15" dirty="0"/>
              <a:t>learner. </a:t>
            </a:r>
            <a:r>
              <a:rPr spc="-5" dirty="0"/>
              <a:t>Unlike bagging, which builds </a:t>
            </a:r>
            <a:r>
              <a:rPr dirty="0"/>
              <a:t>models </a:t>
            </a:r>
            <a:r>
              <a:rPr spc="-15" dirty="0"/>
              <a:t>independently, </a:t>
            </a:r>
            <a:r>
              <a:rPr spc="-5" dirty="0"/>
              <a:t>boosting builds </a:t>
            </a:r>
            <a:r>
              <a:rPr dirty="0"/>
              <a:t>models </a:t>
            </a:r>
            <a:r>
              <a:rPr spc="5" dirty="0"/>
              <a:t> </a:t>
            </a:r>
            <a:r>
              <a:rPr spc="-10" dirty="0"/>
              <a:t>sequentially, </a:t>
            </a:r>
            <a:r>
              <a:rPr spc="-5" dirty="0"/>
              <a:t>with each </a:t>
            </a:r>
            <a:r>
              <a:rPr dirty="0"/>
              <a:t>model</a:t>
            </a:r>
            <a:r>
              <a:rPr spc="-5" dirty="0"/>
              <a:t> </a:t>
            </a:r>
            <a:r>
              <a:rPr dirty="0"/>
              <a:t>correcting</a:t>
            </a:r>
            <a:r>
              <a:rPr spc="-5" dirty="0"/>
              <a:t> the errors of its </a:t>
            </a:r>
            <a:r>
              <a:rPr spc="-15" dirty="0"/>
              <a:t>predecessor.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126873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Boosting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4357"/>
            <a:ext cx="8145780" cy="31095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200" b="1" spc="-5" dirty="0">
                <a:latin typeface="Arial"/>
                <a:cs typeface="Arial"/>
              </a:rPr>
              <a:t>How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Boosting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Works</a:t>
            </a:r>
            <a:endParaRPr sz="1200">
              <a:latin typeface="Arial"/>
              <a:cs typeface="Arial"/>
            </a:endParaRPr>
          </a:p>
          <a:p>
            <a:pPr marL="469900" indent="-328295">
              <a:lnSpc>
                <a:spcPts val="1520"/>
              </a:lnSpc>
              <a:spcBef>
                <a:spcPts val="315"/>
              </a:spcBef>
              <a:buClr>
                <a:srgbClr val="595959"/>
              </a:buClr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300" b="1" spc="-10" dirty="0">
                <a:latin typeface="Arial"/>
                <a:cs typeface="Arial"/>
              </a:rPr>
              <a:t>Initialize</a:t>
            </a:r>
            <a:r>
              <a:rPr sz="1300" b="1" spc="-2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Weights</a:t>
            </a:r>
            <a:r>
              <a:rPr sz="1300" spc="-10" dirty="0">
                <a:latin typeface="Arial MT"/>
                <a:cs typeface="Arial MT"/>
              </a:rPr>
              <a:t>:</a:t>
            </a:r>
            <a:endParaRPr sz="1300">
              <a:latin typeface="Arial MT"/>
              <a:cs typeface="Arial MT"/>
            </a:endParaRPr>
          </a:p>
          <a:p>
            <a:pPr marL="927100" lvl="1" indent="-328295">
              <a:lnSpc>
                <a:spcPts val="1475"/>
              </a:lnSpc>
              <a:buChar char="○"/>
              <a:tabLst>
                <a:tab pos="926465" algn="l"/>
                <a:tab pos="927100" algn="l"/>
              </a:tabLst>
            </a:pPr>
            <a:r>
              <a:rPr sz="1300" spc="-10" dirty="0">
                <a:latin typeface="Arial MT"/>
                <a:cs typeface="Arial MT"/>
              </a:rPr>
              <a:t>Start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by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assigning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equal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weights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to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all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instances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in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the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training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dataset.</a:t>
            </a:r>
            <a:endParaRPr sz="1300">
              <a:latin typeface="Arial MT"/>
              <a:cs typeface="Arial MT"/>
            </a:endParaRPr>
          </a:p>
          <a:p>
            <a:pPr marL="469900" indent="-328295">
              <a:lnSpc>
                <a:spcPts val="1475"/>
              </a:lnSpc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300" b="1" spc="-25" dirty="0">
                <a:latin typeface="Arial"/>
                <a:cs typeface="Arial"/>
              </a:rPr>
              <a:t>Train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spc="-15" dirty="0">
                <a:latin typeface="Arial"/>
                <a:cs typeface="Arial"/>
              </a:rPr>
              <a:t>Weak</a:t>
            </a:r>
            <a:r>
              <a:rPr sz="1300" b="1" spc="-25" dirty="0">
                <a:latin typeface="Arial"/>
                <a:cs typeface="Arial"/>
              </a:rPr>
              <a:t> </a:t>
            </a:r>
            <a:r>
              <a:rPr sz="1300" b="1" spc="-5" dirty="0">
                <a:latin typeface="Arial"/>
                <a:cs typeface="Arial"/>
              </a:rPr>
              <a:t>Learner</a:t>
            </a:r>
            <a:r>
              <a:rPr sz="1300" spc="-5" dirty="0">
                <a:latin typeface="Arial MT"/>
                <a:cs typeface="Arial MT"/>
              </a:rPr>
              <a:t>:</a:t>
            </a:r>
            <a:endParaRPr sz="1300">
              <a:latin typeface="Arial MT"/>
              <a:cs typeface="Arial MT"/>
            </a:endParaRPr>
          </a:p>
          <a:p>
            <a:pPr marL="927100" lvl="1" indent="-328295">
              <a:lnSpc>
                <a:spcPts val="1475"/>
              </a:lnSpc>
              <a:buChar char="○"/>
              <a:tabLst>
                <a:tab pos="926465" algn="l"/>
                <a:tab pos="927100" algn="l"/>
              </a:tabLst>
            </a:pPr>
            <a:r>
              <a:rPr sz="1300" spc="-15" dirty="0">
                <a:latin typeface="Arial MT"/>
                <a:cs typeface="Arial MT"/>
              </a:rPr>
              <a:t>Train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weak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learner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(e.g.,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decision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tree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with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limited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depth)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on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the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weighted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dataset.</a:t>
            </a:r>
            <a:endParaRPr sz="1300">
              <a:latin typeface="Arial MT"/>
              <a:cs typeface="Arial MT"/>
            </a:endParaRPr>
          </a:p>
          <a:p>
            <a:pPr marL="469900" indent="-328295">
              <a:lnSpc>
                <a:spcPts val="1475"/>
              </a:lnSpc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300" b="1" spc="-10" dirty="0">
                <a:latin typeface="Arial"/>
                <a:cs typeface="Arial"/>
              </a:rPr>
              <a:t>Calculate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spc="-5" dirty="0">
                <a:latin typeface="Arial"/>
                <a:cs typeface="Arial"/>
              </a:rPr>
              <a:t>Error</a:t>
            </a:r>
            <a:r>
              <a:rPr sz="1300" spc="-5" dirty="0">
                <a:latin typeface="Arial MT"/>
                <a:cs typeface="Arial MT"/>
              </a:rPr>
              <a:t>:</a:t>
            </a:r>
            <a:endParaRPr sz="1300">
              <a:latin typeface="Arial MT"/>
              <a:cs typeface="Arial MT"/>
            </a:endParaRPr>
          </a:p>
          <a:p>
            <a:pPr marL="927100" marR="184150" lvl="1" indent="-328295">
              <a:lnSpc>
                <a:spcPts val="1480"/>
              </a:lnSpc>
              <a:spcBef>
                <a:spcPts val="70"/>
              </a:spcBef>
              <a:buChar char="○"/>
              <a:tabLst>
                <a:tab pos="926465" algn="l"/>
                <a:tab pos="927100" algn="l"/>
              </a:tabLst>
            </a:pPr>
            <a:r>
              <a:rPr sz="1300" spc="-10" dirty="0">
                <a:latin typeface="Arial MT"/>
                <a:cs typeface="Arial MT"/>
              </a:rPr>
              <a:t>Evaluate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the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performance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of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the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weak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learner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on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the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training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dataset.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Calculate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the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error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and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the </a:t>
            </a:r>
            <a:r>
              <a:rPr sz="1300" spc="-34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performance</a:t>
            </a:r>
            <a:r>
              <a:rPr sz="1300" spc="-5" dirty="0">
                <a:latin typeface="Arial MT"/>
                <a:cs typeface="Arial MT"/>
              </a:rPr>
              <a:t> metric of </a:t>
            </a:r>
            <a:r>
              <a:rPr sz="1300" spc="-10" dirty="0">
                <a:latin typeface="Arial MT"/>
                <a:cs typeface="Arial MT"/>
              </a:rPr>
              <a:t>the</a:t>
            </a:r>
            <a:r>
              <a:rPr sz="1300" spc="-5" dirty="0">
                <a:latin typeface="Arial MT"/>
                <a:cs typeface="Arial MT"/>
              </a:rPr>
              <a:t> </a:t>
            </a:r>
            <a:r>
              <a:rPr sz="1300" spc="-20" dirty="0">
                <a:latin typeface="Arial MT"/>
                <a:cs typeface="Arial MT"/>
              </a:rPr>
              <a:t>learner.</a:t>
            </a:r>
            <a:endParaRPr sz="1300">
              <a:latin typeface="Arial MT"/>
              <a:cs typeface="Arial MT"/>
            </a:endParaRPr>
          </a:p>
          <a:p>
            <a:pPr marL="469900" indent="-328295">
              <a:lnSpc>
                <a:spcPts val="1395"/>
              </a:lnSpc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300" b="1" spc="-10" dirty="0">
                <a:latin typeface="Arial"/>
                <a:cs typeface="Arial"/>
              </a:rPr>
              <a:t>Update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Weights</a:t>
            </a:r>
            <a:r>
              <a:rPr sz="1300" spc="-10" dirty="0">
                <a:latin typeface="Arial MT"/>
                <a:cs typeface="Arial MT"/>
              </a:rPr>
              <a:t>:</a:t>
            </a:r>
            <a:endParaRPr sz="1300">
              <a:latin typeface="Arial MT"/>
              <a:cs typeface="Arial MT"/>
            </a:endParaRPr>
          </a:p>
          <a:p>
            <a:pPr marL="927100" marR="101600" lvl="1" indent="-328295">
              <a:lnSpc>
                <a:spcPts val="1480"/>
              </a:lnSpc>
              <a:spcBef>
                <a:spcPts val="75"/>
              </a:spcBef>
              <a:buChar char="○"/>
              <a:tabLst>
                <a:tab pos="926465" algn="l"/>
                <a:tab pos="927100" algn="l"/>
              </a:tabLst>
            </a:pPr>
            <a:r>
              <a:rPr sz="1300" spc="-10" dirty="0">
                <a:latin typeface="Arial MT"/>
                <a:cs typeface="Arial MT"/>
              </a:rPr>
              <a:t>Increase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the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weights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of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the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misclassified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instances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so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that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the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next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learner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focuses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more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on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these </a:t>
            </a:r>
            <a:r>
              <a:rPr sz="1300" spc="-34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hard-to-classify </a:t>
            </a:r>
            <a:r>
              <a:rPr sz="1300" spc="-5" dirty="0">
                <a:latin typeface="Arial MT"/>
                <a:cs typeface="Arial MT"/>
              </a:rPr>
              <a:t>cases.</a:t>
            </a:r>
            <a:endParaRPr sz="1300">
              <a:latin typeface="Arial MT"/>
              <a:cs typeface="Arial MT"/>
            </a:endParaRPr>
          </a:p>
          <a:p>
            <a:pPr marL="469900" indent="-328295">
              <a:lnSpc>
                <a:spcPts val="1395"/>
              </a:lnSpc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300" b="1" spc="-25" dirty="0">
                <a:latin typeface="Arial"/>
                <a:cs typeface="Arial"/>
              </a:rPr>
              <a:t>Train</a:t>
            </a:r>
            <a:r>
              <a:rPr sz="1300" b="1" spc="-2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Next</a:t>
            </a:r>
            <a:r>
              <a:rPr sz="1300" b="1" spc="-15" dirty="0">
                <a:latin typeface="Arial"/>
                <a:cs typeface="Arial"/>
              </a:rPr>
              <a:t> Weak </a:t>
            </a:r>
            <a:r>
              <a:rPr sz="1300" b="1" spc="-5" dirty="0">
                <a:latin typeface="Arial"/>
                <a:cs typeface="Arial"/>
              </a:rPr>
              <a:t>Learner</a:t>
            </a:r>
            <a:r>
              <a:rPr sz="1300" spc="-5" dirty="0">
                <a:latin typeface="Arial MT"/>
                <a:cs typeface="Arial MT"/>
              </a:rPr>
              <a:t>:</a:t>
            </a:r>
            <a:endParaRPr sz="1300">
              <a:latin typeface="Arial MT"/>
              <a:cs typeface="Arial MT"/>
            </a:endParaRPr>
          </a:p>
          <a:p>
            <a:pPr marL="927100" lvl="1" indent="-328295">
              <a:lnSpc>
                <a:spcPts val="1475"/>
              </a:lnSpc>
              <a:buChar char="○"/>
              <a:tabLst>
                <a:tab pos="926465" algn="l"/>
                <a:tab pos="927100" algn="l"/>
              </a:tabLst>
            </a:pPr>
            <a:r>
              <a:rPr sz="1300" spc="-15" dirty="0">
                <a:latin typeface="Arial MT"/>
                <a:cs typeface="Arial MT"/>
              </a:rPr>
              <a:t>Train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the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next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weak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learner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on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the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updated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weights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dataset.</a:t>
            </a:r>
            <a:endParaRPr sz="1300">
              <a:latin typeface="Arial MT"/>
              <a:cs typeface="Arial MT"/>
            </a:endParaRPr>
          </a:p>
          <a:p>
            <a:pPr marL="469900" indent="-328295">
              <a:lnSpc>
                <a:spcPts val="1475"/>
              </a:lnSpc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300" b="1" spc="-10" dirty="0">
                <a:latin typeface="Arial"/>
                <a:cs typeface="Arial"/>
              </a:rPr>
              <a:t>Combine</a:t>
            </a:r>
            <a:r>
              <a:rPr sz="1300" b="1" spc="-15" dirty="0">
                <a:latin typeface="Arial"/>
                <a:cs typeface="Arial"/>
              </a:rPr>
              <a:t> Weak </a:t>
            </a:r>
            <a:r>
              <a:rPr sz="1300" b="1" spc="-10" dirty="0">
                <a:latin typeface="Arial"/>
                <a:cs typeface="Arial"/>
              </a:rPr>
              <a:t>Learners</a:t>
            </a:r>
            <a:r>
              <a:rPr sz="1300" spc="-10" dirty="0">
                <a:latin typeface="Arial MT"/>
                <a:cs typeface="Arial MT"/>
              </a:rPr>
              <a:t>:</a:t>
            </a:r>
            <a:endParaRPr sz="1300">
              <a:latin typeface="Arial MT"/>
              <a:cs typeface="Arial MT"/>
            </a:endParaRPr>
          </a:p>
          <a:p>
            <a:pPr marL="927100" marR="5080" lvl="1" indent="-328295">
              <a:lnSpc>
                <a:spcPts val="1480"/>
              </a:lnSpc>
              <a:spcBef>
                <a:spcPts val="75"/>
              </a:spcBef>
              <a:buChar char="○"/>
              <a:tabLst>
                <a:tab pos="926465" algn="l"/>
                <a:tab pos="927100" algn="l"/>
              </a:tabLst>
            </a:pPr>
            <a:r>
              <a:rPr sz="1300" spc="-10" dirty="0">
                <a:latin typeface="Arial MT"/>
                <a:cs typeface="Arial MT"/>
              </a:rPr>
              <a:t>Combine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the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weak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learners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using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a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weighted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sum,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where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the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weight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of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each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learner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is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based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on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its </a:t>
            </a:r>
            <a:r>
              <a:rPr sz="1300" spc="-34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performance.</a:t>
            </a:r>
            <a:r>
              <a:rPr sz="1300" spc="-3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The</a:t>
            </a:r>
            <a:r>
              <a:rPr sz="1300" spc="-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final</a:t>
            </a:r>
            <a:r>
              <a:rPr sz="1300" spc="-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prediction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is made </a:t>
            </a:r>
            <a:r>
              <a:rPr sz="1300" spc="-10" dirty="0">
                <a:latin typeface="Arial MT"/>
                <a:cs typeface="Arial MT"/>
              </a:rPr>
              <a:t>based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on</a:t>
            </a:r>
            <a:r>
              <a:rPr sz="1300" spc="-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this</a:t>
            </a:r>
            <a:r>
              <a:rPr sz="1300" spc="-5" dirty="0">
                <a:latin typeface="Arial MT"/>
                <a:cs typeface="Arial MT"/>
              </a:rPr>
              <a:t> combined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model.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137541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Adaboost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419" y="1292120"/>
            <a:ext cx="7840570" cy="32717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137541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Adaboost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725" y="1255758"/>
            <a:ext cx="8244119" cy="30929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137541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Adaboost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700" y="1152475"/>
            <a:ext cx="7016581" cy="32378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05248"/>
            <a:ext cx="137541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>
                <a:latin typeface="Arial MT"/>
                <a:cs typeface="Arial MT"/>
              </a:rPr>
              <a:t>Adaboost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2019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Normalising</a:t>
            </a:r>
            <a:r>
              <a:rPr sz="1800" spc="-7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weight: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048" y="1695724"/>
            <a:ext cx="8130132" cy="25778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4487" y="152400"/>
            <a:ext cx="5115805" cy="47747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1216355"/>
            <a:ext cx="317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TY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688</Words>
  <Application>Microsoft Office PowerPoint</Application>
  <PresentationFormat>On-screen Show (16:9)</PresentationFormat>
  <Paragraphs>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MT</vt:lpstr>
      <vt:lpstr>Calibri</vt:lpstr>
      <vt:lpstr>Office Theme</vt:lpstr>
      <vt:lpstr>Ensemble Learning</vt:lpstr>
      <vt:lpstr>Ensemble Classifier</vt:lpstr>
      <vt:lpstr>Bagging</vt:lpstr>
      <vt:lpstr>Bagging</vt:lpstr>
      <vt:lpstr>PowerPoint Presentation</vt:lpstr>
      <vt:lpstr>Random Forest</vt:lpstr>
      <vt:lpstr>Random Forest - example</vt:lpstr>
      <vt:lpstr>Boosting</vt:lpstr>
      <vt:lpstr>Boosting</vt:lpstr>
      <vt:lpstr>Adaboost</vt:lpstr>
      <vt:lpstr>Adaboost</vt:lpstr>
      <vt:lpstr>Adaboost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8. Ensemble Learning</dc:title>
  <cp:lastModifiedBy>Microsoft account</cp:lastModifiedBy>
  <cp:revision>3</cp:revision>
  <dcterms:created xsi:type="dcterms:W3CDTF">2024-12-12T07:43:04Z</dcterms:created>
  <dcterms:modified xsi:type="dcterms:W3CDTF">2024-12-13T19:06:57Z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