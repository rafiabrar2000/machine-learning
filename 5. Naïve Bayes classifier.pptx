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700"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6345147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8546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19ca9c1f10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19ca9c1f10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5688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19eb466f0a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19eb466f0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1669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19eb466f0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19eb466f0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3749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19ca9c1f10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19ca9c1f10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4657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19ca9c1f10_1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19ca9c1f10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3239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19ca9c1f10_1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19ca9c1f10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98537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19ca9c1f10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19ca9c1f10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3325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19ca9c1f10_1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19ca9c1f10_1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61787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19ca9c1f10_1_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19ca9c1f10_1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7714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1b0988ba4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1b0988ba4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70654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1b0988ba4b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1b0988ba4b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6135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19ca9c1f10_1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19ca9c1f10_1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67071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19ca9c1f10_1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19ca9c1f10_1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37424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1b0ea23db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1b0ea23db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78489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19ca9c1f10_1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19ca9c1f10_1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2568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311700" y="744575"/>
            <a:ext cx="8520600" cy="1044000"/>
          </a:xfrm>
          <a:prstGeom prst="rect">
            <a:avLst/>
          </a:prstGeom>
          <a:noFill/>
          <a:ln>
            <a:noFill/>
          </a:ln>
        </p:spPr>
        <p:txBody>
          <a:bodyPr spcFirstLastPara="1" wrap="square" lIns="91425" tIns="91425" rIns="91425" bIns="91425" anchor="b" anchorCtr="0">
            <a:normAutofit/>
          </a:bodyPr>
          <a:lstStyle/>
          <a:p>
            <a:pPr marL="0" lvl="0" indent="0" algn="ctr" rtl="0">
              <a:spcBef>
                <a:spcPts val="0"/>
              </a:spcBef>
              <a:spcAft>
                <a:spcPts val="0"/>
              </a:spcAft>
              <a:buNone/>
            </a:pPr>
            <a:r>
              <a:rPr lang="en" sz="5200"/>
              <a:t>Naïve Bayes classifier</a:t>
            </a:r>
            <a:endParaRPr sz="5200">
              <a:solidFill>
                <a:srgbClr val="000000"/>
              </a:solidFill>
            </a:endParaRPr>
          </a:p>
        </p:txBody>
      </p:sp>
      <p:sp>
        <p:nvSpPr>
          <p:cNvPr id="55" name="Google Shape;55;p13"/>
          <p:cNvSpPr txBox="1"/>
          <p:nvPr/>
        </p:nvSpPr>
        <p:spPr>
          <a:xfrm>
            <a:off x="311700" y="2834125"/>
            <a:ext cx="8520600" cy="1409700"/>
          </a:xfrm>
          <a:prstGeom prst="rect">
            <a:avLst/>
          </a:prstGeom>
          <a:noFill/>
          <a:ln>
            <a:noFill/>
          </a:ln>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en" sz="2800">
                <a:solidFill>
                  <a:srgbClr val="595959"/>
                </a:solidFill>
              </a:rPr>
              <a:t>Sadia Islam</a:t>
            </a:r>
            <a:endParaRPr sz="2800">
              <a:solidFill>
                <a:srgbClr val="595959"/>
              </a:solidFill>
            </a:endParaRPr>
          </a:p>
          <a:p>
            <a:pPr marL="0" lvl="0" indent="0" algn="ctr" rtl="0">
              <a:spcBef>
                <a:spcPts val="0"/>
              </a:spcBef>
              <a:spcAft>
                <a:spcPts val="0"/>
              </a:spcAft>
              <a:buNone/>
            </a:pPr>
            <a:r>
              <a:rPr lang="en" sz="2800">
                <a:solidFill>
                  <a:srgbClr val="595959"/>
                </a:solidFill>
              </a:rPr>
              <a:t>Assistant Professor</a:t>
            </a:r>
            <a:endParaRPr sz="2800">
              <a:solidFill>
                <a:srgbClr val="595959"/>
              </a:solidFill>
            </a:endParaRPr>
          </a:p>
          <a:p>
            <a:pPr marL="0" lvl="0" indent="0" algn="ctr" rtl="0">
              <a:spcBef>
                <a:spcPts val="0"/>
              </a:spcBef>
              <a:spcAft>
                <a:spcPts val="0"/>
              </a:spcAft>
              <a:buNone/>
            </a:pPr>
            <a:r>
              <a:rPr lang="en" sz="2800">
                <a:solidFill>
                  <a:srgbClr val="595959"/>
                </a:solidFill>
              </a:rPr>
              <a:t>Department of Computer Science and engineering</a:t>
            </a:r>
            <a:endParaRPr sz="2800">
              <a:solidFill>
                <a:srgbClr val="595959"/>
              </a:solidFill>
            </a:endParaRPr>
          </a:p>
          <a:p>
            <a:pPr marL="0" lvl="0" indent="0" algn="ctr" rtl="0">
              <a:spcBef>
                <a:spcPts val="0"/>
              </a:spcBef>
              <a:spcAft>
                <a:spcPts val="0"/>
              </a:spcAft>
              <a:buNone/>
            </a:pPr>
            <a:r>
              <a:rPr lang="en" sz="2800">
                <a:solidFill>
                  <a:srgbClr val="595959"/>
                </a:solidFill>
              </a:rPr>
              <a:t>United International University</a:t>
            </a:r>
            <a:endParaRPr sz="2800">
              <a:solidFill>
                <a:srgbClr val="59595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Naïve Bayes Classifier</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Naïve Bayes algorithm is a supervised learning algorithm, which is based on Bayes theorem and used for solving classification problems.</a:t>
            </a:r>
            <a:endParaRPr/>
          </a:p>
          <a:p>
            <a:pPr marL="457200" lvl="0" indent="-342900" algn="l" rtl="0">
              <a:spcBef>
                <a:spcPts val="0"/>
              </a:spcBef>
              <a:spcAft>
                <a:spcPts val="0"/>
              </a:spcAft>
              <a:buSzPts val="1800"/>
              <a:buChar char="●"/>
            </a:pPr>
            <a:r>
              <a:rPr lang="en"/>
              <a:t>It is mainly used in text classification that includes a high-dimensional training dataset.</a:t>
            </a:r>
            <a:endParaRPr/>
          </a:p>
          <a:p>
            <a:pPr marL="457200" lvl="0" indent="-342900" algn="l" rtl="0">
              <a:spcBef>
                <a:spcPts val="0"/>
              </a:spcBef>
              <a:spcAft>
                <a:spcPts val="0"/>
              </a:spcAft>
              <a:buSzPts val="1800"/>
              <a:buChar char="●"/>
            </a:pPr>
            <a:r>
              <a:rPr lang="en"/>
              <a:t>It is a probabilistic classifier, which means it predicts on the basis of the probability of an object.</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Some popular examples of Naïve Bayes Algorithm are spam filtration, Sentimental analysis, and classifying articles.</a:t>
            </a:r>
            <a:endParaRPr/>
          </a:p>
          <a:p>
            <a:pPr marL="457200" lvl="0" indent="0" algn="l" rtl="0">
              <a:spcBef>
                <a:spcPts val="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is it called Naïve Bayes?</a:t>
            </a:r>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lvl="0" algn="just"/>
            <a:r>
              <a:rPr lang="en" b="1" dirty="0"/>
              <a:t>Naïve</a:t>
            </a:r>
            <a:r>
              <a:rPr lang="en" dirty="0"/>
              <a:t>: </a:t>
            </a:r>
            <a:r>
              <a:rPr lang="en-US" dirty="0"/>
              <a:t>It’s called naïve because it </a:t>
            </a:r>
            <a:r>
              <a:rPr lang="en-US" b="1" dirty="0"/>
              <a:t>assumes features are independent</a:t>
            </a:r>
            <a:r>
              <a:rPr lang="en-US" dirty="0"/>
              <a:t>—one feature doesn’t affect the others </a:t>
            </a:r>
            <a:r>
              <a:rPr lang="en-US" dirty="0" smtClean="0"/>
              <a:t>.</a:t>
            </a:r>
            <a:r>
              <a:rPr lang="en" dirty="0" smtClean="0"/>
              <a:t>Such </a:t>
            </a:r>
            <a:r>
              <a:rPr lang="en" dirty="0"/>
              <a:t>as if the fruit is identified on the bases of color, shape, and taste, then red, spherical, and sweet fruit is recognized as an apple. Hence each feature individually contributes to identify that it is an apple without depending on each other.</a:t>
            </a:r>
            <a:endParaRPr dirty="0"/>
          </a:p>
          <a:p>
            <a:pPr marL="457200" lvl="0" indent="0" algn="just" rtl="0">
              <a:spcBef>
                <a:spcPts val="0"/>
              </a:spcBef>
              <a:spcAft>
                <a:spcPts val="0"/>
              </a:spcAft>
              <a:buNone/>
            </a:pPr>
            <a:endParaRPr dirty="0"/>
          </a:p>
          <a:p>
            <a:pPr marL="457200" lvl="0" indent="-342900" algn="just" rtl="0">
              <a:spcBef>
                <a:spcPts val="0"/>
              </a:spcBef>
              <a:spcAft>
                <a:spcPts val="0"/>
              </a:spcAft>
              <a:buSzPts val="1800"/>
              <a:buChar char="●"/>
            </a:pPr>
            <a:r>
              <a:rPr lang="en" b="1" dirty="0"/>
              <a:t>Bayes</a:t>
            </a:r>
            <a:r>
              <a:rPr lang="en" dirty="0"/>
              <a:t>: It is called Bayes because it depends on the principle of Bayes' Theorem.</a:t>
            </a:r>
            <a:endParaRPr dirty="0"/>
          </a:p>
          <a:p>
            <a:pPr marL="457200" lvl="0" indent="0" algn="just" rtl="0">
              <a:spcBef>
                <a:spcPts val="0"/>
              </a:spcBef>
              <a:spcAft>
                <a:spcPts val="1200"/>
              </a:spcAft>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Bayesian Classifiers</a:t>
            </a:r>
            <a:endParaRPr/>
          </a:p>
        </p:txBody>
      </p:sp>
      <p:sp>
        <p:nvSpPr>
          <p:cNvPr id="73" name="Google Shape;7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We have multiple attributes (A</a:t>
            </a:r>
            <a:r>
              <a:rPr lang="en" baseline="-25000"/>
              <a:t>1</a:t>
            </a:r>
            <a:r>
              <a:rPr lang="en"/>
              <a:t>, A</a:t>
            </a:r>
            <a:r>
              <a:rPr lang="en" baseline="-25000"/>
              <a:t>2</a:t>
            </a:r>
            <a:r>
              <a:rPr lang="en"/>
              <a:t>, ….., A</a:t>
            </a:r>
            <a:r>
              <a:rPr lang="en" baseline="-25000"/>
              <a:t>n</a:t>
            </a:r>
            <a:r>
              <a:rPr lang="en"/>
              <a:t>)</a:t>
            </a:r>
            <a:endParaRPr/>
          </a:p>
          <a:p>
            <a:pPr marL="457200" lvl="0" indent="0" algn="l" rtl="0">
              <a:spcBef>
                <a:spcPts val="1200"/>
              </a:spcBef>
              <a:spcAft>
                <a:spcPts val="0"/>
              </a:spcAft>
              <a:buNone/>
            </a:pPr>
            <a:endParaRPr/>
          </a:p>
          <a:p>
            <a:pPr marL="914400" lvl="1" indent="-330200" algn="l" rtl="0">
              <a:spcBef>
                <a:spcPts val="1200"/>
              </a:spcBef>
              <a:spcAft>
                <a:spcPts val="0"/>
              </a:spcAft>
              <a:buSzPts val="1600"/>
              <a:buChar char="○"/>
            </a:pPr>
            <a:r>
              <a:rPr lang="en" sz="1600"/>
              <a:t>Purpose is to predict the label class C</a:t>
            </a:r>
            <a:endParaRPr sz="1600"/>
          </a:p>
          <a:p>
            <a:pPr marL="914400" lvl="1" indent="-330200" algn="l" rtl="0">
              <a:spcBef>
                <a:spcPts val="0"/>
              </a:spcBef>
              <a:spcAft>
                <a:spcPts val="0"/>
              </a:spcAft>
              <a:buSzPts val="1600"/>
              <a:buChar char="○"/>
            </a:pPr>
            <a:r>
              <a:rPr lang="en" sz="1600"/>
              <a:t>C may have multiple values, we want to find the value of C that maximizes P(C|A1, A2, ….., An)</a:t>
            </a:r>
            <a:endParaRPr sz="1600"/>
          </a:p>
          <a:p>
            <a:pPr marL="457200" lvl="0" indent="0" algn="l" rtl="0">
              <a:spcBef>
                <a:spcPts val="1200"/>
              </a:spcBef>
              <a:spcAft>
                <a:spcPts val="12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2164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Bayesian Classifiers</a:t>
            </a:r>
            <a:endParaRPr/>
          </a:p>
        </p:txBody>
      </p:sp>
      <p:sp>
        <p:nvSpPr>
          <p:cNvPr id="79" name="Google Shape;79;p17"/>
          <p:cNvSpPr txBox="1">
            <a:spLocks noGrp="1"/>
          </p:cNvSpPr>
          <p:nvPr>
            <p:ph type="body" idx="1"/>
          </p:nvPr>
        </p:nvSpPr>
        <p:spPr>
          <a:xfrm>
            <a:off x="311700" y="926350"/>
            <a:ext cx="8520600" cy="4005600"/>
          </a:xfrm>
          <a:prstGeom prst="rect">
            <a:avLst/>
          </a:prstGeom>
        </p:spPr>
        <p:txBody>
          <a:bodyPr spcFirstLastPara="1" wrap="square" lIns="91425" tIns="91425" rIns="91425" bIns="91425" anchor="t" anchorCtr="0">
            <a:noAutofit/>
          </a:bodyPr>
          <a:lstStyle/>
          <a:p>
            <a:pPr marL="457200" lvl="0" indent="-306387" algn="l" rtl="0">
              <a:lnSpc>
                <a:spcPct val="105000"/>
              </a:lnSpc>
              <a:spcBef>
                <a:spcPts val="0"/>
              </a:spcBef>
              <a:spcAft>
                <a:spcPts val="0"/>
              </a:spcAft>
              <a:buSzPts val="1225"/>
              <a:buChar char="●"/>
            </a:pPr>
            <a:r>
              <a:rPr lang="en" sz="1225"/>
              <a:t>Solutions</a:t>
            </a:r>
            <a:endParaRPr sz="1225"/>
          </a:p>
          <a:p>
            <a:pPr marL="914400" lvl="1" indent="-303212" algn="l" rtl="0">
              <a:lnSpc>
                <a:spcPct val="105000"/>
              </a:lnSpc>
              <a:spcBef>
                <a:spcPts val="0"/>
              </a:spcBef>
              <a:spcAft>
                <a:spcPts val="0"/>
              </a:spcAft>
              <a:buSzPts val="1175"/>
              <a:buChar char="○"/>
            </a:pPr>
            <a:r>
              <a:rPr lang="en" sz="1175"/>
              <a:t>Compute the probability of P(C|A</a:t>
            </a:r>
            <a:r>
              <a:rPr lang="en" sz="1175" baseline="-25000"/>
              <a:t>1</a:t>
            </a:r>
            <a:r>
              <a:rPr lang="en" sz="1175"/>
              <a:t>, A</a:t>
            </a:r>
            <a:r>
              <a:rPr lang="en" sz="1175" baseline="-25000"/>
              <a:t>2</a:t>
            </a:r>
            <a:r>
              <a:rPr lang="en" sz="1175"/>
              <a:t>, ….., A</a:t>
            </a:r>
            <a:r>
              <a:rPr lang="en" sz="1175" baseline="-25000"/>
              <a:t>n</a:t>
            </a:r>
            <a:r>
              <a:rPr lang="en" sz="1175"/>
              <a:t>) for all the class values using Bayes theorem.</a:t>
            </a:r>
            <a:endParaRPr sz="1175"/>
          </a:p>
          <a:p>
            <a:pPr marL="0" lvl="0" indent="0" algn="l" rtl="0">
              <a:lnSpc>
                <a:spcPct val="105000"/>
              </a:lnSpc>
              <a:spcBef>
                <a:spcPts val="1200"/>
              </a:spcBef>
              <a:spcAft>
                <a:spcPts val="0"/>
              </a:spcAft>
              <a:buSzPts val="688"/>
              <a:buNone/>
            </a:pPr>
            <a:endParaRPr sz="1225"/>
          </a:p>
          <a:p>
            <a:pPr marL="457200" lvl="0" indent="-306387" algn="l" rtl="0">
              <a:lnSpc>
                <a:spcPct val="105000"/>
              </a:lnSpc>
              <a:spcBef>
                <a:spcPts val="1200"/>
              </a:spcBef>
              <a:spcAft>
                <a:spcPts val="0"/>
              </a:spcAft>
              <a:buSzPts val="1225"/>
              <a:buChar char="●"/>
            </a:pPr>
            <a:r>
              <a:rPr lang="en" sz="1225"/>
              <a:t>Bayes theorem</a:t>
            </a:r>
            <a:endParaRPr sz="1225"/>
          </a:p>
          <a:p>
            <a:pPr marL="914400" lvl="0" indent="0" algn="l" rtl="0">
              <a:lnSpc>
                <a:spcPct val="105000"/>
              </a:lnSpc>
              <a:spcBef>
                <a:spcPts val="1200"/>
              </a:spcBef>
              <a:spcAft>
                <a:spcPts val="0"/>
              </a:spcAft>
              <a:buSzPts val="688"/>
              <a:buNone/>
            </a:pPr>
            <a:r>
              <a:rPr lang="en" sz="1225"/>
              <a:t>P(C|A</a:t>
            </a:r>
            <a:r>
              <a:rPr lang="en" sz="1225" baseline="-25000"/>
              <a:t>1</a:t>
            </a:r>
            <a:r>
              <a:rPr lang="en" sz="1225"/>
              <a:t>, A</a:t>
            </a:r>
            <a:r>
              <a:rPr lang="en" sz="1225" baseline="-25000"/>
              <a:t>2</a:t>
            </a:r>
            <a:r>
              <a:rPr lang="en" sz="1225"/>
              <a:t>, ….., A</a:t>
            </a:r>
            <a:r>
              <a:rPr lang="en" sz="1225" baseline="-25000"/>
              <a:t>n</a:t>
            </a:r>
            <a:r>
              <a:rPr lang="en" sz="1225"/>
              <a:t>) = P(A</a:t>
            </a:r>
            <a:r>
              <a:rPr lang="en" sz="1225" baseline="-25000"/>
              <a:t>1</a:t>
            </a:r>
            <a:r>
              <a:rPr lang="en" sz="1225"/>
              <a:t>, A</a:t>
            </a:r>
            <a:r>
              <a:rPr lang="en" sz="1225" baseline="-25000"/>
              <a:t>2</a:t>
            </a:r>
            <a:r>
              <a:rPr lang="en" sz="1225"/>
              <a:t>, ….., A</a:t>
            </a:r>
            <a:r>
              <a:rPr lang="en" sz="1225" baseline="-25000"/>
              <a:t>n</a:t>
            </a:r>
            <a:r>
              <a:rPr lang="en" sz="1225"/>
              <a:t>|C) * P(C) / P(A</a:t>
            </a:r>
            <a:r>
              <a:rPr lang="en" sz="1225" baseline="-25000"/>
              <a:t>1</a:t>
            </a:r>
            <a:r>
              <a:rPr lang="en" sz="1225"/>
              <a:t>, A</a:t>
            </a:r>
            <a:r>
              <a:rPr lang="en" sz="1225" baseline="-25000"/>
              <a:t>2</a:t>
            </a:r>
            <a:r>
              <a:rPr lang="en" sz="1225"/>
              <a:t>, ….., A</a:t>
            </a:r>
            <a:r>
              <a:rPr lang="en" sz="1225" baseline="-25000"/>
              <a:t>n</a:t>
            </a:r>
            <a:r>
              <a:rPr lang="en" sz="1225"/>
              <a:t>)</a:t>
            </a:r>
            <a:endParaRPr sz="1225"/>
          </a:p>
          <a:p>
            <a:pPr marL="457200" lvl="0" indent="0" algn="l" rtl="0">
              <a:lnSpc>
                <a:spcPct val="105000"/>
              </a:lnSpc>
              <a:spcBef>
                <a:spcPts val="1200"/>
              </a:spcBef>
              <a:spcAft>
                <a:spcPts val="0"/>
              </a:spcAft>
              <a:buSzPts val="688"/>
              <a:buNone/>
            </a:pPr>
            <a:r>
              <a:rPr lang="en" sz="1225"/>
              <a:t>Where, </a:t>
            </a:r>
            <a:endParaRPr sz="1225"/>
          </a:p>
          <a:p>
            <a:pPr marL="914400" lvl="0" indent="0" algn="l" rtl="0">
              <a:lnSpc>
                <a:spcPct val="105000"/>
              </a:lnSpc>
              <a:spcBef>
                <a:spcPts val="1200"/>
              </a:spcBef>
              <a:spcAft>
                <a:spcPts val="0"/>
              </a:spcAft>
              <a:buSzPts val="688"/>
              <a:buNone/>
            </a:pPr>
            <a:r>
              <a:rPr lang="en" sz="1225"/>
              <a:t>P(C|A</a:t>
            </a:r>
            <a:r>
              <a:rPr lang="en" sz="1225" baseline="-25000"/>
              <a:t>1</a:t>
            </a:r>
            <a:r>
              <a:rPr lang="en" sz="1225"/>
              <a:t>, A</a:t>
            </a:r>
            <a:r>
              <a:rPr lang="en" sz="1225" baseline="-25000"/>
              <a:t>2</a:t>
            </a:r>
            <a:r>
              <a:rPr lang="en" sz="1225"/>
              <a:t>, ….., A</a:t>
            </a:r>
            <a:r>
              <a:rPr lang="en" sz="1225" baseline="-25000"/>
              <a:t>n</a:t>
            </a:r>
            <a:r>
              <a:rPr lang="en" sz="1225"/>
              <a:t>) = Posterior Probability</a:t>
            </a:r>
            <a:endParaRPr sz="1225"/>
          </a:p>
          <a:p>
            <a:pPr marL="914400" lvl="0" indent="0" algn="l" rtl="0">
              <a:lnSpc>
                <a:spcPct val="105000"/>
              </a:lnSpc>
              <a:spcBef>
                <a:spcPts val="1200"/>
              </a:spcBef>
              <a:spcAft>
                <a:spcPts val="0"/>
              </a:spcAft>
              <a:buSzPts val="688"/>
              <a:buNone/>
            </a:pPr>
            <a:r>
              <a:rPr lang="en" sz="1225"/>
              <a:t>P(C) = Priori Probability </a:t>
            </a:r>
            <a:endParaRPr sz="1225"/>
          </a:p>
          <a:p>
            <a:pPr marL="914400" lvl="0" indent="0" algn="l" rtl="0">
              <a:lnSpc>
                <a:spcPct val="105000"/>
              </a:lnSpc>
              <a:spcBef>
                <a:spcPts val="1200"/>
              </a:spcBef>
              <a:spcAft>
                <a:spcPts val="0"/>
              </a:spcAft>
              <a:buSzPts val="688"/>
              <a:buNone/>
            </a:pPr>
            <a:r>
              <a:rPr lang="en" sz="1225"/>
              <a:t>P(A</a:t>
            </a:r>
            <a:r>
              <a:rPr lang="en" sz="1225" baseline="-25000"/>
              <a:t>1</a:t>
            </a:r>
            <a:r>
              <a:rPr lang="en" sz="1225"/>
              <a:t>, A</a:t>
            </a:r>
            <a:r>
              <a:rPr lang="en" sz="1225" baseline="-25000"/>
              <a:t>2</a:t>
            </a:r>
            <a:r>
              <a:rPr lang="en" sz="1225"/>
              <a:t>, ….., A</a:t>
            </a:r>
            <a:r>
              <a:rPr lang="en" sz="1225" baseline="-25000"/>
              <a:t>n</a:t>
            </a:r>
            <a:r>
              <a:rPr lang="en" sz="1225"/>
              <a:t>) = Probability Density Function</a:t>
            </a:r>
            <a:endParaRPr sz="1225"/>
          </a:p>
          <a:p>
            <a:pPr marL="914400" lvl="0" indent="0" algn="l" rtl="0">
              <a:lnSpc>
                <a:spcPct val="105000"/>
              </a:lnSpc>
              <a:spcBef>
                <a:spcPts val="1200"/>
              </a:spcBef>
              <a:spcAft>
                <a:spcPts val="0"/>
              </a:spcAft>
              <a:buSzPts val="688"/>
              <a:buNone/>
            </a:pPr>
            <a:r>
              <a:rPr lang="en" sz="1225"/>
              <a:t>P(A</a:t>
            </a:r>
            <a:r>
              <a:rPr lang="en" sz="1225" baseline="-25000"/>
              <a:t>1</a:t>
            </a:r>
            <a:r>
              <a:rPr lang="en" sz="1225"/>
              <a:t>, A</a:t>
            </a:r>
            <a:r>
              <a:rPr lang="en" sz="1225" baseline="-25000"/>
              <a:t>2</a:t>
            </a:r>
            <a:r>
              <a:rPr lang="en" sz="1225"/>
              <a:t>, ….., A</a:t>
            </a:r>
            <a:r>
              <a:rPr lang="en" sz="1225" baseline="-25000"/>
              <a:t>n</a:t>
            </a:r>
            <a:r>
              <a:rPr lang="en" sz="1225"/>
              <a:t>|C) = Class Conditional Probability / Likelihood function of C with respect to A1 A2…</a:t>
            </a:r>
            <a:endParaRPr sz="1225"/>
          </a:p>
          <a:p>
            <a:pPr marL="914400" lvl="1" indent="-303212" algn="l" rtl="0">
              <a:lnSpc>
                <a:spcPct val="105000"/>
              </a:lnSpc>
              <a:spcBef>
                <a:spcPts val="1200"/>
              </a:spcBef>
              <a:spcAft>
                <a:spcPts val="0"/>
              </a:spcAft>
              <a:buSzPts val="1175"/>
              <a:buChar char="○"/>
            </a:pPr>
            <a:r>
              <a:rPr lang="en" sz="1175"/>
              <a:t>We need to find the value of C that maximizes P(A</a:t>
            </a:r>
            <a:r>
              <a:rPr lang="en" sz="1175" baseline="-25000"/>
              <a:t>1</a:t>
            </a:r>
            <a:r>
              <a:rPr lang="en" sz="1175"/>
              <a:t>,A</a:t>
            </a:r>
            <a:r>
              <a:rPr lang="en" sz="1175" baseline="-25000"/>
              <a:t>2</a:t>
            </a:r>
            <a:r>
              <a:rPr lang="en" sz="1175"/>
              <a:t>,,,,</a:t>
            </a:r>
            <a:r>
              <a:rPr lang="en" sz="1175" baseline="-25000"/>
              <a:t>,</a:t>
            </a:r>
            <a:r>
              <a:rPr lang="en" sz="1175"/>
              <a:t>A</a:t>
            </a:r>
            <a:r>
              <a:rPr lang="en" sz="1175" baseline="-25000"/>
              <a:t>n</a:t>
            </a:r>
            <a:r>
              <a:rPr lang="en" sz="1175"/>
              <a:t>|C) * P(C) as the rest part is constant for all the classes.</a:t>
            </a:r>
            <a:endParaRPr sz="1175"/>
          </a:p>
          <a:p>
            <a:pPr marL="457200" lvl="0" indent="0" algn="l" rtl="0">
              <a:lnSpc>
                <a:spcPct val="105000"/>
              </a:lnSpc>
              <a:spcBef>
                <a:spcPts val="1200"/>
              </a:spcBef>
              <a:spcAft>
                <a:spcPts val="1200"/>
              </a:spcAft>
              <a:buSzPts val="688"/>
              <a:buNone/>
            </a:pPr>
            <a:endParaRPr sz="122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Naive Bayes Theorem</a:t>
            </a:r>
            <a:endParaRPr/>
          </a:p>
        </p:txBody>
      </p:sp>
      <p:sp>
        <p:nvSpPr>
          <p:cNvPr id="85" name="Google Shape;8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Assuming all the features(attributes) are independent of each other given class label</a:t>
            </a:r>
            <a:endParaRPr/>
          </a:p>
          <a:p>
            <a:pPr marL="457200" lvl="0" indent="0" algn="l" rtl="0">
              <a:spcBef>
                <a:spcPts val="1200"/>
              </a:spcBef>
              <a:spcAft>
                <a:spcPts val="0"/>
              </a:spcAft>
              <a:buNone/>
            </a:pPr>
            <a:endParaRPr/>
          </a:p>
          <a:p>
            <a:pPr marL="457200" lvl="0" indent="0" algn="l" rtl="0">
              <a:spcBef>
                <a:spcPts val="1200"/>
              </a:spcBef>
              <a:spcAft>
                <a:spcPts val="0"/>
              </a:spcAft>
              <a:buNone/>
            </a:pPr>
            <a:r>
              <a:rPr lang="en"/>
              <a:t>Therefore, </a:t>
            </a:r>
            <a:endParaRPr/>
          </a:p>
          <a:p>
            <a:pPr marL="457200" lvl="0" indent="0" algn="l" rtl="0">
              <a:spcBef>
                <a:spcPts val="1200"/>
              </a:spcBef>
              <a:spcAft>
                <a:spcPts val="0"/>
              </a:spcAft>
              <a:buNone/>
            </a:pPr>
            <a:r>
              <a:rPr lang="en"/>
              <a:t>P(A</a:t>
            </a:r>
            <a:r>
              <a:rPr lang="en" baseline="-25000"/>
              <a:t>1</a:t>
            </a:r>
            <a:r>
              <a:rPr lang="en"/>
              <a:t>,A</a:t>
            </a:r>
            <a:r>
              <a:rPr lang="en" baseline="-25000"/>
              <a:t>2</a:t>
            </a:r>
            <a:r>
              <a:rPr lang="en"/>
              <a:t>,,,,,A</a:t>
            </a:r>
            <a:r>
              <a:rPr lang="en" baseline="-25000"/>
              <a:t>n</a:t>
            </a:r>
            <a:r>
              <a:rPr lang="en"/>
              <a:t>|C) = P(A</a:t>
            </a:r>
            <a:r>
              <a:rPr lang="en" baseline="-25000"/>
              <a:t>1</a:t>
            </a:r>
            <a:r>
              <a:rPr lang="en"/>
              <a:t>|C) * P(A</a:t>
            </a:r>
            <a:r>
              <a:rPr lang="en" baseline="-25000"/>
              <a:t>2</a:t>
            </a:r>
            <a:r>
              <a:rPr lang="en"/>
              <a:t>|C) * ……… * P(A</a:t>
            </a:r>
            <a:r>
              <a:rPr lang="en" baseline="-25000"/>
              <a:t>n</a:t>
            </a:r>
            <a:r>
              <a:rPr lang="en"/>
              <a:t>|C)</a:t>
            </a:r>
            <a:endParaRPr/>
          </a:p>
          <a:p>
            <a:pPr marL="457200" lvl="0" indent="0" algn="l" rtl="0">
              <a:spcBef>
                <a:spcPts val="1200"/>
              </a:spcBef>
              <a:spcAft>
                <a:spcPts val="0"/>
              </a:spcAft>
              <a:buNone/>
            </a:pPr>
            <a:endParaRPr/>
          </a:p>
          <a:p>
            <a:pPr marL="0" lvl="0" indent="0" algn="l" rtl="0">
              <a:spcBef>
                <a:spcPts val="1200"/>
              </a:spcBef>
              <a:spcAft>
                <a:spcPts val="0"/>
              </a:spcAft>
              <a:buNone/>
            </a:pPr>
            <a:endParaRPr/>
          </a:p>
          <a:p>
            <a:pPr marL="457200" lvl="0" indent="-342900" algn="l" rtl="0">
              <a:spcBef>
                <a:spcPts val="1200"/>
              </a:spcBef>
              <a:spcAft>
                <a:spcPts val="0"/>
              </a:spcAft>
              <a:buSzPts val="1800"/>
              <a:buChar char="●"/>
            </a:pPr>
            <a:r>
              <a:rPr lang="en"/>
              <a:t>We have to find P(A</a:t>
            </a:r>
            <a:r>
              <a:rPr lang="en" baseline="-25000"/>
              <a:t>i</a:t>
            </a:r>
            <a:r>
              <a:rPr lang="en"/>
              <a:t>|C</a:t>
            </a:r>
            <a:r>
              <a:rPr lang="en" baseline="-25000"/>
              <a:t>j</a:t>
            </a:r>
            <a:r>
              <a:rPr lang="en"/>
              <a:t>) for all A</a:t>
            </a:r>
            <a:r>
              <a:rPr lang="en" baseline="-25000"/>
              <a:t>i</a:t>
            </a:r>
            <a:r>
              <a:rPr lang="en"/>
              <a:t> and C</a:t>
            </a:r>
            <a:r>
              <a:rPr lang="en" baseline="-25000"/>
              <a:t>j</a:t>
            </a:r>
            <a:r>
              <a:rPr lang="en"/>
              <a:t> from the training dataset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Naive Bayes Theorem - example</a:t>
            </a:r>
            <a:endParaRPr/>
          </a:p>
        </p:txBody>
      </p:sp>
      <p:sp>
        <p:nvSpPr>
          <p:cNvPr id="91" name="Google Shape;91;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3657600" lvl="0" indent="-342900" algn="l" rtl="0">
              <a:spcBef>
                <a:spcPts val="0"/>
              </a:spcBef>
              <a:spcAft>
                <a:spcPts val="0"/>
              </a:spcAft>
              <a:buSzPts val="1800"/>
              <a:buChar char="●"/>
            </a:pPr>
            <a:r>
              <a:rPr lang="en"/>
              <a:t>Here, </a:t>
            </a:r>
            <a:r>
              <a:rPr lang="en" b="1"/>
              <a:t>Give Birth(GB), Can Fly(CF), Live in Water(LIW), Have Legs(HL) </a:t>
            </a:r>
            <a:r>
              <a:rPr lang="en"/>
              <a:t>are the features and </a:t>
            </a:r>
            <a:r>
              <a:rPr lang="en" b="1"/>
              <a:t>Class </a:t>
            </a:r>
            <a:r>
              <a:rPr lang="en"/>
              <a:t>is the output class(label)</a:t>
            </a:r>
            <a:endParaRPr/>
          </a:p>
          <a:p>
            <a:pPr marL="3657600" lvl="0" indent="-342900" algn="l" rtl="0">
              <a:spcBef>
                <a:spcPts val="0"/>
              </a:spcBef>
              <a:spcAft>
                <a:spcPts val="0"/>
              </a:spcAft>
              <a:buSzPts val="1800"/>
              <a:buChar char="●"/>
            </a:pPr>
            <a:r>
              <a:rPr lang="en"/>
              <a:t>Suppose, we are tasked to find</a:t>
            </a:r>
            <a:endParaRPr/>
          </a:p>
          <a:p>
            <a:pPr marL="3657600" lvl="0" indent="0" algn="l" rtl="0">
              <a:spcBef>
                <a:spcPts val="1200"/>
              </a:spcBef>
              <a:spcAft>
                <a:spcPts val="0"/>
              </a:spcAft>
              <a:buNone/>
            </a:pPr>
            <a:endParaRPr/>
          </a:p>
          <a:p>
            <a:pPr marL="3657600" lvl="0" indent="-342900" algn="l" rtl="0">
              <a:spcBef>
                <a:spcPts val="1200"/>
              </a:spcBef>
              <a:spcAft>
                <a:spcPts val="0"/>
              </a:spcAft>
              <a:buSzPts val="1800"/>
              <a:buChar char="●"/>
            </a:pPr>
            <a:r>
              <a:rPr lang="en"/>
              <a:t>We have to calculate the two probabilities</a:t>
            </a:r>
            <a:endParaRPr/>
          </a:p>
          <a:p>
            <a:pPr marL="4114800" lvl="1" indent="-317500" algn="l" rtl="0">
              <a:spcBef>
                <a:spcPts val="0"/>
              </a:spcBef>
              <a:spcAft>
                <a:spcPts val="0"/>
              </a:spcAft>
              <a:buSzPts val="1400"/>
              <a:buChar char="○"/>
            </a:pPr>
            <a:r>
              <a:rPr lang="en"/>
              <a:t>P(Class = mammals|GB=yes, CF=no,LIW=yes,HL=no)</a:t>
            </a:r>
            <a:endParaRPr/>
          </a:p>
          <a:p>
            <a:pPr marL="4114800" lvl="1" indent="-317500" algn="l" rtl="0">
              <a:spcBef>
                <a:spcPts val="0"/>
              </a:spcBef>
              <a:spcAft>
                <a:spcPts val="0"/>
              </a:spcAft>
              <a:buSzPts val="1400"/>
              <a:buChar char="○"/>
            </a:pPr>
            <a:r>
              <a:rPr lang="en"/>
              <a:t>P(Class = non-mammals|GB=yes, CF=no,LIW=yes,HL=no)</a:t>
            </a:r>
            <a:endParaRPr/>
          </a:p>
        </p:txBody>
      </p:sp>
      <p:pic>
        <p:nvPicPr>
          <p:cNvPr id="92" name="Google Shape;92;p19"/>
          <p:cNvPicPr preferRelativeResize="0"/>
          <p:nvPr/>
        </p:nvPicPr>
        <p:blipFill>
          <a:blip r:embed="rId3">
            <a:alphaModFix/>
          </a:blip>
          <a:stretch>
            <a:fillRect/>
          </a:stretch>
        </p:blipFill>
        <p:spPr>
          <a:xfrm>
            <a:off x="362500" y="1135076"/>
            <a:ext cx="3322500" cy="3087675"/>
          </a:xfrm>
          <a:prstGeom prst="rect">
            <a:avLst/>
          </a:prstGeom>
          <a:noFill/>
          <a:ln>
            <a:noFill/>
          </a:ln>
        </p:spPr>
      </p:pic>
      <p:pic>
        <p:nvPicPr>
          <p:cNvPr id="93" name="Google Shape;93;p19"/>
          <p:cNvPicPr preferRelativeResize="0"/>
          <p:nvPr/>
        </p:nvPicPr>
        <p:blipFill>
          <a:blip r:embed="rId4">
            <a:alphaModFix/>
          </a:blip>
          <a:stretch>
            <a:fillRect/>
          </a:stretch>
        </p:blipFill>
        <p:spPr>
          <a:xfrm>
            <a:off x="4067174" y="2498725"/>
            <a:ext cx="4765125" cy="628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Naive Bayes Theorem - example</a:t>
            </a:r>
            <a:endParaRPr/>
          </a:p>
        </p:txBody>
      </p:sp>
      <p:sp>
        <p:nvSpPr>
          <p:cNvPr id="99" name="Google Shape;99;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3657600" lvl="0" indent="-325754" algn="l" rtl="0">
              <a:spcBef>
                <a:spcPts val="0"/>
              </a:spcBef>
              <a:spcAft>
                <a:spcPts val="0"/>
              </a:spcAft>
              <a:buSzPct val="128571"/>
              <a:buChar char="●"/>
            </a:pPr>
            <a:r>
              <a:rPr lang="en" sz="1400"/>
              <a:t>P(Class = mammals|GB=yes, CF=no,LIW=yes,HL=no) =</a:t>
            </a:r>
            <a:endParaRPr sz="1400"/>
          </a:p>
          <a:p>
            <a:pPr marL="3657600" lvl="0" indent="0" algn="l" rtl="0">
              <a:spcBef>
                <a:spcPts val="1200"/>
              </a:spcBef>
              <a:spcAft>
                <a:spcPts val="0"/>
              </a:spcAft>
              <a:buNone/>
            </a:pPr>
            <a:r>
              <a:rPr lang="en" sz="1400"/>
              <a:t>P(GB=yes, CF=no,LIW=yes,HL=no|Class = mammals) * P(Class = mammals)</a:t>
            </a:r>
            <a:endParaRPr sz="1400"/>
          </a:p>
          <a:p>
            <a:pPr marL="3657600" lvl="0" indent="-325754" algn="l" rtl="0">
              <a:spcBef>
                <a:spcPts val="1200"/>
              </a:spcBef>
              <a:spcAft>
                <a:spcPts val="0"/>
              </a:spcAft>
              <a:buSzPct val="128571"/>
              <a:buChar char="●"/>
            </a:pPr>
            <a:r>
              <a:rPr lang="en" sz="1400"/>
              <a:t>Now, P(GB=yes, CF=no,LIW=yes,HL=no|Class = mammals) = P(GB=yes|Class=mammals) * P(CF=no|Class=mammals) * P(LIW=yes|Class=mammals) * P(HL=no|Class=mammals)</a:t>
            </a:r>
            <a:endParaRPr sz="1400"/>
          </a:p>
          <a:p>
            <a:pPr marL="3657600" lvl="0" indent="0" algn="l" rtl="0">
              <a:spcBef>
                <a:spcPts val="1200"/>
              </a:spcBef>
              <a:spcAft>
                <a:spcPts val="0"/>
              </a:spcAft>
              <a:buNone/>
            </a:pPr>
            <a:endParaRPr sz="1400"/>
          </a:p>
          <a:p>
            <a:pPr marL="3657600" lvl="0" indent="-304165" algn="l" rtl="0">
              <a:spcBef>
                <a:spcPts val="1200"/>
              </a:spcBef>
              <a:spcAft>
                <a:spcPts val="0"/>
              </a:spcAft>
              <a:buSzPct val="100000"/>
              <a:buChar char="●"/>
            </a:pPr>
            <a:r>
              <a:rPr lang="en" sz="1400"/>
              <a:t>P(GB=yes|Class=mammals) = 6 / 7</a:t>
            </a:r>
            <a:endParaRPr sz="1400"/>
          </a:p>
          <a:p>
            <a:pPr marL="3657600" lvl="0" indent="-304165" algn="l" rtl="0">
              <a:spcBef>
                <a:spcPts val="0"/>
              </a:spcBef>
              <a:spcAft>
                <a:spcPts val="0"/>
              </a:spcAft>
              <a:buSzPct val="100000"/>
              <a:buChar char="●"/>
            </a:pPr>
            <a:r>
              <a:rPr lang="en" sz="1400"/>
              <a:t>P(CF=no|Class=mammals) = 6 / 7</a:t>
            </a:r>
            <a:endParaRPr sz="1400"/>
          </a:p>
          <a:p>
            <a:pPr marL="3657600" lvl="0" indent="-304165" algn="l" rtl="0">
              <a:spcBef>
                <a:spcPts val="0"/>
              </a:spcBef>
              <a:spcAft>
                <a:spcPts val="0"/>
              </a:spcAft>
              <a:buSzPct val="100000"/>
              <a:buChar char="●"/>
            </a:pPr>
            <a:r>
              <a:rPr lang="en" sz="1400"/>
              <a:t>P(LIW=yes|Class=mammals) = 2 / 7</a:t>
            </a:r>
            <a:endParaRPr sz="1400"/>
          </a:p>
          <a:p>
            <a:pPr marL="3657600" lvl="0" indent="-304165" algn="l" rtl="0">
              <a:spcBef>
                <a:spcPts val="0"/>
              </a:spcBef>
              <a:spcAft>
                <a:spcPts val="0"/>
              </a:spcAft>
              <a:buSzPct val="100000"/>
              <a:buChar char="●"/>
            </a:pPr>
            <a:r>
              <a:rPr lang="en" sz="1400"/>
              <a:t>P(HL=no|Class=mammals) = 2 / 7</a:t>
            </a:r>
            <a:endParaRPr sz="1400"/>
          </a:p>
          <a:p>
            <a:pPr marL="3657600" lvl="0" indent="-304165" algn="l" rtl="0">
              <a:spcBef>
                <a:spcPts val="0"/>
              </a:spcBef>
              <a:spcAft>
                <a:spcPts val="0"/>
              </a:spcAft>
              <a:buSzPct val="100000"/>
              <a:buChar char="●"/>
            </a:pPr>
            <a:r>
              <a:rPr lang="en" sz="1400"/>
              <a:t>P(Class = mammals) = 7 / 20</a:t>
            </a:r>
            <a:endParaRPr sz="1400"/>
          </a:p>
          <a:p>
            <a:pPr marL="457200" lvl="0" indent="0" algn="l" rtl="0">
              <a:spcBef>
                <a:spcPts val="1200"/>
              </a:spcBef>
              <a:spcAft>
                <a:spcPts val="1200"/>
              </a:spcAft>
              <a:buNone/>
            </a:pPr>
            <a:endParaRPr sz="1400"/>
          </a:p>
        </p:txBody>
      </p:sp>
      <p:pic>
        <p:nvPicPr>
          <p:cNvPr id="100" name="Google Shape;100;p20"/>
          <p:cNvPicPr preferRelativeResize="0"/>
          <p:nvPr/>
        </p:nvPicPr>
        <p:blipFill>
          <a:blip r:embed="rId3">
            <a:alphaModFix/>
          </a:blip>
          <a:stretch>
            <a:fillRect/>
          </a:stretch>
        </p:blipFill>
        <p:spPr>
          <a:xfrm>
            <a:off x="311700" y="1316838"/>
            <a:ext cx="3322500" cy="3087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Naive Bayes Theorem - example</a:t>
            </a:r>
            <a:endParaRPr/>
          </a:p>
        </p:txBody>
      </p:sp>
      <p:sp>
        <p:nvSpPr>
          <p:cNvPr id="106" name="Google Shape;106;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3657600" lvl="0" indent="-325754" algn="l" rtl="0">
              <a:spcBef>
                <a:spcPts val="0"/>
              </a:spcBef>
              <a:spcAft>
                <a:spcPts val="0"/>
              </a:spcAft>
              <a:buSzPct val="128571"/>
              <a:buChar char="●"/>
            </a:pPr>
            <a:r>
              <a:rPr lang="en" sz="1400"/>
              <a:t>P(Class = non-mammals|GB=yes, CF=no,LIW=yes,HL=no) =</a:t>
            </a:r>
            <a:endParaRPr sz="1400"/>
          </a:p>
          <a:p>
            <a:pPr marL="3657600" lvl="0" indent="0" algn="l" rtl="0">
              <a:spcBef>
                <a:spcPts val="1200"/>
              </a:spcBef>
              <a:spcAft>
                <a:spcPts val="0"/>
              </a:spcAft>
              <a:buNone/>
            </a:pPr>
            <a:r>
              <a:rPr lang="en" sz="1400"/>
              <a:t>P(GB=yes, CF=no,LIW=yes,HL=no|Class = non-mammals) * P(Class = non-mammals)</a:t>
            </a:r>
            <a:endParaRPr sz="1400"/>
          </a:p>
          <a:p>
            <a:pPr marL="3657600" lvl="0" indent="-325754" algn="l" rtl="0">
              <a:spcBef>
                <a:spcPts val="1200"/>
              </a:spcBef>
              <a:spcAft>
                <a:spcPts val="0"/>
              </a:spcAft>
              <a:buSzPct val="128571"/>
              <a:buChar char="●"/>
            </a:pPr>
            <a:r>
              <a:rPr lang="en" sz="1400"/>
              <a:t>Now, P(GB=yes, CF=no,LIW=yes,HL=no|Class = non-mammals) = P(GB=yes|Class=non-mammals) * P(CF=no|Class=non-mammals) * P(LIW=yes|Class=non-mammals) * P(HL=no|Class=non-mammals)</a:t>
            </a:r>
            <a:endParaRPr sz="1400"/>
          </a:p>
          <a:p>
            <a:pPr marL="3657600" lvl="0" indent="0" algn="l" rtl="0">
              <a:spcBef>
                <a:spcPts val="1200"/>
              </a:spcBef>
              <a:spcAft>
                <a:spcPts val="0"/>
              </a:spcAft>
              <a:buNone/>
            </a:pPr>
            <a:endParaRPr sz="1400"/>
          </a:p>
          <a:p>
            <a:pPr marL="3657600" lvl="0" indent="-304165" algn="l" rtl="0">
              <a:spcBef>
                <a:spcPts val="1200"/>
              </a:spcBef>
              <a:spcAft>
                <a:spcPts val="0"/>
              </a:spcAft>
              <a:buSzPct val="100000"/>
              <a:buChar char="●"/>
            </a:pPr>
            <a:r>
              <a:rPr lang="en" sz="1400"/>
              <a:t>P(GB=yes|Class = non-mammals) = 1 / 13</a:t>
            </a:r>
            <a:endParaRPr sz="1400"/>
          </a:p>
          <a:p>
            <a:pPr marL="3657600" lvl="0" indent="-304165" algn="l" rtl="0">
              <a:spcBef>
                <a:spcPts val="0"/>
              </a:spcBef>
              <a:spcAft>
                <a:spcPts val="0"/>
              </a:spcAft>
              <a:buSzPct val="100000"/>
              <a:buChar char="●"/>
            </a:pPr>
            <a:r>
              <a:rPr lang="en" sz="1400"/>
              <a:t>P(CF=no|Class = non-mammals) = 10 / 13</a:t>
            </a:r>
            <a:endParaRPr sz="1400"/>
          </a:p>
          <a:p>
            <a:pPr marL="3657600" lvl="0" indent="-304165" algn="l" rtl="0">
              <a:spcBef>
                <a:spcPts val="0"/>
              </a:spcBef>
              <a:spcAft>
                <a:spcPts val="0"/>
              </a:spcAft>
              <a:buSzPct val="100000"/>
              <a:buChar char="●"/>
            </a:pPr>
            <a:r>
              <a:rPr lang="en" sz="1400"/>
              <a:t>P(LIW=yes|Class = non-mammals) = 3 / 13</a:t>
            </a:r>
            <a:endParaRPr sz="1400"/>
          </a:p>
          <a:p>
            <a:pPr marL="3657600" lvl="0" indent="-304165" algn="l" rtl="0">
              <a:spcBef>
                <a:spcPts val="0"/>
              </a:spcBef>
              <a:spcAft>
                <a:spcPts val="0"/>
              </a:spcAft>
              <a:buSzPct val="100000"/>
              <a:buChar char="●"/>
            </a:pPr>
            <a:r>
              <a:rPr lang="en" sz="1400"/>
              <a:t>P(HL=no|Class = non-mammals) = 4 / 13</a:t>
            </a:r>
            <a:endParaRPr sz="1400"/>
          </a:p>
          <a:p>
            <a:pPr marL="3657600" lvl="0" indent="-304165" algn="l" rtl="0">
              <a:spcBef>
                <a:spcPts val="0"/>
              </a:spcBef>
              <a:spcAft>
                <a:spcPts val="0"/>
              </a:spcAft>
              <a:buSzPct val="100000"/>
              <a:buChar char="●"/>
            </a:pPr>
            <a:r>
              <a:rPr lang="en" sz="1400"/>
              <a:t>And P(Class = non-mammals) = 13 / 20</a:t>
            </a:r>
            <a:endParaRPr sz="1400"/>
          </a:p>
          <a:p>
            <a:pPr marL="457200" lvl="0" indent="0" algn="l" rtl="0">
              <a:spcBef>
                <a:spcPts val="1200"/>
              </a:spcBef>
              <a:spcAft>
                <a:spcPts val="1200"/>
              </a:spcAft>
              <a:buNone/>
            </a:pPr>
            <a:endParaRPr sz="1400"/>
          </a:p>
        </p:txBody>
      </p:sp>
      <p:pic>
        <p:nvPicPr>
          <p:cNvPr id="107" name="Google Shape;107;p21"/>
          <p:cNvPicPr preferRelativeResize="0"/>
          <p:nvPr/>
        </p:nvPicPr>
        <p:blipFill>
          <a:blip r:embed="rId3">
            <a:alphaModFix/>
          </a:blip>
          <a:stretch>
            <a:fillRect/>
          </a:stretch>
        </p:blipFill>
        <p:spPr>
          <a:xfrm>
            <a:off x="311700" y="1316838"/>
            <a:ext cx="3322500" cy="3087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Naive Bayes Theorem - example</a:t>
            </a:r>
            <a:endParaRPr/>
          </a:p>
        </p:txBody>
      </p:sp>
      <p:sp>
        <p:nvSpPr>
          <p:cNvPr id="113" name="Google Shape;113;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3657600" lvl="0" indent="-342900" algn="l" rtl="0">
              <a:spcBef>
                <a:spcPts val="0"/>
              </a:spcBef>
              <a:spcAft>
                <a:spcPts val="0"/>
              </a:spcAft>
              <a:buSzPts val="1800"/>
              <a:buChar char="●"/>
            </a:pPr>
            <a:r>
              <a:rPr lang="en" sz="1400"/>
              <a:t>Now, P(GB=yes, CF=no,LIW=yes,HL=no|Class = mammals) </a:t>
            </a:r>
            <a:endParaRPr sz="1400"/>
          </a:p>
          <a:p>
            <a:pPr marL="3657600" lvl="0" indent="0" algn="l" rtl="0">
              <a:spcBef>
                <a:spcPts val="1200"/>
              </a:spcBef>
              <a:spcAft>
                <a:spcPts val="0"/>
              </a:spcAft>
              <a:buNone/>
            </a:pPr>
            <a:r>
              <a:rPr lang="en" sz="1400"/>
              <a:t>= 6/7 * 6/7 * 2/7 * 2/7 * 7/20 = 0.021</a:t>
            </a:r>
            <a:endParaRPr sz="1400"/>
          </a:p>
          <a:p>
            <a:pPr marL="3657600" lvl="0" indent="-317500" algn="l" rtl="0">
              <a:spcBef>
                <a:spcPts val="1200"/>
              </a:spcBef>
              <a:spcAft>
                <a:spcPts val="0"/>
              </a:spcAft>
              <a:buSzPts val="1400"/>
              <a:buChar char="●"/>
            </a:pPr>
            <a:r>
              <a:rPr lang="en" sz="1400"/>
              <a:t>Now, P(GB=yes, CF=no,LIW=yes,HL=no|Class = non-mammals) </a:t>
            </a:r>
            <a:endParaRPr sz="1400"/>
          </a:p>
          <a:p>
            <a:pPr marL="3657600" lvl="0" indent="0" algn="l" rtl="0">
              <a:spcBef>
                <a:spcPts val="1200"/>
              </a:spcBef>
              <a:spcAft>
                <a:spcPts val="0"/>
              </a:spcAft>
              <a:buNone/>
            </a:pPr>
            <a:r>
              <a:rPr lang="en" sz="1400"/>
              <a:t>= 1/13 * 10/13 * 3/13 * 4/13 * 13/20 = 0.0027</a:t>
            </a:r>
            <a:endParaRPr sz="1400"/>
          </a:p>
          <a:p>
            <a:pPr marL="3657600" lvl="0" indent="-317500" algn="l" rtl="0">
              <a:spcBef>
                <a:spcPts val="1200"/>
              </a:spcBef>
              <a:spcAft>
                <a:spcPts val="0"/>
              </a:spcAft>
              <a:buSzPts val="1400"/>
              <a:buChar char="●"/>
            </a:pPr>
            <a:r>
              <a:rPr lang="en" sz="1400"/>
              <a:t>Clearly, the data belongs to the </a:t>
            </a:r>
            <a:r>
              <a:rPr lang="en" sz="1400" b="1"/>
              <a:t>mammal </a:t>
            </a:r>
            <a:r>
              <a:rPr lang="en" sz="1400"/>
              <a:t>class</a:t>
            </a:r>
            <a:endParaRPr sz="1400"/>
          </a:p>
          <a:p>
            <a:pPr marL="0" lvl="0" indent="0" algn="l" rtl="0">
              <a:spcBef>
                <a:spcPts val="1200"/>
              </a:spcBef>
              <a:spcAft>
                <a:spcPts val="0"/>
              </a:spcAft>
              <a:buNone/>
            </a:pPr>
            <a:endParaRPr sz="1400"/>
          </a:p>
          <a:p>
            <a:pPr marL="457200" lvl="0" indent="0" algn="l" rtl="0">
              <a:spcBef>
                <a:spcPts val="1200"/>
              </a:spcBef>
              <a:spcAft>
                <a:spcPts val="1200"/>
              </a:spcAft>
              <a:buNone/>
            </a:pPr>
            <a:endParaRPr sz="1400"/>
          </a:p>
        </p:txBody>
      </p:sp>
      <p:pic>
        <p:nvPicPr>
          <p:cNvPr id="114" name="Google Shape;114;p22"/>
          <p:cNvPicPr preferRelativeResize="0"/>
          <p:nvPr/>
        </p:nvPicPr>
        <p:blipFill>
          <a:blip r:embed="rId3">
            <a:alphaModFix/>
          </a:blip>
          <a:stretch>
            <a:fillRect/>
          </a:stretch>
        </p:blipFill>
        <p:spPr>
          <a:xfrm>
            <a:off x="311700" y="1316838"/>
            <a:ext cx="3322500" cy="30876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Variance calculation</a:t>
            </a:r>
            <a:endParaRPr/>
          </a:p>
        </p:txBody>
      </p:sp>
      <p:sp>
        <p:nvSpPr>
          <p:cNvPr id="120" name="Google Shape;120;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dirty="0"/>
              <a:t>Variance measures how spread out a set of numbers is. Here's a step-by-step example to calculate the variance of a sample:</a:t>
            </a:r>
            <a:endParaRPr dirty="0"/>
          </a:p>
          <a:p>
            <a:pPr marL="457200" lvl="0" indent="-342900" algn="l" rtl="0">
              <a:spcBef>
                <a:spcPts val="1200"/>
              </a:spcBef>
              <a:spcAft>
                <a:spcPts val="0"/>
              </a:spcAft>
              <a:buSzPts val="1800"/>
              <a:buChar char="●"/>
            </a:pPr>
            <a:r>
              <a:rPr lang="en" b="1" dirty="0"/>
              <a:t>Find the Mean:</a:t>
            </a:r>
            <a:r>
              <a:rPr lang="en" dirty="0"/>
              <a:t> Add up all the numbers and divide by the number of numbers.</a:t>
            </a:r>
            <a:endParaRPr dirty="0"/>
          </a:p>
          <a:p>
            <a:pPr marL="457200" lvl="0" indent="-342900" algn="l" rtl="0">
              <a:spcBef>
                <a:spcPts val="0"/>
              </a:spcBef>
              <a:spcAft>
                <a:spcPts val="0"/>
              </a:spcAft>
              <a:buSzPts val="1800"/>
              <a:buChar char="●"/>
            </a:pPr>
            <a:r>
              <a:rPr lang="en" b="1" dirty="0"/>
              <a:t>Subtract the Mean and Square the Result: </a:t>
            </a:r>
            <a:r>
              <a:rPr lang="en" dirty="0"/>
              <a:t>Do this for each number.</a:t>
            </a:r>
            <a:endParaRPr dirty="0"/>
          </a:p>
          <a:p>
            <a:pPr marL="457200" lvl="0" indent="-342900" algn="l" rtl="0">
              <a:spcBef>
                <a:spcPts val="0"/>
              </a:spcBef>
              <a:spcAft>
                <a:spcPts val="0"/>
              </a:spcAft>
              <a:buSzPts val="1800"/>
              <a:buChar char="●"/>
            </a:pPr>
            <a:r>
              <a:rPr lang="en" b="1" dirty="0"/>
              <a:t>Find the Average of Those Squared Differences:</a:t>
            </a:r>
            <a:r>
              <a:rPr lang="en" dirty="0"/>
              <a:t> Add up the squared differences and divide by the number of numbers minus one.</a:t>
            </a:r>
            <a:endParaRPr sz="1750" dirty="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Variance calculation - example</a:t>
            </a:r>
            <a:endParaRPr/>
          </a:p>
        </p:txBody>
      </p:sp>
      <p:sp>
        <p:nvSpPr>
          <p:cNvPr id="126" name="Google Shape;126;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n"/>
              <a:t>.Suppose we have the sample data: 4, 8, 6, 5, 3.</a:t>
            </a:r>
            <a:endParaRPr/>
          </a:p>
          <a:p>
            <a:pPr marL="457200" lvl="0" indent="-317182" algn="l" rtl="0">
              <a:spcBef>
                <a:spcPts val="1200"/>
              </a:spcBef>
              <a:spcAft>
                <a:spcPts val="0"/>
              </a:spcAft>
              <a:buClr>
                <a:schemeClr val="dk1"/>
              </a:buClr>
              <a:buSzPct val="100000"/>
              <a:buChar char="●"/>
            </a:pPr>
            <a:r>
              <a:rPr lang="en" b="1">
                <a:solidFill>
                  <a:schemeClr val="dk1"/>
                </a:solidFill>
              </a:rPr>
              <a:t>Calculate the Mean</a:t>
            </a:r>
            <a:r>
              <a:rPr lang="en">
                <a:solidFill>
                  <a:schemeClr val="dk1"/>
                </a:solidFill>
              </a:rPr>
              <a:t>: Mean=(4+8+6+5+3)/5 = 26/5 = 5.2</a:t>
            </a:r>
            <a:endParaRPr>
              <a:solidFill>
                <a:schemeClr val="dk1"/>
              </a:solidFill>
            </a:endParaRPr>
          </a:p>
          <a:p>
            <a:pPr marL="457200" lvl="0" indent="-317182" algn="l" rtl="0">
              <a:spcBef>
                <a:spcPts val="0"/>
              </a:spcBef>
              <a:spcAft>
                <a:spcPts val="0"/>
              </a:spcAft>
              <a:buClr>
                <a:schemeClr val="dk1"/>
              </a:buClr>
              <a:buSzPct val="100000"/>
              <a:buChar char="●"/>
            </a:pPr>
            <a:r>
              <a:rPr lang="en" b="1">
                <a:solidFill>
                  <a:schemeClr val="dk1"/>
                </a:solidFill>
              </a:rPr>
              <a:t>Subtract the Mean and Square the Differences:</a:t>
            </a:r>
            <a:endParaRPr b="1">
              <a:solidFill>
                <a:schemeClr val="dk1"/>
              </a:solidFill>
            </a:endParaRPr>
          </a:p>
          <a:p>
            <a:pPr marL="0" lvl="0" indent="0" algn="l" rtl="0">
              <a:spcBef>
                <a:spcPts val="1200"/>
              </a:spcBef>
              <a:spcAft>
                <a:spcPts val="0"/>
              </a:spcAft>
              <a:buNone/>
            </a:pPr>
            <a:r>
              <a:rPr lang="en" b="1">
                <a:solidFill>
                  <a:schemeClr val="dk1"/>
                </a:solidFill>
              </a:rPr>
              <a:t>(4−5.2)^2=(−1.2)^2=1.44</a:t>
            </a:r>
            <a:endParaRPr b="1">
              <a:solidFill>
                <a:schemeClr val="dk1"/>
              </a:solidFill>
            </a:endParaRPr>
          </a:p>
          <a:p>
            <a:pPr marL="0" lvl="0" indent="0" algn="l" rtl="0">
              <a:spcBef>
                <a:spcPts val="1200"/>
              </a:spcBef>
              <a:spcAft>
                <a:spcPts val="0"/>
              </a:spcAft>
              <a:buNone/>
            </a:pPr>
            <a:r>
              <a:rPr lang="en" b="1">
                <a:solidFill>
                  <a:schemeClr val="dk1"/>
                </a:solidFill>
              </a:rPr>
              <a:t>(8−5.2)^2=2.8^2=7.84</a:t>
            </a:r>
            <a:endParaRPr b="1">
              <a:solidFill>
                <a:schemeClr val="dk1"/>
              </a:solidFill>
            </a:endParaRPr>
          </a:p>
          <a:p>
            <a:pPr marL="0" lvl="0" indent="0" algn="l" rtl="0">
              <a:spcBef>
                <a:spcPts val="1200"/>
              </a:spcBef>
              <a:spcAft>
                <a:spcPts val="0"/>
              </a:spcAft>
              <a:buNone/>
            </a:pPr>
            <a:r>
              <a:rPr lang="en" b="1">
                <a:solidFill>
                  <a:schemeClr val="dk1"/>
                </a:solidFill>
              </a:rPr>
              <a:t>(6−5.2)^2=0.8^2=0.64</a:t>
            </a:r>
            <a:endParaRPr b="1">
              <a:solidFill>
                <a:schemeClr val="dk1"/>
              </a:solidFill>
            </a:endParaRPr>
          </a:p>
          <a:p>
            <a:pPr marL="0" lvl="0" indent="0" algn="l" rtl="0">
              <a:spcBef>
                <a:spcPts val="1200"/>
              </a:spcBef>
              <a:spcAft>
                <a:spcPts val="0"/>
              </a:spcAft>
              <a:buNone/>
            </a:pPr>
            <a:r>
              <a:rPr lang="en" b="1">
                <a:solidFill>
                  <a:schemeClr val="dk1"/>
                </a:solidFill>
              </a:rPr>
              <a:t>(5−5.2)^2=(−0.2)^2=0.04</a:t>
            </a:r>
            <a:endParaRPr b="1">
              <a:solidFill>
                <a:schemeClr val="dk1"/>
              </a:solidFill>
            </a:endParaRPr>
          </a:p>
          <a:p>
            <a:pPr marL="0" lvl="0" indent="0" algn="l" rtl="0">
              <a:spcBef>
                <a:spcPts val="1200"/>
              </a:spcBef>
              <a:spcAft>
                <a:spcPts val="0"/>
              </a:spcAft>
              <a:buNone/>
            </a:pPr>
            <a:r>
              <a:rPr lang="en" b="1">
                <a:solidFill>
                  <a:schemeClr val="dk1"/>
                </a:solidFill>
              </a:rPr>
              <a:t>(3−5.2)^2=(−2.2)^2=4.84</a:t>
            </a:r>
            <a:endParaRPr b="1">
              <a:solidFill>
                <a:schemeClr val="dk1"/>
              </a:solidFill>
            </a:endParaRPr>
          </a:p>
          <a:p>
            <a:pPr marL="457200" lvl="0" indent="-314721" algn="l" rtl="0">
              <a:spcBef>
                <a:spcPts val="1200"/>
              </a:spcBef>
              <a:spcAft>
                <a:spcPts val="0"/>
              </a:spcAft>
              <a:buClr>
                <a:schemeClr val="dk1"/>
              </a:buClr>
              <a:buSzPct val="100000"/>
              <a:buChar char="●"/>
            </a:pPr>
            <a:r>
              <a:rPr lang="en" sz="1750" b="1">
                <a:solidFill>
                  <a:schemeClr val="dk1"/>
                </a:solidFill>
              </a:rPr>
              <a:t>Find the Average of Those Squared Differences</a:t>
            </a:r>
            <a:r>
              <a:rPr lang="en" sz="1750">
                <a:solidFill>
                  <a:schemeClr val="dk1"/>
                </a:solidFill>
              </a:rPr>
              <a:t>:</a:t>
            </a:r>
            <a:endParaRPr sz="1750">
              <a:solidFill>
                <a:schemeClr val="dk1"/>
              </a:solidFill>
            </a:endParaRPr>
          </a:p>
          <a:p>
            <a:pPr marL="457200" lvl="0" indent="-314721" algn="l" rtl="0">
              <a:spcBef>
                <a:spcPts val="0"/>
              </a:spcBef>
              <a:spcAft>
                <a:spcPts val="0"/>
              </a:spcAft>
              <a:buClr>
                <a:schemeClr val="dk1"/>
              </a:buClr>
              <a:buSzPct val="100000"/>
              <a:buChar char="●"/>
            </a:pPr>
            <a:r>
              <a:rPr lang="en" sz="1750">
                <a:solidFill>
                  <a:schemeClr val="dk1"/>
                </a:solidFill>
              </a:rPr>
              <a:t>Variance=(1.44+7.84+0.64+0.04+4.84)/4=14.8/4=3.7</a:t>
            </a:r>
            <a:endParaRPr sz="175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Naive Bayes Theorem - continuous values</a:t>
            </a:r>
            <a:endParaRPr/>
          </a:p>
        </p:txBody>
      </p:sp>
      <p:sp>
        <p:nvSpPr>
          <p:cNvPr id="132" name="Google Shape;132;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We have seen examples for categorical values in previous slides.</a:t>
            </a:r>
            <a:endParaRPr/>
          </a:p>
          <a:p>
            <a:pPr marL="457200" lvl="0" indent="-342900" algn="l" rtl="0">
              <a:spcBef>
                <a:spcPts val="0"/>
              </a:spcBef>
              <a:spcAft>
                <a:spcPts val="0"/>
              </a:spcAft>
              <a:buSzPts val="1800"/>
              <a:buChar char="●"/>
            </a:pPr>
            <a:r>
              <a:rPr lang="en"/>
              <a:t>For continuous values, we calculate probabilities using normal distribution</a:t>
            </a:r>
            <a:endParaRPr/>
          </a:p>
          <a:p>
            <a:pPr marL="0" lvl="0" indent="0" algn="l" rtl="0">
              <a:spcBef>
                <a:spcPts val="1200"/>
              </a:spcBef>
              <a:spcAft>
                <a:spcPts val="0"/>
              </a:spcAft>
              <a:buNone/>
            </a:pPr>
            <a:r>
              <a:rPr lang="en"/>
              <a:t>  </a:t>
            </a: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0"/>
              </a:spcAft>
              <a:buNone/>
            </a:pPr>
            <a:r>
              <a:rPr lang="en"/>
              <a:t>𝛔^2 = variance</a:t>
            </a:r>
            <a:endParaRPr/>
          </a:p>
          <a:p>
            <a:pPr marL="0" lvl="0" indent="0" algn="l" rtl="0">
              <a:spcBef>
                <a:spcPts val="1200"/>
              </a:spcBef>
              <a:spcAft>
                <a:spcPts val="1200"/>
              </a:spcAft>
              <a:buNone/>
            </a:pPr>
            <a:r>
              <a:rPr lang="en"/>
              <a:t>μ = mean</a:t>
            </a:r>
            <a:endParaRPr/>
          </a:p>
        </p:txBody>
      </p:sp>
      <p:pic>
        <p:nvPicPr>
          <p:cNvPr id="133" name="Google Shape;133;p25"/>
          <p:cNvPicPr preferRelativeResize="0"/>
          <p:nvPr/>
        </p:nvPicPr>
        <p:blipFill>
          <a:blip r:embed="rId3">
            <a:alphaModFix/>
          </a:blip>
          <a:stretch>
            <a:fillRect/>
          </a:stretch>
        </p:blipFill>
        <p:spPr>
          <a:xfrm>
            <a:off x="2551650" y="1949448"/>
            <a:ext cx="3345400" cy="1244600"/>
          </a:xfrm>
          <a:prstGeom prst="rect">
            <a:avLst/>
          </a:prstGeom>
          <a:noFill/>
          <a:ln>
            <a:noFill/>
          </a:ln>
        </p:spPr>
      </p:pic>
      <p:pic>
        <p:nvPicPr>
          <p:cNvPr id="134" name="Google Shape;134;p25"/>
          <p:cNvPicPr preferRelativeResize="0"/>
          <p:nvPr/>
        </p:nvPicPr>
        <p:blipFill>
          <a:blip r:embed="rId4">
            <a:alphaModFix/>
          </a:blip>
          <a:stretch>
            <a:fillRect/>
          </a:stretch>
        </p:blipFill>
        <p:spPr>
          <a:xfrm>
            <a:off x="2104975" y="3205750"/>
            <a:ext cx="1842926" cy="748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Naive Bayes Theorem - continuous values</a:t>
            </a:r>
            <a:endParaRPr/>
          </a:p>
        </p:txBody>
      </p:sp>
      <p:sp>
        <p:nvSpPr>
          <p:cNvPr id="140" name="Google Shape;140;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828800" lvl="0" indent="-342900" algn="l" rtl="0">
              <a:spcBef>
                <a:spcPts val="0"/>
              </a:spcBef>
              <a:spcAft>
                <a:spcPts val="0"/>
              </a:spcAft>
              <a:buSzPts val="1800"/>
              <a:buChar char="●"/>
            </a:pPr>
            <a:r>
              <a:rPr lang="en"/>
              <a:t>To calculate P(TI = 120k | Evade = No)</a:t>
            </a:r>
            <a:endParaRPr/>
          </a:p>
          <a:p>
            <a:pPr marL="1828800" lvl="0" indent="-342900" algn="l" rtl="0">
              <a:spcBef>
                <a:spcPts val="0"/>
              </a:spcBef>
              <a:spcAft>
                <a:spcPts val="0"/>
              </a:spcAft>
              <a:buSzPts val="1800"/>
              <a:buChar char="●"/>
            </a:pPr>
            <a:r>
              <a:rPr lang="en"/>
              <a:t>If class = No,</a:t>
            </a:r>
            <a:endParaRPr/>
          </a:p>
          <a:p>
            <a:pPr marL="2286000" lvl="1" indent="-317500" algn="l" rtl="0">
              <a:spcBef>
                <a:spcPts val="0"/>
              </a:spcBef>
              <a:spcAft>
                <a:spcPts val="0"/>
              </a:spcAft>
              <a:buSzPts val="1400"/>
              <a:buChar char="○"/>
            </a:pPr>
            <a:r>
              <a:rPr lang="en"/>
              <a:t>Mean = 110k</a:t>
            </a:r>
            <a:endParaRPr/>
          </a:p>
          <a:p>
            <a:pPr marL="2286000" lvl="1" indent="-317500" algn="l" rtl="0">
              <a:spcBef>
                <a:spcPts val="0"/>
              </a:spcBef>
              <a:spcAft>
                <a:spcPts val="0"/>
              </a:spcAft>
              <a:buSzPts val="1400"/>
              <a:buChar char="○"/>
            </a:pPr>
            <a:r>
              <a:rPr lang="en"/>
              <a:t>Variance = 2975</a:t>
            </a:r>
            <a:endParaRPr/>
          </a:p>
          <a:p>
            <a:pPr marL="2286000" lvl="0" indent="0" algn="l" rtl="0">
              <a:spcBef>
                <a:spcPts val="1200"/>
              </a:spcBef>
              <a:spcAft>
                <a:spcPts val="1200"/>
              </a:spcAft>
              <a:buNone/>
            </a:pPr>
            <a:endParaRPr/>
          </a:p>
        </p:txBody>
      </p:sp>
      <p:pic>
        <p:nvPicPr>
          <p:cNvPr id="141" name="Google Shape;141;p26"/>
          <p:cNvPicPr preferRelativeResize="0"/>
          <p:nvPr/>
        </p:nvPicPr>
        <p:blipFill>
          <a:blip r:embed="rId3">
            <a:alphaModFix/>
          </a:blip>
          <a:stretch>
            <a:fillRect/>
          </a:stretch>
        </p:blipFill>
        <p:spPr>
          <a:xfrm>
            <a:off x="311699" y="1152474"/>
            <a:ext cx="1319175" cy="3218125"/>
          </a:xfrm>
          <a:prstGeom prst="rect">
            <a:avLst/>
          </a:prstGeom>
          <a:noFill/>
          <a:ln>
            <a:noFill/>
          </a:ln>
        </p:spPr>
      </p:pic>
      <p:pic>
        <p:nvPicPr>
          <p:cNvPr id="142" name="Google Shape;142;p26"/>
          <p:cNvPicPr preferRelativeResize="0"/>
          <p:nvPr/>
        </p:nvPicPr>
        <p:blipFill>
          <a:blip r:embed="rId4">
            <a:alphaModFix/>
          </a:blip>
          <a:stretch>
            <a:fillRect/>
          </a:stretch>
        </p:blipFill>
        <p:spPr>
          <a:xfrm>
            <a:off x="1798925" y="3022025"/>
            <a:ext cx="7033375" cy="876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a:t>
            </a:r>
            <a:endParaRPr/>
          </a:p>
        </p:txBody>
      </p:sp>
      <p:sp>
        <p:nvSpPr>
          <p:cNvPr id="148" name="Google Shape;148;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https://medium.com/analytics-vidhya/use-naive-bayes-algorithm-for-categorical-and-numerical-data-classification-935d90ab273f</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8"/>
          <p:cNvSpPr txBox="1">
            <a:spLocks noGrp="1"/>
          </p:cNvSpPr>
          <p:nvPr>
            <p:ph type="body" idx="1"/>
          </p:nvPr>
        </p:nvSpPr>
        <p:spPr>
          <a:xfrm>
            <a:off x="347000" y="1699475"/>
            <a:ext cx="8520600" cy="1017900"/>
          </a:xfrm>
          <a:prstGeom prst="rect">
            <a:avLst/>
          </a:prstGeom>
        </p:spPr>
        <p:txBody>
          <a:bodyPr spcFirstLastPara="1" wrap="square" lIns="91425" tIns="91425" rIns="91425" bIns="91425" anchor="t" anchorCtr="0">
            <a:normAutofit lnSpcReduction="10000"/>
          </a:bodyPr>
          <a:lstStyle/>
          <a:p>
            <a:pPr marL="0" lvl="0" indent="0" algn="ctr" rtl="0">
              <a:spcBef>
                <a:spcPts val="0"/>
              </a:spcBef>
              <a:spcAft>
                <a:spcPts val="1200"/>
              </a:spcAft>
              <a:buNone/>
            </a:pPr>
            <a:r>
              <a:rPr lang="en" sz="4000"/>
              <a:t>Thank You</a:t>
            </a:r>
            <a:endParaRPr sz="40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924</Words>
  <Application>Microsoft Office PowerPoint</Application>
  <PresentationFormat>On-screen Show (16:9)</PresentationFormat>
  <Paragraphs>105</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Arial</vt:lpstr>
      <vt:lpstr>Simple Light</vt:lpstr>
      <vt:lpstr>PowerPoint Presentation</vt:lpstr>
      <vt:lpstr>Naïve Bayes Classifier</vt:lpstr>
      <vt:lpstr>Why is it called Naïve Bayes?</vt:lpstr>
      <vt:lpstr>Bayesian Classifiers</vt:lpstr>
      <vt:lpstr>Bayesian Classifiers</vt:lpstr>
      <vt:lpstr>Naive Bayes Theorem</vt:lpstr>
      <vt:lpstr>Naive Bayes Theorem - example</vt:lpstr>
      <vt:lpstr>Naive Bayes Theorem - example</vt:lpstr>
      <vt:lpstr>Naive Bayes Theorem - example</vt:lpstr>
      <vt:lpstr>Naive Bayes Theorem - example</vt:lpstr>
      <vt:lpstr>Variance calculation</vt:lpstr>
      <vt:lpstr>Variance calculation - example</vt:lpstr>
      <vt:lpstr>Naive Bayes Theorem - continuous values</vt:lpstr>
      <vt:lpstr>Naive Bayes Theorem - continuous values</vt:lpstr>
      <vt:lpstr>Example</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account</cp:lastModifiedBy>
  <cp:revision>2</cp:revision>
  <dcterms:modified xsi:type="dcterms:W3CDTF">2024-12-13T17:06:01Z</dcterms:modified>
</cp:coreProperties>
</file>